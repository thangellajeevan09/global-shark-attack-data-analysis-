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HK Modular" charset="1" panose="00000800000000000000"/>
      <p:regular r:id="rId28"/>
    </p:embeddedFont>
    <p:embeddedFont>
      <p:font typeface="Copperplate Gothic 32 AB Bold" charset="1" panose="020E0707020206020404"/>
      <p:regular r:id="rId30"/>
    </p:embeddedFont>
    <p:embeddedFont>
      <p:font typeface="Bukhari Script" charset="1" panose="00000500000000000000"/>
      <p:regular r:id="rId31"/>
    </p:embeddedFont>
    <p:embeddedFont>
      <p:font typeface="Arimo Bold" charset="1" panose="020B0704020202020204"/>
      <p:regular r:id="rId32"/>
    </p:embeddedFont>
    <p:embeddedFont>
      <p:font typeface="Barlow" charset="1" panose="00000500000000000000"/>
      <p:regular r:id="rId33"/>
    </p:embeddedFont>
    <p:embeddedFont>
      <p:font typeface="Barlow Bold" charset="1" panose="00000800000000000000"/>
      <p:regular r:id="rId34"/>
    </p:embeddedFont>
    <p:embeddedFont>
      <p:font typeface="Playfair Display" charset="1" panose="00000000000000000000"/>
      <p:regular r:id="rId36"/>
    </p:embeddedFont>
    <p:embeddedFont>
      <p:font typeface="Arimo" charset="1" panose="020B0604020202020204"/>
      <p:regular r:id="rId37"/>
    </p:embeddedFont>
    <p:embeddedFont>
      <p:font typeface="Lucida Console" charset="1" panose="020B0609040504020204"/>
      <p:regular r:id="rId39"/>
    </p:embeddedFont>
    <p:embeddedFont>
      <p:font typeface="Noto Serif Ethiopic Condensed Bold" charset="1" panose="02020502060505020204"/>
      <p:regular r:id="rId40"/>
    </p:embeddedFont>
    <p:embeddedFont>
      <p:font typeface="Playfair Display Bold" charset="1" panose="00000000000000000000"/>
      <p:regular r:id="rId43"/>
    </p:embeddedFont>
    <p:embeddedFont>
      <p:font typeface="Fira Code" charset="1" panose="020B0809050000020004"/>
      <p:regular r:id="rId44"/>
    </p:embeddedFont>
    <p:embeddedFont>
      <p:font typeface="Distillery Strong" charset="1" panose="00000000000000000000"/>
      <p:regular r:id="rId50"/>
    </p:embeddedFont>
    <p:embeddedFont>
      <p:font typeface="Norwester" charset="1" panose="00000506000000000000"/>
      <p:regular r:id="rId51"/>
    </p:embeddedFont>
    <p:embeddedFont>
      <p:font typeface="Bodoni FLF Bold" charset="1" panose="02000803080000020003"/>
      <p:regular r:id="rId52"/>
    </p:embeddedFont>
    <p:embeddedFont>
      <p:font typeface="Bodoni FLF" charset="1" panose="02000606090000020003"/>
      <p:regular r:id="rId53"/>
    </p:embeddedFont>
    <p:embeddedFont>
      <p:font typeface="Cinzel Bold" charset="1" panose="00000800000000000000"/>
      <p:regular r:id="rId58"/>
    </p:embeddedFont>
    <p:embeddedFont>
      <p:font typeface="Anca Coder" charset="1" panose="020B0509020502020204"/>
      <p:regular r:id="rId59"/>
    </p:embeddedFont>
    <p:embeddedFont>
      <p:font typeface="Spiro" charset="1" panose="00000000000000000000"/>
      <p:regular r:id="rId60"/>
    </p:embeddedFont>
    <p:embeddedFont>
      <p:font typeface="Open Sans Bold" charset="1" panose="00000000000000000000"/>
      <p:regular r:id="rId62"/>
    </p:embeddedFont>
    <p:embeddedFont>
      <p:font typeface="Open Sans Italics" charset="1" panose="00000000000000000000"/>
      <p:regular r:id="rId63"/>
    </p:embeddedFont>
    <p:embeddedFont>
      <p:font typeface="Open Sans" charset="1" panose="00000000000000000000"/>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notesSlides/notesSlide3.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4.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5.xml" Type="http://schemas.openxmlformats.org/officeDocument/2006/relationships/notesSlide"/><Relationship Id="rId42" Target="notesSlides/notesSlide6.xml" Type="http://schemas.openxmlformats.org/officeDocument/2006/relationships/notesSlide"/><Relationship Id="rId43" Target="fonts/font43.fntdata" Type="http://schemas.openxmlformats.org/officeDocument/2006/relationships/font"/><Relationship Id="rId44" Target="fonts/font44.fntdata" Type="http://schemas.openxmlformats.org/officeDocument/2006/relationships/font"/><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notesSlides/notesSlide12.xml" Type="http://schemas.openxmlformats.org/officeDocument/2006/relationships/notesSlide"/><Relationship Id="rId55" Target="notesSlides/notesSlide13.xml" Type="http://schemas.openxmlformats.org/officeDocument/2006/relationships/notesSlide"/><Relationship Id="rId56" Target="notesSlides/notesSlide14.xml" Type="http://schemas.openxmlformats.org/officeDocument/2006/relationships/notesSlide"/><Relationship Id="rId57" Target="notesSlides/notesSlide15.xml" Type="http://schemas.openxmlformats.org/officeDocument/2006/relationships/notesSlide"/><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notesSlides/notesSlide16.xml" Type="http://schemas.openxmlformats.org/officeDocument/2006/relationships/notesSlide"/><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notesSlides/notesSlide17.xml" Type="http://schemas.openxmlformats.org/officeDocument/2006/relationships/notesSlide"/><Relationship Id="rId66" Target="notesSlides/notesSlide18.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5596959" y="9618897"/>
            <a:ext cx="2691041" cy="668103"/>
            <a:chOff x="0" y="0"/>
            <a:chExt cx="3588055" cy="890803"/>
          </a:xfrm>
        </p:grpSpPr>
        <p:sp>
          <p:nvSpPr>
            <p:cNvPr name="Freeform 9" id="9"/>
            <p:cNvSpPr/>
            <p:nvPr/>
          </p:nvSpPr>
          <p:spPr>
            <a:xfrm flipH="false" flipV="false" rot="0">
              <a:off x="0" y="0"/>
              <a:ext cx="3588004" cy="890778"/>
            </a:xfrm>
            <a:custGeom>
              <a:avLst/>
              <a:gdLst/>
              <a:ahLst/>
              <a:cxnLst/>
              <a:rect r="r" b="b" t="t" l="l"/>
              <a:pathLst>
                <a:path h="890778" w="3588004">
                  <a:moveTo>
                    <a:pt x="0" y="0"/>
                  </a:moveTo>
                  <a:lnTo>
                    <a:pt x="3588004" y="0"/>
                  </a:lnTo>
                  <a:lnTo>
                    <a:pt x="3588004" y="890778"/>
                  </a:lnTo>
                  <a:lnTo>
                    <a:pt x="0" y="890778"/>
                  </a:lnTo>
                  <a:lnTo>
                    <a:pt x="0" y="0"/>
                  </a:lnTo>
                  <a:close/>
                </a:path>
              </a:pathLst>
            </a:custGeom>
            <a:blipFill>
              <a:blip r:embed="rId6"/>
              <a:stretch>
                <a:fillRect l="0" t="-38755" r="-1" b="-38758"/>
              </a:stretch>
            </a:blipFill>
          </p:spPr>
        </p:sp>
      </p:grpSp>
      <p:grpSp>
        <p:nvGrpSpPr>
          <p:cNvPr name="Group 10" id="10"/>
          <p:cNvGrpSpPr/>
          <p:nvPr/>
        </p:nvGrpSpPr>
        <p:grpSpPr>
          <a:xfrm rot="0">
            <a:off x="-891140" y="-381000"/>
            <a:ext cx="20131640" cy="11658267"/>
            <a:chOff x="0" y="0"/>
            <a:chExt cx="26842187" cy="15544355"/>
          </a:xfrm>
        </p:grpSpPr>
        <p:sp>
          <p:nvSpPr>
            <p:cNvPr name="Freeform 11" id="11"/>
            <p:cNvSpPr/>
            <p:nvPr/>
          </p:nvSpPr>
          <p:spPr>
            <a:xfrm flipH="false" flipV="false" rot="0">
              <a:off x="0" y="0"/>
              <a:ext cx="26842213" cy="15544292"/>
            </a:xfrm>
            <a:custGeom>
              <a:avLst/>
              <a:gdLst/>
              <a:ahLst/>
              <a:cxnLst/>
              <a:rect r="r" b="b" t="t" l="l"/>
              <a:pathLst>
                <a:path h="15544292" w="26842213">
                  <a:moveTo>
                    <a:pt x="0" y="0"/>
                  </a:moveTo>
                  <a:lnTo>
                    <a:pt x="26842213" y="0"/>
                  </a:lnTo>
                  <a:lnTo>
                    <a:pt x="26842213" y="15544292"/>
                  </a:lnTo>
                  <a:lnTo>
                    <a:pt x="0" y="15544292"/>
                  </a:lnTo>
                  <a:lnTo>
                    <a:pt x="0" y="0"/>
                  </a:lnTo>
                  <a:close/>
                </a:path>
              </a:pathLst>
            </a:custGeom>
            <a:blipFill>
              <a:blip r:embed="rId7"/>
              <a:stretch>
                <a:fillRect l="0" t="0" r="0" b="0"/>
              </a:stretch>
            </a:blipFill>
          </p:spPr>
        </p:sp>
      </p:grpSp>
      <p:sp>
        <p:nvSpPr>
          <p:cNvPr name="TextBox 12" id="12"/>
          <p:cNvSpPr txBox="true"/>
          <p:nvPr/>
        </p:nvSpPr>
        <p:spPr>
          <a:xfrm rot="0">
            <a:off x="6481949" y="8925242"/>
            <a:ext cx="4179332" cy="589915"/>
          </a:xfrm>
          <a:prstGeom prst="rect">
            <a:avLst/>
          </a:prstGeom>
        </p:spPr>
        <p:txBody>
          <a:bodyPr anchor="t" rtlCol="false" tIns="0" lIns="0" bIns="0" rIns="0">
            <a:spAutoFit/>
          </a:bodyPr>
          <a:lstStyle/>
          <a:p>
            <a:pPr algn="ctr">
              <a:lnSpc>
                <a:spcPts val="4759"/>
              </a:lnSpc>
            </a:pPr>
            <a:r>
              <a:rPr lang="en-US" sz="3399">
                <a:solidFill>
                  <a:srgbClr val="FFFFFF"/>
                </a:solidFill>
                <a:latin typeface="HK Modular"/>
                <a:ea typeface="HK Modular"/>
                <a:cs typeface="HK Modular"/>
                <a:sym typeface="HK Modular"/>
              </a:rPr>
              <a:t>GROUP 5 BSDS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377169" y="-2757599"/>
            <a:ext cx="21103660" cy="14628862"/>
          </a:xfrm>
          <a:custGeom>
            <a:avLst/>
            <a:gdLst/>
            <a:ahLst/>
            <a:cxnLst/>
            <a:rect r="r" b="b" t="t" l="l"/>
            <a:pathLst>
              <a:path h="14628862" w="21103660">
                <a:moveTo>
                  <a:pt x="0" y="0"/>
                </a:moveTo>
                <a:lnTo>
                  <a:pt x="21103660" y="0"/>
                </a:lnTo>
                <a:lnTo>
                  <a:pt x="21103660" y="14628862"/>
                </a:lnTo>
                <a:lnTo>
                  <a:pt x="0" y="14628862"/>
                </a:lnTo>
                <a:lnTo>
                  <a:pt x="0" y="0"/>
                </a:lnTo>
                <a:close/>
              </a:path>
            </a:pathLst>
          </a:custGeom>
          <a:blipFill>
            <a:blip r:embed="rId4"/>
            <a:stretch>
              <a:fillRect l="0" t="-21138" r="0" b="-21138"/>
            </a:stretch>
          </a:blipFill>
        </p:spPr>
      </p:sp>
      <p:grpSp>
        <p:nvGrpSpPr>
          <p:cNvPr name="Group 5" id="5"/>
          <p:cNvGrpSpPr/>
          <p:nvPr/>
        </p:nvGrpSpPr>
        <p:grpSpPr>
          <a:xfrm rot="0">
            <a:off x="0" y="0"/>
            <a:ext cx="18288000" cy="10287000"/>
            <a:chOff x="0" y="0"/>
            <a:chExt cx="24384000" cy="13716000"/>
          </a:xfrm>
        </p:grpSpPr>
        <p:sp>
          <p:nvSpPr>
            <p:cNvPr name="Freeform 6" id="6"/>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Freeform 7" id="7"/>
          <p:cNvSpPr/>
          <p:nvPr/>
        </p:nvSpPr>
        <p:spPr>
          <a:xfrm flipH="false" flipV="false" rot="0">
            <a:off x="15738255" y="7914677"/>
            <a:ext cx="2408449" cy="2164593"/>
          </a:xfrm>
          <a:custGeom>
            <a:avLst/>
            <a:gdLst/>
            <a:ahLst/>
            <a:cxnLst/>
            <a:rect r="r" b="b" t="t" l="l"/>
            <a:pathLst>
              <a:path h="2164593" w="2408449">
                <a:moveTo>
                  <a:pt x="0" y="0"/>
                </a:moveTo>
                <a:lnTo>
                  <a:pt x="2408449" y="0"/>
                </a:lnTo>
                <a:lnTo>
                  <a:pt x="2408449" y="2164593"/>
                </a:lnTo>
                <a:lnTo>
                  <a:pt x="0" y="2164593"/>
                </a:lnTo>
                <a:lnTo>
                  <a:pt x="0" y="0"/>
                </a:lnTo>
                <a:close/>
              </a:path>
            </a:pathLst>
          </a:custGeom>
          <a:blipFill>
            <a:blip r:embed="rId5"/>
            <a:stretch>
              <a:fillRect l="0" t="0" r="0" b="0"/>
            </a:stretch>
          </a:blipFill>
        </p:spPr>
      </p:sp>
      <p:sp>
        <p:nvSpPr>
          <p:cNvPr name="Freeform 8" id="8"/>
          <p:cNvSpPr/>
          <p:nvPr/>
        </p:nvSpPr>
        <p:spPr>
          <a:xfrm flipH="false" flipV="false" rot="0">
            <a:off x="3071190" y="113403"/>
            <a:ext cx="9965868" cy="9965868"/>
          </a:xfrm>
          <a:custGeom>
            <a:avLst/>
            <a:gdLst/>
            <a:ahLst/>
            <a:cxnLst/>
            <a:rect r="r" b="b" t="t" l="l"/>
            <a:pathLst>
              <a:path h="9965868" w="9965868">
                <a:moveTo>
                  <a:pt x="0" y="0"/>
                </a:moveTo>
                <a:lnTo>
                  <a:pt x="9965868" y="0"/>
                </a:lnTo>
                <a:lnTo>
                  <a:pt x="9965868" y="9965867"/>
                </a:lnTo>
                <a:lnTo>
                  <a:pt x="0" y="9965867"/>
                </a:lnTo>
                <a:lnTo>
                  <a:pt x="0" y="0"/>
                </a:lnTo>
                <a:close/>
              </a:path>
            </a:pathLst>
          </a:custGeom>
          <a:blipFill>
            <a:blip r:embed="rId6">
              <a:alphaModFix amt="36000"/>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071190" y="-670355"/>
            <a:ext cx="11248757" cy="10995660"/>
          </a:xfrm>
          <a:custGeom>
            <a:avLst/>
            <a:gdLst/>
            <a:ahLst/>
            <a:cxnLst/>
            <a:rect r="r" b="b" t="t" l="l"/>
            <a:pathLst>
              <a:path h="10995660" w="11248757">
                <a:moveTo>
                  <a:pt x="0" y="0"/>
                </a:moveTo>
                <a:lnTo>
                  <a:pt x="11248757" y="0"/>
                </a:lnTo>
                <a:lnTo>
                  <a:pt x="11248757" y="10995660"/>
                </a:lnTo>
                <a:lnTo>
                  <a:pt x="0" y="109956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6196913" y="8925242"/>
            <a:ext cx="4749403" cy="589915"/>
          </a:xfrm>
          <a:prstGeom prst="rect">
            <a:avLst/>
          </a:prstGeom>
        </p:spPr>
        <p:txBody>
          <a:bodyPr anchor="t" rtlCol="false" tIns="0" lIns="0" bIns="0" rIns="0">
            <a:spAutoFit/>
          </a:bodyPr>
          <a:lstStyle/>
          <a:p>
            <a:pPr algn="ctr">
              <a:lnSpc>
                <a:spcPts val="4759"/>
              </a:lnSpc>
            </a:pPr>
            <a:r>
              <a:rPr lang="en-US" sz="3399">
                <a:gradFill>
                  <a:gsLst>
                    <a:gs pos="0">
                      <a:srgbClr val="5DE0E6">
                        <a:alpha val="100000"/>
                      </a:srgbClr>
                    </a:gs>
                    <a:gs pos="100000">
                      <a:srgbClr val="004AAD">
                        <a:alpha val="100000"/>
                      </a:srgbClr>
                    </a:gs>
                  </a:gsLst>
                  <a:lin ang="0"/>
                </a:gradFill>
                <a:latin typeface="HK Modular"/>
                <a:ea typeface="HK Modular"/>
                <a:cs typeface="HK Modular"/>
                <a:sym typeface="HK Modular"/>
              </a:rPr>
              <a:t>GROUP -     BSDS</a:t>
            </a:r>
          </a:p>
        </p:txBody>
      </p:sp>
      <p:sp>
        <p:nvSpPr>
          <p:cNvPr name="TextBox 11" id="11"/>
          <p:cNvSpPr txBox="true"/>
          <p:nvPr/>
        </p:nvSpPr>
        <p:spPr>
          <a:xfrm rot="0">
            <a:off x="-867053" y="4727000"/>
            <a:ext cx="20083428" cy="1472214"/>
          </a:xfrm>
          <a:prstGeom prst="rect">
            <a:avLst/>
          </a:prstGeom>
        </p:spPr>
        <p:txBody>
          <a:bodyPr anchor="t" rtlCol="false" tIns="0" lIns="0" bIns="0" rIns="0">
            <a:spAutoFit/>
          </a:bodyPr>
          <a:lstStyle/>
          <a:p>
            <a:pPr algn="ctr">
              <a:lnSpc>
                <a:spcPts val="10663"/>
              </a:lnSpc>
              <a:spcBef>
                <a:spcPct val="0"/>
              </a:spcBef>
            </a:pPr>
            <a:r>
              <a:rPr lang="en-US" sz="7921">
                <a:gradFill>
                  <a:gsLst>
                    <a:gs pos="0">
                      <a:srgbClr val="5DE0E6">
                        <a:alpha val="100000"/>
                      </a:srgbClr>
                    </a:gs>
                    <a:gs pos="100000">
                      <a:srgbClr val="004AAD">
                        <a:alpha val="100000"/>
                      </a:srgbClr>
                    </a:gs>
                  </a:gsLst>
                  <a:lin ang="0"/>
                </a:gradFill>
                <a:latin typeface="Copperplate Gothic 32 AB Bold"/>
                <a:ea typeface="Copperplate Gothic 32 AB Bold"/>
                <a:cs typeface="Copperplate Gothic 32 AB Bold"/>
                <a:sym typeface="Copperplate Gothic 32 AB Bold"/>
              </a:rPr>
              <a:t>Shark Attacks Data Set</a:t>
            </a:r>
          </a:p>
        </p:txBody>
      </p:sp>
      <p:pic>
        <p:nvPicPr>
          <p:cNvPr name="Picture 12" id="12"/>
          <p:cNvPicPr>
            <a:picLocks noChangeAspect="true"/>
          </p:cNvPicPr>
          <p:nvPr/>
        </p:nvPicPr>
        <p:blipFill>
          <a:blip r:embed="rId10">
            <a:alphaModFix amt="61000"/>
          </a:blip>
          <a:stretch>
            <a:fillRect/>
          </a:stretch>
        </p:blipFill>
        <p:spPr>
          <a:xfrm rot="0">
            <a:off x="13590726" y="48724"/>
            <a:ext cx="4545589" cy="4545589"/>
          </a:xfrm>
          <a:prstGeom prst="rect">
            <a:avLst/>
          </a:prstGeom>
        </p:spPr>
      </p:pic>
      <p:sp>
        <p:nvSpPr>
          <p:cNvPr name="TextBox 13" id="13"/>
          <p:cNvSpPr txBox="true"/>
          <p:nvPr/>
        </p:nvSpPr>
        <p:spPr>
          <a:xfrm rot="0">
            <a:off x="8571615" y="8453886"/>
            <a:ext cx="555903" cy="1165011"/>
          </a:xfrm>
          <a:prstGeom prst="rect">
            <a:avLst/>
          </a:prstGeom>
        </p:spPr>
        <p:txBody>
          <a:bodyPr anchor="t" rtlCol="false" tIns="0" lIns="0" bIns="0" rIns="0">
            <a:spAutoFit/>
          </a:bodyPr>
          <a:lstStyle/>
          <a:p>
            <a:pPr algn="ctr">
              <a:lnSpc>
                <a:spcPts val="9456"/>
              </a:lnSpc>
              <a:spcBef>
                <a:spcPct val="0"/>
              </a:spcBef>
            </a:pPr>
            <a:r>
              <a:rPr lang="en-US" sz="7024">
                <a:gradFill>
                  <a:gsLst>
                    <a:gs pos="0">
                      <a:srgbClr val="5DE0E6">
                        <a:alpha val="100000"/>
                      </a:srgbClr>
                    </a:gs>
                    <a:gs pos="100000">
                      <a:srgbClr val="004AAD">
                        <a:alpha val="100000"/>
                      </a:srgbClr>
                    </a:gs>
                  </a:gsLst>
                  <a:lin ang="0"/>
                </a:gradFill>
                <a:latin typeface="Bukhari Script"/>
                <a:ea typeface="Bukhari Script"/>
                <a:cs typeface="Bukhari Script"/>
                <a:sym typeface="Bukhari Script"/>
              </a:rPr>
              <a:t>5</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4591872" y="1182291"/>
            <a:ext cx="9104114" cy="757238"/>
          </a:xfrm>
          <a:prstGeom prst="rect">
            <a:avLst/>
          </a:prstGeom>
        </p:spPr>
        <p:txBody>
          <a:bodyPr anchor="t" rtlCol="false" tIns="0" lIns="0" bIns="0" rIns="0">
            <a:spAutoFit/>
          </a:bodyPr>
          <a:lstStyle/>
          <a:p>
            <a:pPr algn="ctr">
              <a:lnSpc>
                <a:spcPts val="5812"/>
              </a:lnSpc>
            </a:pPr>
            <a:r>
              <a:rPr lang="en-US" sz="4625" b="true">
                <a:solidFill>
                  <a:srgbClr val="F0FCFF"/>
                </a:solidFill>
                <a:latin typeface="Arimo Bold"/>
                <a:ea typeface="Arimo Bold"/>
                <a:cs typeface="Arimo Bold"/>
                <a:sym typeface="Arimo Bold"/>
              </a:rPr>
              <a:t>WHY STUDY SHARK ATTACKS?</a:t>
            </a:r>
          </a:p>
        </p:txBody>
      </p:sp>
      <p:sp>
        <p:nvSpPr>
          <p:cNvPr name="TextBox 7" id="7"/>
          <p:cNvSpPr txBox="true"/>
          <p:nvPr/>
        </p:nvSpPr>
        <p:spPr>
          <a:xfrm rot="0">
            <a:off x="1101328" y="2379907"/>
            <a:ext cx="16085344" cy="363538"/>
          </a:xfrm>
          <a:prstGeom prst="rect">
            <a:avLst/>
          </a:prstGeom>
        </p:spPr>
        <p:txBody>
          <a:bodyPr anchor="t" rtlCol="false" tIns="0" lIns="0" bIns="0" rIns="0">
            <a:spAutoFit/>
          </a:bodyPr>
          <a:lstStyle/>
          <a:p>
            <a:pPr algn="ctr">
              <a:lnSpc>
                <a:spcPts val="3062"/>
              </a:lnSpc>
            </a:pPr>
            <a:r>
              <a:rPr lang="en-US" sz="2062">
                <a:solidFill>
                  <a:srgbClr val="E0E4E6"/>
                </a:solidFill>
                <a:latin typeface="Barlow"/>
                <a:ea typeface="Barlow"/>
                <a:cs typeface="Barlow"/>
                <a:sym typeface="Barlow"/>
              </a:rPr>
              <a:t>Moving Beyond the Movie Myths to Data-Driven Truth</a:t>
            </a:r>
          </a:p>
        </p:txBody>
      </p:sp>
      <p:sp>
        <p:nvSpPr>
          <p:cNvPr name="TextBox 8" id="8"/>
          <p:cNvSpPr txBox="true"/>
          <p:nvPr/>
        </p:nvSpPr>
        <p:spPr>
          <a:xfrm rot="0">
            <a:off x="1502569" y="3287020"/>
            <a:ext cx="15684103" cy="744538"/>
          </a:xfrm>
          <a:prstGeom prst="rect">
            <a:avLst/>
          </a:prstGeom>
        </p:spPr>
        <p:txBody>
          <a:bodyPr anchor="t" rtlCol="false" tIns="0" lIns="0" bIns="0" rIns="0">
            <a:spAutoFit/>
          </a:bodyPr>
          <a:lstStyle/>
          <a:p>
            <a:pPr algn="l">
              <a:lnSpc>
                <a:spcPts val="3062"/>
              </a:lnSpc>
            </a:pPr>
            <a:r>
              <a:rPr lang="en-US" sz="2062">
                <a:solidFill>
                  <a:srgbClr val="E0E4E6"/>
                </a:solidFill>
                <a:latin typeface="Barlow"/>
                <a:ea typeface="Barlow"/>
                <a:cs typeface="Barlow"/>
                <a:sym typeface="Barlow"/>
              </a:rPr>
              <a:t>Shark attacks are one of the most sensationalized natural phenomena in history. Media narratives focus on "monsters," But what if the data tells a </a:t>
            </a:r>
            <a:r>
              <a:rPr lang="en-US" sz="2062" b="true">
                <a:solidFill>
                  <a:srgbClr val="E0E4E6"/>
                </a:solidFill>
                <a:latin typeface="Barlow Bold"/>
                <a:ea typeface="Barlow Bold"/>
                <a:cs typeface="Barlow Bold"/>
                <a:sym typeface="Barlow Bold"/>
              </a:rPr>
              <a:t>completely </a:t>
            </a:r>
            <a:r>
              <a:rPr lang="en-US" sz="2062">
                <a:solidFill>
                  <a:srgbClr val="E0E4E6"/>
                </a:solidFill>
                <a:latin typeface="Barlow"/>
                <a:ea typeface="Barlow"/>
                <a:cs typeface="Barlow"/>
                <a:sym typeface="Barlow"/>
              </a:rPr>
              <a:t>different story?</a:t>
            </a:r>
          </a:p>
        </p:txBody>
      </p:sp>
      <p:grpSp>
        <p:nvGrpSpPr>
          <p:cNvPr name="Group 9" id="9"/>
          <p:cNvGrpSpPr/>
          <p:nvPr/>
        </p:nvGrpSpPr>
        <p:grpSpPr>
          <a:xfrm rot="0">
            <a:off x="1101328" y="3088481"/>
            <a:ext cx="38100" cy="1302839"/>
            <a:chOff x="0" y="0"/>
            <a:chExt cx="50800" cy="1737119"/>
          </a:xfrm>
        </p:grpSpPr>
        <p:sp>
          <p:nvSpPr>
            <p:cNvPr name="Freeform 10" id="10"/>
            <p:cNvSpPr/>
            <p:nvPr/>
          </p:nvSpPr>
          <p:spPr>
            <a:xfrm flipH="false" flipV="false" rot="0">
              <a:off x="0" y="0"/>
              <a:ext cx="50800" cy="1737106"/>
            </a:xfrm>
            <a:custGeom>
              <a:avLst/>
              <a:gdLst/>
              <a:ahLst/>
              <a:cxnLst/>
              <a:rect r="r" b="b" t="t" l="l"/>
              <a:pathLst>
                <a:path h="1737106" w="50800">
                  <a:moveTo>
                    <a:pt x="0" y="0"/>
                  </a:moveTo>
                  <a:lnTo>
                    <a:pt x="50800" y="0"/>
                  </a:lnTo>
                  <a:lnTo>
                    <a:pt x="50800" y="1737106"/>
                  </a:lnTo>
                  <a:lnTo>
                    <a:pt x="0" y="1737106"/>
                  </a:lnTo>
                  <a:close/>
                </a:path>
              </a:pathLst>
            </a:custGeom>
            <a:solidFill>
              <a:srgbClr val="16FFBB"/>
            </a:solidFill>
          </p:spPr>
        </p:sp>
      </p:grpSp>
      <p:sp>
        <p:nvSpPr>
          <p:cNvPr name="TextBox 11" id="11"/>
          <p:cNvSpPr txBox="true"/>
          <p:nvPr/>
        </p:nvSpPr>
        <p:spPr>
          <a:xfrm rot="0">
            <a:off x="1101328" y="4684662"/>
            <a:ext cx="5853609" cy="603250"/>
          </a:xfrm>
          <a:prstGeom prst="rect">
            <a:avLst/>
          </a:prstGeom>
        </p:spPr>
        <p:txBody>
          <a:bodyPr anchor="t" rtlCol="false" tIns="0" lIns="0" bIns="0" rIns="0">
            <a:spAutoFit/>
          </a:bodyPr>
          <a:lstStyle/>
          <a:p>
            <a:pPr algn="l">
              <a:lnSpc>
                <a:spcPts val="4625"/>
              </a:lnSpc>
            </a:pPr>
            <a:r>
              <a:rPr lang="en-US" sz="3687" b="true">
                <a:solidFill>
                  <a:srgbClr val="F0FCFF"/>
                </a:solidFill>
                <a:latin typeface="Arimo Bold"/>
                <a:ea typeface="Arimo Bold"/>
                <a:cs typeface="Arimo Bold"/>
                <a:sym typeface="Arimo Bold"/>
              </a:rPr>
              <a:t> Q</a:t>
            </a:r>
            <a:r>
              <a:rPr lang="en-US" sz="3687" b="true">
                <a:solidFill>
                  <a:srgbClr val="F0FCFF"/>
                </a:solidFill>
                <a:latin typeface="Arimo Bold"/>
                <a:ea typeface="Arimo Bold"/>
                <a:cs typeface="Arimo Bold"/>
                <a:sym typeface="Arimo Bold"/>
              </a:rPr>
              <a:t>uestions to Think About</a:t>
            </a:r>
          </a:p>
        </p:txBody>
      </p:sp>
      <p:sp>
        <p:nvSpPr>
          <p:cNvPr name="TextBox 12" id="12"/>
          <p:cNvSpPr txBox="true"/>
          <p:nvPr/>
        </p:nvSpPr>
        <p:spPr>
          <a:xfrm rot="0">
            <a:off x="1110853" y="5610377"/>
            <a:ext cx="16085344" cy="2268649"/>
          </a:xfrm>
          <a:prstGeom prst="rect">
            <a:avLst/>
          </a:prstGeom>
        </p:spPr>
        <p:txBody>
          <a:bodyPr anchor="t" rtlCol="false" tIns="0" lIns="0" bIns="0" rIns="0">
            <a:spAutoFit/>
          </a:bodyPr>
          <a:lstStyle/>
          <a:p>
            <a:pPr algn="l" marL="310920" indent="-155460" lvl="1">
              <a:lnSpc>
                <a:spcPts val="3060"/>
              </a:lnSpc>
              <a:buFont typeface="Arial"/>
              <a:buChar char="•"/>
            </a:pPr>
            <a:r>
              <a:rPr lang="en-US" b="true" sz="2062">
                <a:solidFill>
                  <a:srgbClr val="E0E4E6"/>
                </a:solidFill>
                <a:latin typeface="Barlow Bold"/>
                <a:ea typeface="Barlow Bold"/>
                <a:cs typeface="Barlow Bold"/>
                <a:sym typeface="Barlow Bold"/>
              </a:rPr>
              <a:t>Are sh</a:t>
            </a:r>
            <a:r>
              <a:rPr lang="en-US" b="true" sz="2062">
                <a:solidFill>
                  <a:srgbClr val="E0E4E6"/>
                </a:solidFill>
                <a:latin typeface="Barlow Bold"/>
                <a:ea typeface="Barlow Bold"/>
                <a:cs typeface="Barlow Bold"/>
                <a:sym typeface="Barlow Bold"/>
              </a:rPr>
              <a:t>ark attacks actually increasing over time, or just being reported more?</a:t>
            </a:r>
          </a:p>
          <a:p>
            <a:pPr algn="l" marL="310920" indent="-155460" lvl="1">
              <a:lnSpc>
                <a:spcPts val="3060"/>
              </a:lnSpc>
              <a:buFont typeface="Arial"/>
              <a:buChar char="•"/>
            </a:pPr>
            <a:r>
              <a:rPr lang="en-US" b="true" sz="2062">
                <a:solidFill>
                  <a:srgbClr val="E0E4E6"/>
                </a:solidFill>
                <a:latin typeface="Barlow Bold"/>
                <a:ea typeface="Barlow Bold"/>
                <a:cs typeface="Barlow Bold"/>
                <a:sym typeface="Barlow Bold"/>
              </a:rPr>
              <a:t>Which shark species are truly dangerous—and which are misunderstood?</a:t>
            </a:r>
          </a:p>
          <a:p>
            <a:pPr algn="l" marL="310920" indent="-155460" lvl="1">
              <a:lnSpc>
                <a:spcPts val="3060"/>
              </a:lnSpc>
              <a:buFont typeface="Arial"/>
              <a:buChar char="•"/>
            </a:pPr>
            <a:r>
              <a:rPr lang="en-US" b="true" sz="2062">
                <a:solidFill>
                  <a:srgbClr val="E0E4E6"/>
                </a:solidFill>
                <a:latin typeface="Barlow Bold"/>
                <a:ea typeface="Barlow Bold"/>
                <a:cs typeface="Barlow Bold"/>
                <a:sym typeface="Barlow Bold"/>
              </a:rPr>
              <a:t>Is a shark attack usually fatal, or do most people survive?</a:t>
            </a:r>
          </a:p>
          <a:p>
            <a:pPr algn="l" marL="310920" indent="-155460" lvl="1">
              <a:lnSpc>
                <a:spcPts val="3060"/>
              </a:lnSpc>
              <a:buFont typeface="Arial"/>
              <a:buChar char="•"/>
            </a:pPr>
            <a:r>
              <a:rPr lang="en-US" b="true" sz="2062">
                <a:solidFill>
                  <a:srgbClr val="E0E4E6"/>
                </a:solidFill>
                <a:latin typeface="Barlow Bold"/>
                <a:ea typeface="Barlow Bold"/>
                <a:cs typeface="Barlow Bold"/>
                <a:sym typeface="Barlow Bold"/>
              </a:rPr>
              <a:t>Which human activities put us at the highest risk?</a:t>
            </a:r>
          </a:p>
          <a:p>
            <a:pPr algn="l" marL="310920" indent="-155460" lvl="1">
              <a:lnSpc>
                <a:spcPts val="3060"/>
              </a:lnSpc>
              <a:buFont typeface="Arial"/>
              <a:buChar char="•"/>
            </a:pPr>
            <a:r>
              <a:rPr lang="en-US" b="true" sz="2062">
                <a:solidFill>
                  <a:srgbClr val="E0E4E6"/>
                </a:solidFill>
                <a:latin typeface="Barlow Bold"/>
                <a:ea typeface="Barlow Bold"/>
                <a:cs typeface="Barlow Bold"/>
                <a:sym typeface="Barlow Bold"/>
              </a:rPr>
              <a:t>Has the danger changed over the last 100+ years?</a:t>
            </a:r>
          </a:p>
          <a:p>
            <a:pPr algn="l">
              <a:lnSpc>
                <a:spcPts val="3062"/>
              </a:lnSpc>
            </a:pPr>
          </a:p>
        </p:txBody>
      </p:sp>
      <p:sp>
        <p:nvSpPr>
          <p:cNvPr name="TextBox 13" id="13"/>
          <p:cNvSpPr txBox="true"/>
          <p:nvPr/>
        </p:nvSpPr>
        <p:spPr>
          <a:xfrm rot="0">
            <a:off x="1502569" y="7943107"/>
            <a:ext cx="15684103" cy="744538"/>
          </a:xfrm>
          <a:prstGeom prst="rect">
            <a:avLst/>
          </a:prstGeom>
        </p:spPr>
        <p:txBody>
          <a:bodyPr anchor="t" rtlCol="false" tIns="0" lIns="0" bIns="0" rIns="0">
            <a:spAutoFit/>
          </a:bodyPr>
          <a:lstStyle/>
          <a:p>
            <a:pPr algn="ctr">
              <a:lnSpc>
                <a:spcPts val="3062"/>
              </a:lnSpc>
            </a:pPr>
            <a:r>
              <a:rPr lang="en-US" sz="2062">
                <a:solidFill>
                  <a:srgbClr val="E0E4E6"/>
                </a:solidFill>
                <a:latin typeface="Barlow"/>
                <a:ea typeface="Barlow"/>
                <a:cs typeface="Barlow"/>
                <a:sym typeface="Barlow"/>
              </a:rPr>
              <a:t>Our ultimate goal: To replace fear with facts, showing that risk is determined by human context and location more than the shark's behavior.</a:t>
            </a:r>
          </a:p>
        </p:txBody>
      </p:sp>
      <p:grpSp>
        <p:nvGrpSpPr>
          <p:cNvPr name="Group 14" id="14"/>
          <p:cNvGrpSpPr/>
          <p:nvPr/>
        </p:nvGrpSpPr>
        <p:grpSpPr>
          <a:xfrm rot="0">
            <a:off x="1101328" y="7744568"/>
            <a:ext cx="38100" cy="1302839"/>
            <a:chOff x="0" y="0"/>
            <a:chExt cx="50800" cy="1737119"/>
          </a:xfrm>
        </p:grpSpPr>
        <p:sp>
          <p:nvSpPr>
            <p:cNvPr name="Freeform 15" id="15"/>
            <p:cNvSpPr/>
            <p:nvPr/>
          </p:nvSpPr>
          <p:spPr>
            <a:xfrm flipH="false" flipV="false" rot="0">
              <a:off x="0" y="0"/>
              <a:ext cx="50800" cy="1737106"/>
            </a:xfrm>
            <a:custGeom>
              <a:avLst/>
              <a:gdLst/>
              <a:ahLst/>
              <a:cxnLst/>
              <a:rect r="r" b="b" t="t" l="l"/>
              <a:pathLst>
                <a:path h="1737106" w="50800">
                  <a:moveTo>
                    <a:pt x="0" y="0"/>
                  </a:moveTo>
                  <a:lnTo>
                    <a:pt x="50800" y="0"/>
                  </a:lnTo>
                  <a:lnTo>
                    <a:pt x="50800" y="1737106"/>
                  </a:lnTo>
                  <a:lnTo>
                    <a:pt x="0" y="1737106"/>
                  </a:lnTo>
                  <a:close/>
                </a:path>
              </a:pathLst>
            </a:custGeom>
            <a:solidFill>
              <a:srgbClr val="16FFBB"/>
            </a:solidFill>
          </p:spPr>
        </p:sp>
      </p:grpSp>
      <p:sp>
        <p:nvSpPr>
          <p:cNvPr name="TextBox 16" id="16"/>
          <p:cNvSpPr txBox="true"/>
          <p:nvPr/>
        </p:nvSpPr>
        <p:spPr>
          <a:xfrm rot="0">
            <a:off x="453009" y="9220200"/>
            <a:ext cx="7150246" cy="348615"/>
          </a:xfrm>
          <a:prstGeom prst="rect">
            <a:avLst/>
          </a:prstGeom>
        </p:spPr>
        <p:txBody>
          <a:bodyPr anchor="t" rtlCol="false" tIns="0" lIns="0" bIns="0" rIns="0">
            <a:spAutoFit/>
          </a:bodyPr>
          <a:lstStyle/>
          <a:p>
            <a:pPr algn="ctr">
              <a:lnSpc>
                <a:spcPts val="2804"/>
              </a:lnSpc>
              <a:spcBef>
                <a:spcPct val="0"/>
              </a:spcBef>
            </a:pPr>
            <a:r>
              <a:rPr lang="en-US" sz="2062">
                <a:solidFill>
                  <a:srgbClr val="FFFFFF"/>
                </a:solidFill>
                <a:latin typeface="Barlow"/>
                <a:ea typeface="Barlow"/>
                <a:cs typeface="Barlow"/>
                <a:sym typeface="Barlow"/>
              </a:rPr>
              <a:t>Sha</a:t>
            </a:r>
            <a:r>
              <a:rPr lang="en-US" sz="2062">
                <a:solidFill>
                  <a:srgbClr val="FFFFFF"/>
                </a:solidFill>
                <a:latin typeface="Barlow"/>
                <a:ea typeface="Barlow"/>
                <a:cs typeface="Barlow"/>
                <a:sym typeface="Barlow"/>
              </a:rPr>
              <a:t>rks are not the story-our interaction with them 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929278" y="824360"/>
            <a:ext cx="9713833" cy="574675"/>
          </a:xfrm>
          <a:prstGeom prst="rect">
            <a:avLst/>
          </a:prstGeom>
        </p:spPr>
        <p:txBody>
          <a:bodyPr anchor="t" rtlCol="false" tIns="0" lIns="0" bIns="0" rIns="0">
            <a:spAutoFit/>
          </a:bodyPr>
          <a:lstStyle/>
          <a:p>
            <a:pPr algn="l">
              <a:lnSpc>
                <a:spcPts val="4625"/>
              </a:lnSpc>
            </a:pPr>
            <a:r>
              <a:rPr lang="en-US" sz="3687">
                <a:solidFill>
                  <a:srgbClr val="F0FCFF"/>
                </a:solidFill>
                <a:latin typeface="Playfair Display"/>
                <a:ea typeface="Playfair Display"/>
                <a:cs typeface="Playfair Display"/>
                <a:sym typeface="Playfair Display"/>
              </a:rPr>
              <a:t>The Data Foundation: Global Shark Attack File</a:t>
            </a:r>
          </a:p>
        </p:txBody>
      </p:sp>
      <p:sp>
        <p:nvSpPr>
          <p:cNvPr name="TextBox 7" id="7"/>
          <p:cNvSpPr txBox="true"/>
          <p:nvPr/>
        </p:nvSpPr>
        <p:spPr>
          <a:xfrm rot="0">
            <a:off x="929278" y="1701108"/>
            <a:ext cx="16429434" cy="303609"/>
          </a:xfrm>
          <a:prstGeom prst="rect">
            <a:avLst/>
          </a:prstGeom>
        </p:spPr>
        <p:txBody>
          <a:bodyPr anchor="t" rtlCol="false" tIns="0" lIns="0" bIns="0" rIns="0">
            <a:spAutoFit/>
          </a:bodyPr>
          <a:lstStyle/>
          <a:p>
            <a:pPr algn="l">
              <a:lnSpc>
                <a:spcPts val="2187"/>
              </a:lnSpc>
            </a:pPr>
            <a:r>
              <a:rPr lang="en-US" sz="1625">
                <a:solidFill>
                  <a:srgbClr val="E0E4E6"/>
                </a:solidFill>
                <a:latin typeface="Barlow"/>
                <a:ea typeface="Barlow"/>
                <a:cs typeface="Barlow"/>
                <a:sym typeface="Barlow"/>
              </a:rPr>
              <a:t>Source, Structure &amp; 117 Years of Global Data | 1900-2017</a:t>
            </a:r>
          </a:p>
        </p:txBody>
      </p:sp>
      <p:sp>
        <p:nvSpPr>
          <p:cNvPr name="TextBox 8" id="8"/>
          <p:cNvSpPr txBox="true"/>
          <p:nvPr/>
        </p:nvSpPr>
        <p:spPr>
          <a:xfrm rot="0">
            <a:off x="929278" y="2191198"/>
            <a:ext cx="3776367" cy="500510"/>
          </a:xfrm>
          <a:prstGeom prst="rect">
            <a:avLst/>
          </a:prstGeom>
        </p:spPr>
        <p:txBody>
          <a:bodyPr anchor="t" rtlCol="false" tIns="0" lIns="0" bIns="0" rIns="0">
            <a:spAutoFit/>
          </a:bodyPr>
          <a:lstStyle/>
          <a:p>
            <a:pPr algn="l">
              <a:lnSpc>
                <a:spcPts val="3687"/>
              </a:lnSpc>
            </a:pPr>
            <a:r>
              <a:rPr lang="en-US" sz="2937" b="true">
                <a:solidFill>
                  <a:srgbClr val="F0FCFF"/>
                </a:solidFill>
                <a:latin typeface="Arimo Bold"/>
                <a:ea typeface="Arimo Bold"/>
                <a:cs typeface="Arimo Bold"/>
                <a:sym typeface="Arimo Bold"/>
              </a:rPr>
              <a:t>Dataset Overview</a:t>
            </a:r>
          </a:p>
        </p:txBody>
      </p:sp>
      <p:sp>
        <p:nvSpPr>
          <p:cNvPr name="TextBox 9" id="9"/>
          <p:cNvSpPr txBox="true"/>
          <p:nvPr/>
        </p:nvSpPr>
        <p:spPr>
          <a:xfrm rot="0">
            <a:off x="1464916" y="3079547"/>
            <a:ext cx="4285507" cy="634308"/>
          </a:xfrm>
          <a:prstGeom prst="rect">
            <a:avLst/>
          </a:prstGeom>
        </p:spPr>
        <p:txBody>
          <a:bodyPr anchor="t" rtlCol="false" tIns="0" lIns="0" bIns="0" rIns="0">
            <a:spAutoFit/>
          </a:bodyPr>
          <a:lstStyle/>
          <a:p>
            <a:pPr algn="ctr">
              <a:lnSpc>
                <a:spcPts val="5500"/>
              </a:lnSpc>
            </a:pPr>
            <a:r>
              <a:rPr lang="en-US" sz="5500" b="true">
                <a:solidFill>
                  <a:srgbClr val="E0E4E6"/>
                </a:solidFill>
                <a:latin typeface="Arimo Bold"/>
                <a:ea typeface="Arimo Bold"/>
                <a:cs typeface="Arimo Bold"/>
                <a:sym typeface="Arimo Bold"/>
              </a:rPr>
              <a:t>5,409</a:t>
            </a:r>
          </a:p>
        </p:txBody>
      </p:sp>
      <p:sp>
        <p:nvSpPr>
          <p:cNvPr name="TextBox 10" id="10"/>
          <p:cNvSpPr txBox="true"/>
          <p:nvPr/>
        </p:nvSpPr>
        <p:spPr>
          <a:xfrm rot="0">
            <a:off x="2427532" y="3889324"/>
            <a:ext cx="2360266" cy="333080"/>
          </a:xfrm>
          <a:prstGeom prst="rect">
            <a:avLst/>
          </a:prstGeom>
        </p:spPr>
        <p:txBody>
          <a:bodyPr anchor="t" rtlCol="false" tIns="0" lIns="0" bIns="0" rIns="0">
            <a:spAutoFit/>
          </a:bodyPr>
          <a:lstStyle/>
          <a:p>
            <a:pPr algn="ctr">
              <a:lnSpc>
                <a:spcPts val="2312"/>
              </a:lnSpc>
            </a:pPr>
            <a:r>
              <a:rPr lang="en-US" sz="1812" b="true">
                <a:solidFill>
                  <a:srgbClr val="E0E4E6"/>
                </a:solidFill>
                <a:latin typeface="Arimo Bold"/>
                <a:ea typeface="Arimo Bold"/>
                <a:cs typeface="Arimo Bold"/>
                <a:sym typeface="Arimo Bold"/>
              </a:rPr>
              <a:t>Total Records</a:t>
            </a:r>
          </a:p>
        </p:txBody>
      </p:sp>
      <p:sp>
        <p:nvSpPr>
          <p:cNvPr name="TextBox 11" id="11"/>
          <p:cNvSpPr txBox="true"/>
          <p:nvPr/>
        </p:nvSpPr>
        <p:spPr>
          <a:xfrm rot="0">
            <a:off x="929278" y="4289374"/>
            <a:ext cx="5356917" cy="303609"/>
          </a:xfrm>
          <a:prstGeom prst="rect">
            <a:avLst/>
          </a:prstGeom>
        </p:spPr>
        <p:txBody>
          <a:bodyPr anchor="t" rtlCol="false" tIns="0" lIns="0" bIns="0" rIns="0">
            <a:spAutoFit/>
          </a:bodyPr>
          <a:lstStyle/>
          <a:p>
            <a:pPr algn="ctr">
              <a:lnSpc>
                <a:spcPts val="2187"/>
              </a:lnSpc>
            </a:pPr>
            <a:r>
              <a:rPr lang="en-US" sz="1625">
                <a:solidFill>
                  <a:srgbClr val="E0E4E6"/>
                </a:solidFill>
                <a:latin typeface="Barlow"/>
                <a:ea typeface="Barlow"/>
                <a:cs typeface="Barlow"/>
                <a:sym typeface="Barlow"/>
              </a:rPr>
              <a:t>Confirmed shark attack incidents</a:t>
            </a:r>
          </a:p>
        </p:txBody>
      </p:sp>
      <p:sp>
        <p:nvSpPr>
          <p:cNvPr name="TextBox 12" id="12"/>
          <p:cNvSpPr txBox="true"/>
          <p:nvPr/>
        </p:nvSpPr>
        <p:spPr>
          <a:xfrm rot="0">
            <a:off x="7001027" y="3079547"/>
            <a:ext cx="4285659" cy="634308"/>
          </a:xfrm>
          <a:prstGeom prst="rect">
            <a:avLst/>
          </a:prstGeom>
        </p:spPr>
        <p:txBody>
          <a:bodyPr anchor="t" rtlCol="false" tIns="0" lIns="0" bIns="0" rIns="0">
            <a:spAutoFit/>
          </a:bodyPr>
          <a:lstStyle/>
          <a:p>
            <a:pPr algn="ctr">
              <a:lnSpc>
                <a:spcPts val="5500"/>
              </a:lnSpc>
            </a:pPr>
            <a:r>
              <a:rPr lang="en-US" sz="5500" b="true">
                <a:solidFill>
                  <a:srgbClr val="E0E4E6"/>
                </a:solidFill>
                <a:latin typeface="Arimo Bold"/>
                <a:ea typeface="Arimo Bold"/>
                <a:cs typeface="Arimo Bold"/>
                <a:sym typeface="Arimo Bold"/>
              </a:rPr>
              <a:t>117</a:t>
            </a:r>
          </a:p>
        </p:txBody>
      </p:sp>
      <p:sp>
        <p:nvSpPr>
          <p:cNvPr name="TextBox 13" id="13"/>
          <p:cNvSpPr txBox="true"/>
          <p:nvPr/>
        </p:nvSpPr>
        <p:spPr>
          <a:xfrm rot="0">
            <a:off x="7963795" y="3889324"/>
            <a:ext cx="2360266" cy="333080"/>
          </a:xfrm>
          <a:prstGeom prst="rect">
            <a:avLst/>
          </a:prstGeom>
        </p:spPr>
        <p:txBody>
          <a:bodyPr anchor="t" rtlCol="false" tIns="0" lIns="0" bIns="0" rIns="0">
            <a:spAutoFit/>
          </a:bodyPr>
          <a:lstStyle/>
          <a:p>
            <a:pPr algn="ctr">
              <a:lnSpc>
                <a:spcPts val="2312"/>
              </a:lnSpc>
            </a:pPr>
            <a:r>
              <a:rPr lang="en-US" sz="1812" b="true">
                <a:solidFill>
                  <a:srgbClr val="E0E4E6"/>
                </a:solidFill>
                <a:latin typeface="Arimo Bold"/>
                <a:ea typeface="Arimo Bold"/>
                <a:cs typeface="Arimo Bold"/>
                <a:sym typeface="Arimo Bold"/>
              </a:rPr>
              <a:t>Years of Data</a:t>
            </a:r>
          </a:p>
        </p:txBody>
      </p:sp>
      <p:sp>
        <p:nvSpPr>
          <p:cNvPr name="TextBox 14" id="14"/>
          <p:cNvSpPr txBox="true"/>
          <p:nvPr/>
        </p:nvSpPr>
        <p:spPr>
          <a:xfrm rot="0">
            <a:off x="6465389" y="4289374"/>
            <a:ext cx="5357070" cy="303609"/>
          </a:xfrm>
          <a:prstGeom prst="rect">
            <a:avLst/>
          </a:prstGeom>
        </p:spPr>
        <p:txBody>
          <a:bodyPr anchor="t" rtlCol="false" tIns="0" lIns="0" bIns="0" rIns="0">
            <a:spAutoFit/>
          </a:bodyPr>
          <a:lstStyle/>
          <a:p>
            <a:pPr algn="ctr">
              <a:lnSpc>
                <a:spcPts val="2187"/>
              </a:lnSpc>
            </a:pPr>
            <a:r>
              <a:rPr lang="en-US" sz="1625">
                <a:solidFill>
                  <a:srgbClr val="E0E4E6"/>
                </a:solidFill>
                <a:latin typeface="Barlow"/>
                <a:ea typeface="Barlow"/>
                <a:cs typeface="Barlow"/>
                <a:sym typeface="Barlow"/>
              </a:rPr>
              <a:t>1900 through 2017</a:t>
            </a:r>
          </a:p>
        </p:txBody>
      </p:sp>
      <p:sp>
        <p:nvSpPr>
          <p:cNvPr name="TextBox 15" id="15"/>
          <p:cNvSpPr txBox="true"/>
          <p:nvPr/>
        </p:nvSpPr>
        <p:spPr>
          <a:xfrm rot="0">
            <a:off x="12537281" y="3079547"/>
            <a:ext cx="4285659" cy="634308"/>
          </a:xfrm>
          <a:prstGeom prst="rect">
            <a:avLst/>
          </a:prstGeom>
        </p:spPr>
        <p:txBody>
          <a:bodyPr anchor="t" rtlCol="false" tIns="0" lIns="0" bIns="0" rIns="0">
            <a:spAutoFit/>
          </a:bodyPr>
          <a:lstStyle/>
          <a:p>
            <a:pPr algn="ctr">
              <a:lnSpc>
                <a:spcPts val="5500"/>
              </a:lnSpc>
            </a:pPr>
            <a:r>
              <a:rPr lang="en-US" sz="5500" b="true">
                <a:solidFill>
                  <a:srgbClr val="E0E4E6"/>
                </a:solidFill>
                <a:latin typeface="Arimo Bold"/>
                <a:ea typeface="Arimo Bold"/>
                <a:cs typeface="Arimo Bold"/>
                <a:sym typeface="Arimo Bold"/>
              </a:rPr>
              <a:t>50+</a:t>
            </a:r>
          </a:p>
        </p:txBody>
      </p:sp>
      <p:sp>
        <p:nvSpPr>
          <p:cNvPr name="TextBox 16" id="16"/>
          <p:cNvSpPr txBox="true"/>
          <p:nvPr/>
        </p:nvSpPr>
        <p:spPr>
          <a:xfrm rot="0">
            <a:off x="13500049" y="3889324"/>
            <a:ext cx="2360266" cy="333080"/>
          </a:xfrm>
          <a:prstGeom prst="rect">
            <a:avLst/>
          </a:prstGeom>
        </p:spPr>
        <p:txBody>
          <a:bodyPr anchor="t" rtlCol="false" tIns="0" lIns="0" bIns="0" rIns="0">
            <a:spAutoFit/>
          </a:bodyPr>
          <a:lstStyle/>
          <a:p>
            <a:pPr algn="ctr">
              <a:lnSpc>
                <a:spcPts val="2312"/>
              </a:lnSpc>
            </a:pPr>
            <a:r>
              <a:rPr lang="en-US" sz="1812" b="true">
                <a:solidFill>
                  <a:srgbClr val="E0E4E6"/>
                </a:solidFill>
                <a:latin typeface="Arimo Bold"/>
                <a:ea typeface="Arimo Bold"/>
                <a:cs typeface="Arimo Bold"/>
                <a:sym typeface="Arimo Bold"/>
              </a:rPr>
              <a:t>Countries Covered</a:t>
            </a:r>
          </a:p>
        </p:txBody>
      </p:sp>
      <p:sp>
        <p:nvSpPr>
          <p:cNvPr name="TextBox 17" id="17"/>
          <p:cNvSpPr txBox="true"/>
          <p:nvPr/>
        </p:nvSpPr>
        <p:spPr>
          <a:xfrm rot="0">
            <a:off x="12001652" y="4289374"/>
            <a:ext cx="5357070" cy="303609"/>
          </a:xfrm>
          <a:prstGeom prst="rect">
            <a:avLst/>
          </a:prstGeom>
        </p:spPr>
        <p:txBody>
          <a:bodyPr anchor="t" rtlCol="false" tIns="0" lIns="0" bIns="0" rIns="0">
            <a:spAutoFit/>
          </a:bodyPr>
          <a:lstStyle/>
          <a:p>
            <a:pPr algn="ctr">
              <a:lnSpc>
                <a:spcPts val="2187"/>
              </a:lnSpc>
            </a:pPr>
            <a:r>
              <a:rPr lang="en-US" sz="1625">
                <a:solidFill>
                  <a:srgbClr val="E0E4E6"/>
                </a:solidFill>
                <a:latin typeface="Barlow"/>
                <a:ea typeface="Barlow"/>
                <a:cs typeface="Barlow"/>
                <a:sym typeface="Barlow"/>
              </a:rPr>
              <a:t>Global geographic scope</a:t>
            </a:r>
          </a:p>
        </p:txBody>
      </p:sp>
      <p:sp>
        <p:nvSpPr>
          <p:cNvPr name="TextBox 18" id="18"/>
          <p:cNvSpPr txBox="true"/>
          <p:nvPr/>
        </p:nvSpPr>
        <p:spPr>
          <a:xfrm rot="0">
            <a:off x="929278" y="4760414"/>
            <a:ext cx="3229808" cy="684605"/>
          </a:xfrm>
          <a:prstGeom prst="rect">
            <a:avLst/>
          </a:prstGeom>
        </p:spPr>
        <p:txBody>
          <a:bodyPr anchor="t" rtlCol="false" tIns="0" lIns="0" bIns="0" rIns="0">
            <a:spAutoFit/>
          </a:bodyPr>
          <a:lstStyle/>
          <a:p>
            <a:pPr algn="l">
              <a:lnSpc>
                <a:spcPts val="5319"/>
              </a:lnSpc>
            </a:pPr>
            <a:r>
              <a:rPr lang="en-US" sz="4237">
                <a:solidFill>
                  <a:srgbClr val="F0FCFF"/>
                </a:solidFill>
                <a:latin typeface="Arimo"/>
                <a:ea typeface="Arimo"/>
                <a:cs typeface="Arimo"/>
                <a:sym typeface="Arimo"/>
              </a:rPr>
              <a:t>Key Statistics</a:t>
            </a:r>
          </a:p>
        </p:txBody>
      </p:sp>
      <p:sp>
        <p:nvSpPr>
          <p:cNvPr name="TextBox 19" id="19"/>
          <p:cNvSpPr txBox="true"/>
          <p:nvPr/>
        </p:nvSpPr>
        <p:spPr>
          <a:xfrm rot="0">
            <a:off x="929278" y="5600252"/>
            <a:ext cx="3009424" cy="503413"/>
          </a:xfrm>
          <a:prstGeom prst="rect">
            <a:avLst/>
          </a:prstGeom>
        </p:spPr>
        <p:txBody>
          <a:bodyPr anchor="t" rtlCol="false" tIns="0" lIns="0" bIns="0" rIns="0">
            <a:spAutoFit/>
          </a:bodyPr>
          <a:lstStyle/>
          <a:p>
            <a:pPr algn="l">
              <a:lnSpc>
                <a:spcPts val="3971"/>
              </a:lnSpc>
            </a:pPr>
            <a:r>
              <a:rPr lang="en-US" sz="3112">
                <a:solidFill>
                  <a:srgbClr val="F0FCFF"/>
                </a:solidFill>
                <a:latin typeface="Arimo"/>
                <a:ea typeface="Arimo"/>
                <a:cs typeface="Arimo"/>
                <a:sym typeface="Arimo"/>
              </a:rPr>
              <a:t>Attack Outcomes</a:t>
            </a:r>
          </a:p>
        </p:txBody>
      </p:sp>
      <p:sp>
        <p:nvSpPr>
          <p:cNvPr name="TextBox 20" id="20"/>
          <p:cNvSpPr txBox="true"/>
          <p:nvPr/>
        </p:nvSpPr>
        <p:spPr>
          <a:xfrm rot="0">
            <a:off x="929278" y="6019505"/>
            <a:ext cx="7955604" cy="993458"/>
          </a:xfrm>
          <a:prstGeom prst="rect">
            <a:avLst/>
          </a:prstGeom>
        </p:spPr>
        <p:txBody>
          <a:bodyPr anchor="t" rtlCol="false" tIns="0" lIns="0" bIns="0" rIns="0">
            <a:spAutoFit/>
          </a:bodyPr>
          <a:lstStyle/>
          <a:p>
            <a:pPr algn="l" marL="441122" indent="-220561" lvl="1">
              <a:lnSpc>
                <a:spcPts val="3937"/>
              </a:lnSpc>
              <a:buFont typeface="Arial"/>
              <a:buChar char="•"/>
            </a:pPr>
            <a:r>
              <a:rPr lang="en-US" sz="2924">
                <a:solidFill>
                  <a:srgbClr val="E0E4E6"/>
                </a:solidFill>
                <a:latin typeface="Arimo"/>
                <a:ea typeface="Arimo"/>
                <a:cs typeface="Arimo"/>
                <a:sym typeface="Arimo"/>
              </a:rPr>
              <a:t>Non-Fatal: 4,204 (77.7%)</a:t>
            </a:r>
          </a:p>
          <a:p>
            <a:pPr algn="l" marL="441122" indent="-220561" lvl="1">
              <a:lnSpc>
                <a:spcPts val="3937"/>
              </a:lnSpc>
              <a:buFont typeface="Arial"/>
              <a:buChar char="•"/>
            </a:pPr>
            <a:r>
              <a:rPr lang="en-US" sz="2924">
                <a:solidFill>
                  <a:srgbClr val="E0E4E6"/>
                </a:solidFill>
                <a:latin typeface="Arimo"/>
                <a:ea typeface="Arimo"/>
                <a:cs typeface="Arimo"/>
                <a:sym typeface="Arimo"/>
              </a:rPr>
              <a:t>Fatal: 1,205 (22.3%)</a:t>
            </a:r>
          </a:p>
        </p:txBody>
      </p:sp>
      <p:sp>
        <p:nvSpPr>
          <p:cNvPr name="TextBox 21" id="21"/>
          <p:cNvSpPr txBox="true"/>
          <p:nvPr/>
        </p:nvSpPr>
        <p:spPr>
          <a:xfrm rot="0">
            <a:off x="929278" y="7279663"/>
            <a:ext cx="2694983" cy="616698"/>
          </a:xfrm>
          <a:prstGeom prst="rect">
            <a:avLst/>
          </a:prstGeom>
        </p:spPr>
        <p:txBody>
          <a:bodyPr anchor="t" rtlCol="false" tIns="0" lIns="0" bIns="0" rIns="0">
            <a:spAutoFit/>
          </a:bodyPr>
          <a:lstStyle/>
          <a:p>
            <a:pPr algn="l">
              <a:lnSpc>
                <a:spcPts val="4775"/>
              </a:lnSpc>
            </a:pPr>
            <a:r>
              <a:rPr lang="en-US" sz="3742">
                <a:solidFill>
                  <a:srgbClr val="F0FCFF"/>
                </a:solidFill>
                <a:latin typeface="Arimo"/>
                <a:ea typeface="Arimo"/>
                <a:cs typeface="Arimo"/>
                <a:sym typeface="Arimo"/>
              </a:rPr>
              <a:t>Top Regions</a:t>
            </a:r>
          </a:p>
        </p:txBody>
      </p:sp>
      <p:sp>
        <p:nvSpPr>
          <p:cNvPr name="TextBox 22" id="22"/>
          <p:cNvSpPr txBox="true"/>
          <p:nvPr/>
        </p:nvSpPr>
        <p:spPr>
          <a:xfrm rot="0">
            <a:off x="1028700" y="8257058"/>
            <a:ext cx="4721723" cy="498158"/>
          </a:xfrm>
          <a:prstGeom prst="rect">
            <a:avLst/>
          </a:prstGeom>
        </p:spPr>
        <p:txBody>
          <a:bodyPr anchor="t" rtlCol="false" tIns="0" lIns="0" bIns="0" rIns="0">
            <a:spAutoFit/>
          </a:bodyPr>
          <a:lstStyle/>
          <a:p>
            <a:pPr algn="l" marL="441122" indent="-220561" lvl="1">
              <a:lnSpc>
                <a:spcPts val="3937"/>
              </a:lnSpc>
              <a:buFont typeface="Arial"/>
              <a:buChar char="•"/>
            </a:pPr>
            <a:r>
              <a:rPr lang="en-US" sz="2924">
                <a:solidFill>
                  <a:srgbClr val="E0E4E6"/>
                </a:solidFill>
                <a:latin typeface="Arimo"/>
                <a:ea typeface="Arimo"/>
                <a:cs typeface="Arimo"/>
                <a:sym typeface="Arimo"/>
              </a:rPr>
              <a:t>USA: 2,030 (37.5%)</a:t>
            </a:r>
          </a:p>
        </p:txBody>
      </p:sp>
      <p:sp>
        <p:nvSpPr>
          <p:cNvPr name="TextBox 23" id="23"/>
          <p:cNvSpPr txBox="true"/>
          <p:nvPr/>
        </p:nvSpPr>
        <p:spPr>
          <a:xfrm rot="0">
            <a:off x="9656397" y="5719998"/>
            <a:ext cx="3734038" cy="503413"/>
          </a:xfrm>
          <a:prstGeom prst="rect">
            <a:avLst/>
          </a:prstGeom>
        </p:spPr>
        <p:txBody>
          <a:bodyPr anchor="t" rtlCol="false" tIns="0" lIns="0" bIns="0" rIns="0">
            <a:spAutoFit/>
          </a:bodyPr>
          <a:lstStyle/>
          <a:p>
            <a:pPr algn="l">
              <a:lnSpc>
                <a:spcPts val="3971"/>
              </a:lnSpc>
            </a:pPr>
            <a:r>
              <a:rPr lang="en-US" sz="3112">
                <a:solidFill>
                  <a:srgbClr val="F0FCFF"/>
                </a:solidFill>
                <a:latin typeface="Arimo"/>
                <a:ea typeface="Arimo"/>
                <a:cs typeface="Arimo"/>
                <a:sym typeface="Arimo"/>
              </a:rPr>
              <a:t>Victim Demographics</a:t>
            </a:r>
          </a:p>
        </p:txBody>
      </p:sp>
      <p:sp>
        <p:nvSpPr>
          <p:cNvPr name="TextBox 24" id="24"/>
          <p:cNvSpPr txBox="true"/>
          <p:nvPr/>
        </p:nvSpPr>
        <p:spPr>
          <a:xfrm rot="0">
            <a:off x="9412634" y="6166261"/>
            <a:ext cx="7955604" cy="993458"/>
          </a:xfrm>
          <a:prstGeom prst="rect">
            <a:avLst/>
          </a:prstGeom>
        </p:spPr>
        <p:txBody>
          <a:bodyPr anchor="t" rtlCol="false" tIns="0" lIns="0" bIns="0" rIns="0">
            <a:spAutoFit/>
          </a:bodyPr>
          <a:lstStyle/>
          <a:p>
            <a:pPr algn="l" marL="441122" indent="-220561" lvl="1">
              <a:lnSpc>
                <a:spcPts val="3937"/>
              </a:lnSpc>
              <a:buFont typeface="Arial"/>
              <a:buChar char="•"/>
            </a:pPr>
            <a:r>
              <a:rPr lang="en-US" sz="2924">
                <a:solidFill>
                  <a:srgbClr val="E0E4E6"/>
                </a:solidFill>
                <a:latin typeface="Arimo"/>
                <a:ea typeface="Arimo"/>
                <a:cs typeface="Arimo"/>
                <a:sym typeface="Arimo"/>
              </a:rPr>
              <a:t>Male: 4,326 (80%)</a:t>
            </a:r>
          </a:p>
          <a:p>
            <a:pPr algn="l" marL="441122" indent="-220561" lvl="1">
              <a:lnSpc>
                <a:spcPts val="3937"/>
              </a:lnSpc>
              <a:buFont typeface="Arial"/>
              <a:buChar char="•"/>
            </a:pPr>
            <a:r>
              <a:rPr lang="en-US" sz="2924">
                <a:solidFill>
                  <a:srgbClr val="E0E4E6"/>
                </a:solidFill>
                <a:latin typeface="Arimo"/>
                <a:ea typeface="Arimo"/>
                <a:cs typeface="Arimo"/>
                <a:sym typeface="Arimo"/>
              </a:rPr>
              <a:t>Female: 569 (10.5%)</a:t>
            </a:r>
          </a:p>
        </p:txBody>
      </p:sp>
      <p:sp>
        <p:nvSpPr>
          <p:cNvPr name="TextBox 25" id="25"/>
          <p:cNvSpPr txBox="true"/>
          <p:nvPr/>
        </p:nvSpPr>
        <p:spPr>
          <a:xfrm rot="0">
            <a:off x="5430142" y="8783791"/>
            <a:ext cx="4721723" cy="498158"/>
          </a:xfrm>
          <a:prstGeom prst="rect">
            <a:avLst/>
          </a:prstGeom>
        </p:spPr>
        <p:txBody>
          <a:bodyPr anchor="t" rtlCol="false" tIns="0" lIns="0" bIns="0" rIns="0">
            <a:spAutoFit/>
          </a:bodyPr>
          <a:lstStyle/>
          <a:p>
            <a:pPr algn="l" marL="441122" indent="-220561" lvl="1">
              <a:lnSpc>
                <a:spcPts val="3937"/>
              </a:lnSpc>
              <a:buFont typeface="Arial"/>
              <a:buChar char="•"/>
            </a:pPr>
            <a:r>
              <a:rPr lang="en-US" sz="2924">
                <a:solidFill>
                  <a:srgbClr val="E0E4E6"/>
                </a:solidFill>
                <a:latin typeface="Arimo"/>
                <a:ea typeface="Arimo"/>
                <a:cs typeface="Arimo"/>
                <a:sym typeface="Arimo"/>
              </a:rPr>
              <a:t>Australia: 1,147 (21.2%)</a:t>
            </a:r>
          </a:p>
        </p:txBody>
      </p:sp>
      <p:sp>
        <p:nvSpPr>
          <p:cNvPr name="TextBox 26" id="26"/>
          <p:cNvSpPr txBox="true"/>
          <p:nvPr/>
        </p:nvSpPr>
        <p:spPr>
          <a:xfrm rot="0">
            <a:off x="10324062" y="8732996"/>
            <a:ext cx="4721723" cy="993458"/>
          </a:xfrm>
          <a:prstGeom prst="rect">
            <a:avLst/>
          </a:prstGeom>
        </p:spPr>
        <p:txBody>
          <a:bodyPr anchor="t" rtlCol="false" tIns="0" lIns="0" bIns="0" rIns="0">
            <a:spAutoFit/>
          </a:bodyPr>
          <a:lstStyle/>
          <a:p>
            <a:pPr algn="l">
              <a:lnSpc>
                <a:spcPts val="3937"/>
              </a:lnSpc>
            </a:pPr>
          </a:p>
          <a:p>
            <a:pPr algn="l" marL="441122" indent="-220561" lvl="1">
              <a:lnSpc>
                <a:spcPts val="3937"/>
              </a:lnSpc>
              <a:buFont typeface="Arial"/>
              <a:buChar char="•"/>
            </a:pPr>
            <a:r>
              <a:rPr lang="en-US" sz="2924">
                <a:solidFill>
                  <a:srgbClr val="E0E4E6"/>
                </a:solidFill>
                <a:latin typeface="Arimo"/>
                <a:ea typeface="Arimo"/>
                <a:cs typeface="Arimo"/>
                <a:sym typeface="Arimo"/>
              </a:rPr>
              <a:t>South Africa: 541 (10%)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grpSp>
        <p:nvGrpSpPr>
          <p:cNvPr name="Group 6" id="6"/>
          <p:cNvGrpSpPr/>
          <p:nvPr/>
        </p:nvGrpSpPr>
        <p:grpSpPr>
          <a:xfrm rot="0">
            <a:off x="476155" y="6481934"/>
            <a:ext cx="16700697" cy="3135895"/>
            <a:chOff x="0" y="0"/>
            <a:chExt cx="22267596" cy="4181194"/>
          </a:xfrm>
        </p:grpSpPr>
        <p:sp>
          <p:nvSpPr>
            <p:cNvPr name="Freeform 7" id="7"/>
            <p:cNvSpPr/>
            <p:nvPr/>
          </p:nvSpPr>
          <p:spPr>
            <a:xfrm flipH="false" flipV="false" rot="0">
              <a:off x="0" y="0"/>
              <a:ext cx="22267509" cy="4181206"/>
            </a:xfrm>
            <a:custGeom>
              <a:avLst/>
              <a:gdLst/>
              <a:ahLst/>
              <a:cxnLst/>
              <a:rect r="r" b="b" t="t" l="l"/>
              <a:pathLst>
                <a:path h="4181206" w="22267509">
                  <a:moveTo>
                    <a:pt x="0" y="0"/>
                  </a:moveTo>
                  <a:lnTo>
                    <a:pt x="22267509" y="0"/>
                  </a:lnTo>
                  <a:lnTo>
                    <a:pt x="22267509" y="4181206"/>
                  </a:lnTo>
                  <a:lnTo>
                    <a:pt x="0" y="4181206"/>
                  </a:lnTo>
                  <a:close/>
                </a:path>
              </a:pathLst>
            </a:custGeom>
            <a:solidFill>
              <a:srgbClr val="0B0B0B"/>
            </a:solidFill>
          </p:spPr>
        </p:sp>
        <p:sp>
          <p:nvSpPr>
            <p:cNvPr name="TextBox 8" id="8"/>
            <p:cNvSpPr txBox="true"/>
            <p:nvPr/>
          </p:nvSpPr>
          <p:spPr>
            <a:xfrm>
              <a:off x="0" y="0"/>
              <a:ext cx="22267596" cy="4181194"/>
            </a:xfrm>
            <a:prstGeom prst="rect">
              <a:avLst/>
            </a:prstGeom>
          </p:spPr>
          <p:txBody>
            <a:bodyPr anchor="ctr" rtlCol="false" tIns="50800" lIns="50800" bIns="50800" rIns="50800"/>
            <a:lstStyle/>
            <a:p>
              <a:pPr algn="l" marL="309164" indent="-154582" lvl="1">
                <a:lnSpc>
                  <a:spcPts val="2459"/>
                </a:lnSpc>
                <a:buFont typeface="Arial"/>
                <a:buChar char="•"/>
              </a:pPr>
              <a:r>
                <a:rPr lang="en-US" sz="2049">
                  <a:solidFill>
                    <a:srgbClr val="10D8E8"/>
                  </a:solidFill>
                  <a:latin typeface="Lucida Console"/>
                  <a:ea typeface="Lucida Console"/>
                  <a:cs typeface="Lucida Console"/>
                  <a:sym typeface="Lucida Console"/>
                </a:rPr>
                <a:t>names(df_updated) </a:t>
              </a:r>
            </a:p>
            <a:p>
              <a:pPr algn="l" marL="309164" indent="-154582" lvl="1">
                <a:lnSpc>
                  <a:spcPts val="2459"/>
                </a:lnSpc>
              </a:pPr>
              <a:r>
                <a:rPr lang="en-US" sz="2049">
                  <a:solidFill>
                    <a:srgbClr val="10D8E8"/>
                  </a:solidFill>
                  <a:latin typeface="Lucida Console"/>
                  <a:ea typeface="Lucida Console"/>
                  <a:cs typeface="Lucida Console"/>
                  <a:sym typeface="Lucida Console"/>
                </a:rPr>
                <a:t>  </a:t>
              </a:r>
              <a:r>
                <a:rPr lang="en-US" sz="2049">
                  <a:solidFill>
                    <a:srgbClr val="00FF00"/>
                  </a:solidFill>
                  <a:latin typeface="Lucida Console"/>
                  <a:ea typeface="Lucida Console"/>
                  <a:cs typeface="Lucida Console"/>
                  <a:sym typeface="Lucida Console"/>
                </a:rPr>
                <a:t>[1] "year" "type" "regions" "area" </a:t>
              </a:r>
            </a:p>
            <a:p>
              <a:pPr algn="l" marL="309164" indent="-154582" lvl="1">
                <a:lnSpc>
                  <a:spcPts val="2459"/>
                </a:lnSpc>
              </a:pPr>
            </a:p>
            <a:p>
              <a:pPr algn="l" marL="309164" indent="-154582" lvl="1">
                <a:lnSpc>
                  <a:spcPts val="2459"/>
                </a:lnSpc>
              </a:pPr>
              <a:r>
                <a:rPr lang="en-US" sz="2049">
                  <a:solidFill>
                    <a:srgbClr val="00FF00"/>
                  </a:solidFill>
                  <a:latin typeface="Lucida Console"/>
                  <a:ea typeface="Lucida Console"/>
                  <a:cs typeface="Lucida Console"/>
                  <a:sym typeface="Lucida Console"/>
                </a:rPr>
                <a:t>  [5] "location" "activity" "sex" "age" </a:t>
              </a:r>
            </a:p>
            <a:p>
              <a:pPr algn="l" marL="309164" indent="-154582" lvl="1">
                <a:lnSpc>
                  <a:spcPts val="2459"/>
                </a:lnSpc>
              </a:pPr>
            </a:p>
            <a:p>
              <a:pPr algn="l" marL="309164" indent="-154582" lvl="1">
                <a:lnSpc>
                  <a:spcPts val="2459"/>
                </a:lnSpc>
              </a:pPr>
              <a:r>
                <a:rPr lang="en-US" sz="2049">
                  <a:solidFill>
                    <a:srgbClr val="00FF00"/>
                  </a:solidFill>
                  <a:latin typeface="Lucida Console"/>
                  <a:ea typeface="Lucida Console"/>
                  <a:cs typeface="Lucida Console"/>
                  <a:sym typeface="Lucida Console"/>
                </a:rPr>
                <a:t>  [9] "injury" "fatal_y_n_" "time" "species“</a:t>
              </a:r>
            </a:p>
            <a:p>
              <a:pPr algn="l" marL="309164" indent="-154582" lvl="1">
                <a:lnSpc>
                  <a:spcPts val="2459"/>
                </a:lnSpc>
              </a:pPr>
            </a:p>
            <a:p>
              <a:pPr algn="l" marL="309164" indent="-154582" lvl="1">
                <a:lnSpc>
                  <a:spcPts val="2459"/>
                </a:lnSpc>
              </a:pPr>
              <a:r>
                <a:rPr lang="en-US" sz="2049">
                  <a:solidFill>
                    <a:srgbClr val="00FF00"/>
                  </a:solidFill>
                  <a:latin typeface="Lucida Console"/>
                  <a:ea typeface="Lucida Console"/>
                  <a:cs typeface="Lucida Console"/>
                  <a:sym typeface="Lucida Console"/>
                </a:rPr>
                <a:t> [13] "investigator_or_source" "case_number_1" "fatal_y_n" "age_num“</a:t>
              </a:r>
            </a:p>
            <a:p>
              <a:pPr algn="l" marL="309164" indent="-154582" lvl="1">
                <a:lnSpc>
                  <a:spcPts val="2459"/>
                </a:lnSpc>
              </a:pPr>
              <a:r>
                <a:rPr lang="en-US" sz="2049">
                  <a:solidFill>
                    <a:srgbClr val="00FF00"/>
                  </a:solidFill>
                  <a:latin typeface="Lucida Console"/>
                  <a:ea typeface="Lucida Console"/>
                  <a:cs typeface="Lucida Console"/>
                  <a:sym typeface="Lucida Console"/>
                </a:rPr>
                <a:t>.</a:t>
              </a:r>
            </a:p>
            <a:p>
              <a:pPr algn="l" marL="309164" indent="-154582" lvl="1">
                <a:lnSpc>
                  <a:spcPts val="2459"/>
                </a:lnSpc>
              </a:pPr>
              <a:r>
                <a:rPr lang="en-US" sz="2049">
                  <a:solidFill>
                    <a:srgbClr val="00FF00"/>
                  </a:solidFill>
                  <a:latin typeface="Lucida Console"/>
                  <a:ea typeface="Lucida Console"/>
                  <a:cs typeface="Lucida Console"/>
                  <a:sym typeface="Lucida Console"/>
                </a:rPr>
                <a:t> [17] "age_group" "species_group" "activity_group" "time_group" </a:t>
              </a:r>
            </a:p>
          </p:txBody>
        </p:sp>
      </p:grpSp>
      <p:sp>
        <p:nvSpPr>
          <p:cNvPr name="TextBox 9" id="9"/>
          <p:cNvSpPr txBox="true"/>
          <p:nvPr/>
        </p:nvSpPr>
        <p:spPr>
          <a:xfrm rot="0">
            <a:off x="7486833" y="570309"/>
            <a:ext cx="9269016" cy="592137"/>
          </a:xfrm>
          <a:prstGeom prst="rect">
            <a:avLst/>
          </a:prstGeom>
        </p:spPr>
        <p:txBody>
          <a:bodyPr anchor="t" rtlCol="false" tIns="0" lIns="0" bIns="0" rIns="0">
            <a:spAutoFit/>
          </a:bodyPr>
          <a:lstStyle/>
          <a:p>
            <a:pPr algn="l">
              <a:lnSpc>
                <a:spcPts val="4562"/>
              </a:lnSpc>
            </a:pPr>
            <a:r>
              <a:rPr lang="en-US" sz="3625" b="true">
                <a:solidFill>
                  <a:srgbClr val="F0FCFF"/>
                </a:solidFill>
                <a:latin typeface="Arimo Bold"/>
                <a:ea typeface="Arimo Bold"/>
                <a:cs typeface="Arimo Bold"/>
                <a:sym typeface="Arimo Bold"/>
              </a:rPr>
              <a:t>Understanding Our Variables</a:t>
            </a:r>
          </a:p>
        </p:txBody>
      </p:sp>
      <p:sp>
        <p:nvSpPr>
          <p:cNvPr name="TextBox 10" id="10"/>
          <p:cNvSpPr txBox="true"/>
          <p:nvPr/>
        </p:nvSpPr>
        <p:spPr>
          <a:xfrm rot="0">
            <a:off x="7486833" y="1228430"/>
            <a:ext cx="9269016" cy="495148"/>
          </a:xfrm>
          <a:prstGeom prst="rect">
            <a:avLst/>
          </a:prstGeom>
        </p:spPr>
        <p:txBody>
          <a:bodyPr anchor="t" rtlCol="false" tIns="0" lIns="0" bIns="0" rIns="0">
            <a:spAutoFit/>
          </a:bodyPr>
          <a:lstStyle/>
          <a:p>
            <a:pPr algn="l">
              <a:lnSpc>
                <a:spcPts val="3625"/>
              </a:lnSpc>
            </a:pPr>
            <a:r>
              <a:rPr lang="en-US" sz="2937" b="true">
                <a:solidFill>
                  <a:srgbClr val="F0FCFF"/>
                </a:solidFill>
                <a:latin typeface="Arimo Bold"/>
                <a:ea typeface="Arimo Bold"/>
                <a:cs typeface="Arimo Bold"/>
                <a:sym typeface="Arimo Bold"/>
              </a:rPr>
              <a:t>Breaking Down the 20 Columns of Attack Information</a:t>
            </a:r>
          </a:p>
        </p:txBody>
      </p:sp>
      <p:grpSp>
        <p:nvGrpSpPr>
          <p:cNvPr name="Group 11" id="11"/>
          <p:cNvGrpSpPr/>
          <p:nvPr/>
        </p:nvGrpSpPr>
        <p:grpSpPr>
          <a:xfrm rot="0">
            <a:off x="266605" y="2244776"/>
            <a:ext cx="5277529" cy="1489370"/>
            <a:chOff x="0" y="0"/>
            <a:chExt cx="7036705" cy="1985827"/>
          </a:xfrm>
        </p:grpSpPr>
        <p:grpSp>
          <p:nvGrpSpPr>
            <p:cNvPr name="Group 12" id="12"/>
            <p:cNvGrpSpPr/>
            <p:nvPr/>
          </p:nvGrpSpPr>
          <p:grpSpPr>
            <a:xfrm rot="0">
              <a:off x="0" y="0"/>
              <a:ext cx="7036705" cy="1985827"/>
              <a:chOff x="0" y="0"/>
              <a:chExt cx="5262397" cy="1485100"/>
            </a:xfrm>
          </p:grpSpPr>
          <p:sp>
            <p:nvSpPr>
              <p:cNvPr name="Freeform 13" id="13"/>
              <p:cNvSpPr/>
              <p:nvPr/>
            </p:nvSpPr>
            <p:spPr>
              <a:xfrm flipH="false" flipV="false" rot="0">
                <a:off x="12700" y="12700"/>
                <a:ext cx="5236972" cy="1459611"/>
              </a:xfrm>
              <a:custGeom>
                <a:avLst/>
                <a:gdLst/>
                <a:ahLst/>
                <a:cxnLst/>
                <a:rect r="r" b="b" t="t" l="l"/>
                <a:pathLst>
                  <a:path h="1459611" w="5236972">
                    <a:moveTo>
                      <a:pt x="0" y="311150"/>
                    </a:moveTo>
                    <a:cubicBezTo>
                      <a:pt x="0" y="139319"/>
                      <a:pt x="141097" y="0"/>
                      <a:pt x="315087" y="0"/>
                    </a:cubicBezTo>
                    <a:lnTo>
                      <a:pt x="4921885" y="0"/>
                    </a:lnTo>
                    <a:cubicBezTo>
                      <a:pt x="5095875" y="0"/>
                      <a:pt x="5236972" y="139319"/>
                      <a:pt x="5236972" y="311150"/>
                    </a:cubicBezTo>
                    <a:lnTo>
                      <a:pt x="5236972" y="1148461"/>
                    </a:lnTo>
                    <a:cubicBezTo>
                      <a:pt x="5236972" y="1320292"/>
                      <a:pt x="5095875" y="1459611"/>
                      <a:pt x="4921885" y="1459611"/>
                    </a:cubicBezTo>
                    <a:lnTo>
                      <a:pt x="315087" y="1459611"/>
                    </a:lnTo>
                    <a:cubicBezTo>
                      <a:pt x="141097" y="1459738"/>
                      <a:pt x="0" y="1320419"/>
                      <a:pt x="0" y="1148461"/>
                    </a:cubicBezTo>
                    <a:close/>
                  </a:path>
                </a:pathLst>
              </a:custGeom>
              <a:solidFill>
                <a:srgbClr val="0A081B"/>
              </a:solidFill>
            </p:spPr>
          </p:sp>
          <p:sp>
            <p:nvSpPr>
              <p:cNvPr name="Freeform 14" id="14"/>
              <p:cNvSpPr/>
              <p:nvPr/>
            </p:nvSpPr>
            <p:spPr>
              <a:xfrm flipH="false" flipV="false" rot="0">
                <a:off x="0" y="0"/>
                <a:ext cx="5262372" cy="1485011"/>
              </a:xfrm>
              <a:custGeom>
                <a:avLst/>
                <a:gdLst/>
                <a:ahLst/>
                <a:cxnLst/>
                <a:rect r="r" b="b" t="t" l="l"/>
                <a:pathLst>
                  <a:path h="1485011" w="5262372">
                    <a:moveTo>
                      <a:pt x="0" y="323850"/>
                    </a:moveTo>
                    <a:cubicBezTo>
                      <a:pt x="0" y="144907"/>
                      <a:pt x="146939" y="0"/>
                      <a:pt x="327787" y="0"/>
                    </a:cubicBezTo>
                    <a:lnTo>
                      <a:pt x="4934585" y="0"/>
                    </a:lnTo>
                    <a:lnTo>
                      <a:pt x="4934585" y="12700"/>
                    </a:lnTo>
                    <a:lnTo>
                      <a:pt x="4934585" y="0"/>
                    </a:lnTo>
                    <a:cubicBezTo>
                      <a:pt x="5115433" y="0"/>
                      <a:pt x="5262372" y="144907"/>
                      <a:pt x="5262372" y="323850"/>
                    </a:cubicBezTo>
                    <a:lnTo>
                      <a:pt x="5249672" y="323850"/>
                    </a:lnTo>
                    <a:lnTo>
                      <a:pt x="5262372" y="323850"/>
                    </a:lnTo>
                    <a:lnTo>
                      <a:pt x="5262372" y="1161161"/>
                    </a:lnTo>
                    <a:lnTo>
                      <a:pt x="5249672" y="1161161"/>
                    </a:lnTo>
                    <a:lnTo>
                      <a:pt x="5262372" y="1161161"/>
                    </a:lnTo>
                    <a:cubicBezTo>
                      <a:pt x="5262372" y="1340231"/>
                      <a:pt x="5115433" y="1485011"/>
                      <a:pt x="4934585" y="1485011"/>
                    </a:cubicBezTo>
                    <a:lnTo>
                      <a:pt x="4934585" y="1472311"/>
                    </a:lnTo>
                    <a:lnTo>
                      <a:pt x="4934585" y="1485011"/>
                    </a:lnTo>
                    <a:lnTo>
                      <a:pt x="327787" y="1485011"/>
                    </a:lnTo>
                    <a:lnTo>
                      <a:pt x="327787" y="1472311"/>
                    </a:lnTo>
                    <a:lnTo>
                      <a:pt x="327787" y="1485011"/>
                    </a:lnTo>
                    <a:cubicBezTo>
                      <a:pt x="146939" y="1485138"/>
                      <a:pt x="0" y="1340231"/>
                      <a:pt x="0" y="1161161"/>
                    </a:cubicBezTo>
                    <a:lnTo>
                      <a:pt x="0" y="323850"/>
                    </a:lnTo>
                    <a:lnTo>
                      <a:pt x="12700" y="323850"/>
                    </a:lnTo>
                    <a:lnTo>
                      <a:pt x="0" y="323850"/>
                    </a:lnTo>
                    <a:moveTo>
                      <a:pt x="25400" y="323850"/>
                    </a:moveTo>
                    <a:lnTo>
                      <a:pt x="25400" y="1161161"/>
                    </a:lnTo>
                    <a:lnTo>
                      <a:pt x="12700" y="1161161"/>
                    </a:lnTo>
                    <a:lnTo>
                      <a:pt x="25400" y="1161161"/>
                    </a:lnTo>
                    <a:cubicBezTo>
                      <a:pt x="25400" y="1325880"/>
                      <a:pt x="160655" y="1459611"/>
                      <a:pt x="327787" y="1459611"/>
                    </a:cubicBezTo>
                    <a:lnTo>
                      <a:pt x="4934585" y="1459611"/>
                    </a:lnTo>
                    <a:cubicBezTo>
                      <a:pt x="5101717" y="1459611"/>
                      <a:pt x="5236972" y="1325753"/>
                      <a:pt x="5236972" y="1161161"/>
                    </a:cubicBezTo>
                    <a:lnTo>
                      <a:pt x="5236972" y="323850"/>
                    </a:lnTo>
                    <a:cubicBezTo>
                      <a:pt x="5236972" y="159131"/>
                      <a:pt x="5101717" y="25400"/>
                      <a:pt x="4934585" y="25400"/>
                    </a:cubicBezTo>
                    <a:lnTo>
                      <a:pt x="327787" y="25400"/>
                    </a:lnTo>
                    <a:lnTo>
                      <a:pt x="327787" y="12700"/>
                    </a:lnTo>
                    <a:lnTo>
                      <a:pt x="327787" y="25400"/>
                    </a:lnTo>
                    <a:cubicBezTo>
                      <a:pt x="160655" y="25400"/>
                      <a:pt x="25400" y="159258"/>
                      <a:pt x="25400" y="323850"/>
                    </a:cubicBezTo>
                    <a:close/>
                  </a:path>
                </a:pathLst>
              </a:custGeom>
              <a:solidFill>
                <a:srgbClr val="16FFBB"/>
              </a:solidFill>
            </p:spPr>
          </p:sp>
        </p:grpSp>
        <p:sp>
          <p:nvSpPr>
            <p:cNvPr name="TextBox 15" id="15"/>
            <p:cNvSpPr txBox="true"/>
            <p:nvPr/>
          </p:nvSpPr>
          <p:spPr>
            <a:xfrm rot="0">
              <a:off x="363110" y="1100143"/>
              <a:ext cx="6483844" cy="476802"/>
            </a:xfrm>
            <a:prstGeom prst="rect">
              <a:avLst/>
            </a:prstGeom>
          </p:spPr>
          <p:txBody>
            <a:bodyPr anchor="t" rtlCol="false" tIns="0" lIns="0" bIns="0" rIns="0">
              <a:spAutoFit/>
            </a:bodyPr>
            <a:lstStyle/>
            <a:p>
              <a:pPr algn="l">
                <a:lnSpc>
                  <a:spcPts val="2925"/>
                </a:lnSpc>
              </a:pPr>
              <a:r>
                <a:rPr lang="en-US" sz="2172" b="true">
                  <a:solidFill>
                    <a:srgbClr val="E0E4E6"/>
                  </a:solidFill>
                  <a:latin typeface="Barlow Bold"/>
                  <a:ea typeface="Barlow Bold"/>
                  <a:cs typeface="Barlow Bold"/>
                  <a:sym typeface="Barlow Bold"/>
                </a:rPr>
                <a:t>Year/Time:</a:t>
              </a:r>
              <a:r>
                <a:rPr lang="en-US" sz="2172">
                  <a:solidFill>
                    <a:srgbClr val="E0E4E6"/>
                  </a:solidFill>
                  <a:latin typeface="Barlow"/>
                  <a:ea typeface="Barlow"/>
                  <a:cs typeface="Barlow"/>
                  <a:sym typeface="Barlow"/>
                </a:rPr>
                <a:t> 117 years of data (1900–2017)</a:t>
              </a:r>
            </a:p>
          </p:txBody>
        </p:sp>
        <p:sp>
          <p:nvSpPr>
            <p:cNvPr name="TextBox 16" id="16"/>
            <p:cNvSpPr txBox="true"/>
            <p:nvPr/>
          </p:nvSpPr>
          <p:spPr>
            <a:xfrm rot="0">
              <a:off x="497635" y="471325"/>
              <a:ext cx="5983557" cy="504072"/>
            </a:xfrm>
            <a:prstGeom prst="rect">
              <a:avLst/>
            </a:prstGeom>
          </p:spPr>
          <p:txBody>
            <a:bodyPr anchor="t" rtlCol="false" tIns="0" lIns="0" bIns="0" rIns="0">
              <a:spAutoFit/>
            </a:bodyPr>
            <a:lstStyle/>
            <a:p>
              <a:pPr algn="l">
                <a:lnSpc>
                  <a:spcPts val="3008"/>
                </a:lnSpc>
              </a:pPr>
              <a:r>
                <a:rPr lang="en-US" sz="2423" b="true">
                  <a:solidFill>
                    <a:srgbClr val="E0E4E6"/>
                  </a:solidFill>
                  <a:latin typeface="Arimo Bold"/>
                  <a:ea typeface="Arimo Bold"/>
                  <a:cs typeface="Arimo Bold"/>
                  <a:sym typeface="Arimo Bold"/>
                </a:rPr>
                <a:t>Temporal &amp; Geographic</a:t>
              </a:r>
            </a:p>
          </p:txBody>
        </p:sp>
      </p:grpSp>
      <p:grpSp>
        <p:nvGrpSpPr>
          <p:cNvPr name="Group 17" id="17"/>
          <p:cNvGrpSpPr/>
          <p:nvPr/>
        </p:nvGrpSpPr>
        <p:grpSpPr>
          <a:xfrm rot="0">
            <a:off x="5857794" y="2237826"/>
            <a:ext cx="5613568" cy="1496320"/>
            <a:chOff x="0" y="0"/>
            <a:chExt cx="7484758" cy="1995094"/>
          </a:xfrm>
        </p:grpSpPr>
        <p:grpSp>
          <p:nvGrpSpPr>
            <p:cNvPr name="Group 18" id="18"/>
            <p:cNvGrpSpPr/>
            <p:nvPr/>
          </p:nvGrpSpPr>
          <p:grpSpPr>
            <a:xfrm rot="0">
              <a:off x="0" y="0"/>
              <a:ext cx="7484758" cy="1995094"/>
              <a:chOff x="0" y="0"/>
              <a:chExt cx="7484758" cy="1995094"/>
            </a:xfrm>
          </p:grpSpPr>
          <p:sp>
            <p:nvSpPr>
              <p:cNvPr name="Freeform 19" id="19"/>
              <p:cNvSpPr/>
              <p:nvPr/>
            </p:nvSpPr>
            <p:spPr>
              <a:xfrm flipH="false" flipV="false" rot="0">
                <a:off x="12700" y="12700"/>
                <a:ext cx="7447535" cy="1969770"/>
              </a:xfrm>
              <a:custGeom>
                <a:avLst/>
                <a:gdLst/>
                <a:ahLst/>
                <a:cxnLst/>
                <a:rect r="r" b="b" t="t" l="l"/>
                <a:pathLst>
                  <a:path h="1969770" w="7447535">
                    <a:moveTo>
                      <a:pt x="0" y="419989"/>
                    </a:moveTo>
                    <a:cubicBezTo>
                      <a:pt x="0" y="187960"/>
                      <a:pt x="189484" y="0"/>
                      <a:pt x="423291" y="0"/>
                    </a:cubicBezTo>
                    <a:lnTo>
                      <a:pt x="7024243" y="0"/>
                    </a:lnTo>
                    <a:cubicBezTo>
                      <a:pt x="7258050" y="0"/>
                      <a:pt x="7447535" y="187960"/>
                      <a:pt x="7447535" y="419989"/>
                    </a:cubicBezTo>
                    <a:lnTo>
                      <a:pt x="7447535" y="1549781"/>
                    </a:lnTo>
                    <a:cubicBezTo>
                      <a:pt x="7447535" y="1781683"/>
                      <a:pt x="7258050" y="1969770"/>
                      <a:pt x="7024243" y="1969770"/>
                    </a:cubicBezTo>
                    <a:lnTo>
                      <a:pt x="423291" y="1969770"/>
                    </a:lnTo>
                    <a:cubicBezTo>
                      <a:pt x="189484" y="1969643"/>
                      <a:pt x="0" y="1781683"/>
                      <a:pt x="0" y="1549781"/>
                    </a:cubicBezTo>
                    <a:close/>
                  </a:path>
                </a:pathLst>
              </a:custGeom>
              <a:solidFill>
                <a:srgbClr val="0A081B"/>
              </a:solidFill>
            </p:spPr>
          </p:sp>
          <p:sp>
            <p:nvSpPr>
              <p:cNvPr name="Freeform 20" id="20"/>
              <p:cNvSpPr/>
              <p:nvPr/>
            </p:nvSpPr>
            <p:spPr>
              <a:xfrm flipH="false" flipV="false" rot="0">
                <a:off x="0" y="0"/>
                <a:ext cx="7472935" cy="1995170"/>
              </a:xfrm>
              <a:custGeom>
                <a:avLst/>
                <a:gdLst/>
                <a:ahLst/>
                <a:cxnLst/>
                <a:rect r="r" b="b" t="t" l="l"/>
                <a:pathLst>
                  <a:path h="1995170" w="7472935">
                    <a:moveTo>
                      <a:pt x="0" y="432689"/>
                    </a:moveTo>
                    <a:cubicBezTo>
                      <a:pt x="0" y="193548"/>
                      <a:pt x="195326" y="0"/>
                      <a:pt x="435991" y="0"/>
                    </a:cubicBezTo>
                    <a:lnTo>
                      <a:pt x="7036943" y="0"/>
                    </a:lnTo>
                    <a:lnTo>
                      <a:pt x="7036943" y="12700"/>
                    </a:lnTo>
                    <a:lnTo>
                      <a:pt x="7036943" y="0"/>
                    </a:lnTo>
                    <a:cubicBezTo>
                      <a:pt x="7277608" y="0"/>
                      <a:pt x="7472935" y="193548"/>
                      <a:pt x="7472935" y="432689"/>
                    </a:cubicBezTo>
                    <a:lnTo>
                      <a:pt x="7460235" y="432689"/>
                    </a:lnTo>
                    <a:lnTo>
                      <a:pt x="7472935" y="432689"/>
                    </a:lnTo>
                    <a:lnTo>
                      <a:pt x="7472935" y="1562481"/>
                    </a:lnTo>
                    <a:lnTo>
                      <a:pt x="7460235" y="1562481"/>
                    </a:lnTo>
                    <a:lnTo>
                      <a:pt x="7472935" y="1562481"/>
                    </a:lnTo>
                    <a:cubicBezTo>
                      <a:pt x="7472935" y="1801495"/>
                      <a:pt x="7277608" y="1995170"/>
                      <a:pt x="7036943" y="1995170"/>
                    </a:cubicBezTo>
                    <a:lnTo>
                      <a:pt x="7036943" y="1982470"/>
                    </a:lnTo>
                    <a:lnTo>
                      <a:pt x="7036943" y="1995170"/>
                    </a:lnTo>
                    <a:lnTo>
                      <a:pt x="435991" y="1995170"/>
                    </a:lnTo>
                    <a:lnTo>
                      <a:pt x="435991" y="1982470"/>
                    </a:lnTo>
                    <a:lnTo>
                      <a:pt x="435991" y="1995170"/>
                    </a:lnTo>
                    <a:cubicBezTo>
                      <a:pt x="195326" y="1995043"/>
                      <a:pt x="0" y="1801495"/>
                      <a:pt x="0" y="1562481"/>
                    </a:cubicBezTo>
                    <a:lnTo>
                      <a:pt x="0" y="432689"/>
                    </a:lnTo>
                    <a:lnTo>
                      <a:pt x="12700" y="432689"/>
                    </a:lnTo>
                    <a:lnTo>
                      <a:pt x="0" y="432689"/>
                    </a:lnTo>
                    <a:moveTo>
                      <a:pt x="25400" y="432689"/>
                    </a:moveTo>
                    <a:lnTo>
                      <a:pt x="25400" y="1562481"/>
                    </a:lnTo>
                    <a:lnTo>
                      <a:pt x="12700" y="1562481"/>
                    </a:lnTo>
                    <a:lnTo>
                      <a:pt x="25400" y="1562481"/>
                    </a:lnTo>
                    <a:cubicBezTo>
                      <a:pt x="25400" y="1787271"/>
                      <a:pt x="209169" y="1969770"/>
                      <a:pt x="435991" y="1969770"/>
                    </a:cubicBezTo>
                    <a:lnTo>
                      <a:pt x="7036943" y="1969770"/>
                    </a:lnTo>
                    <a:cubicBezTo>
                      <a:pt x="7263765" y="1969770"/>
                      <a:pt x="7447535" y="1787398"/>
                      <a:pt x="7447535" y="1562481"/>
                    </a:cubicBezTo>
                    <a:lnTo>
                      <a:pt x="7447535" y="432689"/>
                    </a:lnTo>
                    <a:cubicBezTo>
                      <a:pt x="7447534" y="207772"/>
                      <a:pt x="7263765" y="25400"/>
                      <a:pt x="7036943" y="25400"/>
                    </a:cubicBezTo>
                    <a:lnTo>
                      <a:pt x="435991" y="25400"/>
                    </a:lnTo>
                    <a:lnTo>
                      <a:pt x="435991" y="12700"/>
                    </a:lnTo>
                    <a:lnTo>
                      <a:pt x="435991" y="25400"/>
                    </a:lnTo>
                    <a:cubicBezTo>
                      <a:pt x="209169" y="25400"/>
                      <a:pt x="25400" y="207772"/>
                      <a:pt x="25400" y="432689"/>
                    </a:cubicBezTo>
                    <a:close/>
                  </a:path>
                </a:pathLst>
              </a:custGeom>
              <a:solidFill>
                <a:srgbClr val="29DDDA"/>
              </a:solidFill>
            </p:spPr>
          </p:sp>
        </p:grpSp>
        <p:sp>
          <p:nvSpPr>
            <p:cNvPr name="TextBox 21" id="21"/>
            <p:cNvSpPr txBox="true"/>
            <p:nvPr/>
          </p:nvSpPr>
          <p:spPr>
            <a:xfrm rot="0">
              <a:off x="1445743" y="289319"/>
              <a:ext cx="4652823" cy="417513"/>
            </a:xfrm>
            <a:prstGeom prst="rect">
              <a:avLst/>
            </a:prstGeom>
          </p:spPr>
          <p:txBody>
            <a:bodyPr anchor="t" rtlCol="false" tIns="0" lIns="0" bIns="0" rIns="0">
              <a:spAutoFit/>
            </a:bodyPr>
            <a:lstStyle/>
            <a:p>
              <a:pPr algn="ctr">
                <a:lnSpc>
                  <a:spcPts val="2249"/>
                </a:lnSpc>
              </a:pPr>
              <a:r>
                <a:rPr lang="en-US" sz="1812" b="true">
                  <a:solidFill>
                    <a:srgbClr val="E0E4E6"/>
                  </a:solidFill>
                  <a:latin typeface="Arimo Bold"/>
                  <a:ea typeface="Arimo Bold"/>
                  <a:cs typeface="Arimo Bold"/>
                  <a:sym typeface="Arimo Bold"/>
                </a:rPr>
                <a:t>Victim Demographics</a:t>
              </a:r>
            </a:p>
          </p:txBody>
        </p:sp>
        <p:sp>
          <p:nvSpPr>
            <p:cNvPr name="TextBox 22" id="22"/>
            <p:cNvSpPr txBox="true"/>
            <p:nvPr/>
          </p:nvSpPr>
          <p:spPr>
            <a:xfrm rot="0">
              <a:off x="466674" y="874509"/>
              <a:ext cx="6610947" cy="317500"/>
            </a:xfrm>
            <a:prstGeom prst="rect">
              <a:avLst/>
            </a:prstGeom>
          </p:spPr>
          <p:txBody>
            <a:bodyPr anchor="t" rtlCol="false" tIns="0" lIns="0" bIns="0" rIns="0">
              <a:spAutoFit/>
            </a:bodyPr>
            <a:lstStyle/>
            <a:p>
              <a:pPr algn="ctr">
                <a:lnSpc>
                  <a:spcPts val="2187"/>
                </a:lnSpc>
              </a:pPr>
              <a:r>
                <a:rPr lang="en-US" sz="1625" b="true">
                  <a:solidFill>
                    <a:srgbClr val="E0E4E6"/>
                  </a:solidFill>
                  <a:latin typeface="Barlow Bold"/>
                  <a:ea typeface="Barlow Bold"/>
                  <a:cs typeface="Barlow Bold"/>
                  <a:sym typeface="Barlow Bold"/>
                </a:rPr>
                <a:t>Sex:</a:t>
              </a:r>
              <a:r>
                <a:rPr lang="en-US" sz="1625">
                  <a:solidFill>
                    <a:srgbClr val="E0E4E6"/>
                  </a:solidFill>
                  <a:latin typeface="Barlow"/>
                  <a:ea typeface="Barlow"/>
                  <a:cs typeface="Barlow"/>
                  <a:sym typeface="Barlow"/>
                </a:rPr>
                <a:t> Standardized (M / F / Uk)</a:t>
              </a:r>
            </a:p>
          </p:txBody>
        </p:sp>
        <p:sp>
          <p:nvSpPr>
            <p:cNvPr name="TextBox 23" id="23"/>
            <p:cNvSpPr txBox="true"/>
            <p:nvPr/>
          </p:nvSpPr>
          <p:spPr>
            <a:xfrm rot="0">
              <a:off x="466674" y="1359687"/>
              <a:ext cx="6610947" cy="317500"/>
            </a:xfrm>
            <a:prstGeom prst="rect">
              <a:avLst/>
            </a:prstGeom>
          </p:spPr>
          <p:txBody>
            <a:bodyPr anchor="t" rtlCol="false" tIns="0" lIns="0" bIns="0" rIns="0">
              <a:spAutoFit/>
            </a:bodyPr>
            <a:lstStyle/>
            <a:p>
              <a:pPr algn="ctr">
                <a:lnSpc>
                  <a:spcPts val="2187"/>
                </a:lnSpc>
              </a:pPr>
              <a:r>
                <a:rPr lang="en-US" sz="1625" b="true">
                  <a:solidFill>
                    <a:srgbClr val="E0E4E6"/>
                  </a:solidFill>
                  <a:latin typeface="Barlow Bold"/>
                  <a:ea typeface="Barlow Bold"/>
                  <a:cs typeface="Barlow Bold"/>
                  <a:sym typeface="Barlow Bold"/>
                </a:rPr>
                <a:t>Age:</a:t>
              </a:r>
              <a:r>
                <a:rPr lang="en-US" sz="1625">
                  <a:solidFill>
                    <a:srgbClr val="E0E4E6"/>
                  </a:solidFill>
                  <a:latin typeface="Barlow"/>
                  <a:ea typeface="Barlow"/>
                  <a:cs typeface="Barlow"/>
                  <a:sym typeface="Barlow"/>
                </a:rPr>
                <a:t> Numeric values and Age Groups </a:t>
              </a:r>
            </a:p>
          </p:txBody>
        </p:sp>
      </p:grpSp>
      <p:grpSp>
        <p:nvGrpSpPr>
          <p:cNvPr name="Group 24" id="24"/>
          <p:cNvGrpSpPr/>
          <p:nvPr/>
        </p:nvGrpSpPr>
        <p:grpSpPr>
          <a:xfrm rot="0">
            <a:off x="11637822" y="2276027"/>
            <a:ext cx="6499735" cy="1496320"/>
            <a:chOff x="0" y="0"/>
            <a:chExt cx="8666313" cy="1995094"/>
          </a:xfrm>
        </p:grpSpPr>
        <p:sp>
          <p:nvSpPr>
            <p:cNvPr name="Freeform 25" id="25"/>
            <p:cNvSpPr/>
            <p:nvPr/>
          </p:nvSpPr>
          <p:spPr>
            <a:xfrm flipH="false" flipV="false" rot="0">
              <a:off x="14705" y="12700"/>
              <a:ext cx="8623214" cy="1969770"/>
            </a:xfrm>
            <a:custGeom>
              <a:avLst/>
              <a:gdLst/>
              <a:ahLst/>
              <a:cxnLst/>
              <a:rect r="r" b="b" t="t" l="l"/>
              <a:pathLst>
                <a:path h="1969770" w="8623214">
                  <a:moveTo>
                    <a:pt x="0" y="419989"/>
                  </a:moveTo>
                  <a:cubicBezTo>
                    <a:pt x="0" y="187960"/>
                    <a:pt x="219396" y="0"/>
                    <a:pt x="490112" y="0"/>
                  </a:cubicBezTo>
                  <a:lnTo>
                    <a:pt x="8133102" y="0"/>
                  </a:lnTo>
                  <a:cubicBezTo>
                    <a:pt x="8403817" y="0"/>
                    <a:pt x="8623213" y="187960"/>
                    <a:pt x="8623213" y="419989"/>
                  </a:cubicBezTo>
                  <a:lnTo>
                    <a:pt x="8623213" y="1549781"/>
                  </a:lnTo>
                  <a:cubicBezTo>
                    <a:pt x="8623213" y="1781683"/>
                    <a:pt x="8403817" y="1969770"/>
                    <a:pt x="8133102" y="1969770"/>
                  </a:cubicBezTo>
                  <a:lnTo>
                    <a:pt x="490112" y="1969770"/>
                  </a:lnTo>
                  <a:cubicBezTo>
                    <a:pt x="219396" y="1969643"/>
                    <a:pt x="0" y="1781683"/>
                    <a:pt x="0" y="1549781"/>
                  </a:cubicBezTo>
                  <a:close/>
                </a:path>
              </a:pathLst>
            </a:custGeom>
            <a:solidFill>
              <a:srgbClr val="0A081B"/>
            </a:solidFill>
          </p:spPr>
        </p:sp>
        <p:sp>
          <p:nvSpPr>
            <p:cNvPr name="Freeform 26" id="26"/>
            <p:cNvSpPr/>
            <p:nvPr/>
          </p:nvSpPr>
          <p:spPr>
            <a:xfrm flipH="false" flipV="false" rot="0">
              <a:off x="0" y="0"/>
              <a:ext cx="8652624" cy="1995170"/>
            </a:xfrm>
            <a:custGeom>
              <a:avLst/>
              <a:gdLst/>
              <a:ahLst/>
              <a:cxnLst/>
              <a:rect r="r" b="b" t="t" l="l"/>
              <a:pathLst>
                <a:path h="1995170" w="8652624">
                  <a:moveTo>
                    <a:pt x="0" y="432689"/>
                  </a:moveTo>
                  <a:cubicBezTo>
                    <a:pt x="0" y="193548"/>
                    <a:pt x="226160" y="0"/>
                    <a:pt x="504817" y="0"/>
                  </a:cubicBezTo>
                  <a:lnTo>
                    <a:pt x="8147807" y="0"/>
                  </a:lnTo>
                  <a:lnTo>
                    <a:pt x="8147807" y="12700"/>
                  </a:lnTo>
                  <a:lnTo>
                    <a:pt x="8147807" y="0"/>
                  </a:lnTo>
                  <a:cubicBezTo>
                    <a:pt x="8426463" y="0"/>
                    <a:pt x="8652624" y="193548"/>
                    <a:pt x="8652624" y="432689"/>
                  </a:cubicBezTo>
                  <a:lnTo>
                    <a:pt x="8637918" y="432689"/>
                  </a:lnTo>
                  <a:lnTo>
                    <a:pt x="8652624" y="432689"/>
                  </a:lnTo>
                  <a:lnTo>
                    <a:pt x="8652624" y="1562481"/>
                  </a:lnTo>
                  <a:lnTo>
                    <a:pt x="8637918" y="1562481"/>
                  </a:lnTo>
                  <a:lnTo>
                    <a:pt x="8652624" y="1562481"/>
                  </a:lnTo>
                  <a:cubicBezTo>
                    <a:pt x="8652624" y="1801495"/>
                    <a:pt x="8426463" y="1995170"/>
                    <a:pt x="8147807" y="1995170"/>
                  </a:cubicBezTo>
                  <a:lnTo>
                    <a:pt x="8147807" y="1982470"/>
                  </a:lnTo>
                  <a:lnTo>
                    <a:pt x="8147807" y="1995170"/>
                  </a:lnTo>
                  <a:lnTo>
                    <a:pt x="504817" y="1995170"/>
                  </a:lnTo>
                  <a:lnTo>
                    <a:pt x="504817" y="1982470"/>
                  </a:lnTo>
                  <a:lnTo>
                    <a:pt x="504817" y="1995170"/>
                  </a:lnTo>
                  <a:cubicBezTo>
                    <a:pt x="226160" y="1995043"/>
                    <a:pt x="0" y="1801495"/>
                    <a:pt x="0" y="1562481"/>
                  </a:cubicBezTo>
                  <a:lnTo>
                    <a:pt x="0" y="432689"/>
                  </a:lnTo>
                  <a:lnTo>
                    <a:pt x="14705" y="432689"/>
                  </a:lnTo>
                  <a:lnTo>
                    <a:pt x="0" y="432689"/>
                  </a:lnTo>
                  <a:moveTo>
                    <a:pt x="29410" y="432689"/>
                  </a:moveTo>
                  <a:lnTo>
                    <a:pt x="29410" y="1562481"/>
                  </a:lnTo>
                  <a:lnTo>
                    <a:pt x="14705" y="1562481"/>
                  </a:lnTo>
                  <a:lnTo>
                    <a:pt x="29410" y="1562481"/>
                  </a:lnTo>
                  <a:cubicBezTo>
                    <a:pt x="29410" y="1787271"/>
                    <a:pt x="242189" y="1969770"/>
                    <a:pt x="504817" y="1969770"/>
                  </a:cubicBezTo>
                  <a:lnTo>
                    <a:pt x="8147807" y="1969770"/>
                  </a:lnTo>
                  <a:cubicBezTo>
                    <a:pt x="8410435" y="1969770"/>
                    <a:pt x="8623214" y="1787398"/>
                    <a:pt x="8623214" y="1562481"/>
                  </a:cubicBezTo>
                  <a:lnTo>
                    <a:pt x="8623214" y="432689"/>
                  </a:lnTo>
                  <a:cubicBezTo>
                    <a:pt x="8623213" y="207772"/>
                    <a:pt x="8410435" y="25400"/>
                    <a:pt x="8147807" y="25400"/>
                  </a:cubicBezTo>
                  <a:lnTo>
                    <a:pt x="504817" y="25400"/>
                  </a:lnTo>
                  <a:lnTo>
                    <a:pt x="504817" y="12700"/>
                  </a:lnTo>
                  <a:lnTo>
                    <a:pt x="504817" y="25400"/>
                  </a:lnTo>
                  <a:cubicBezTo>
                    <a:pt x="242189" y="25400"/>
                    <a:pt x="29410" y="207772"/>
                    <a:pt x="29410" y="432689"/>
                  </a:cubicBezTo>
                  <a:close/>
                </a:path>
              </a:pathLst>
            </a:custGeom>
            <a:solidFill>
              <a:srgbClr val="29DDDA"/>
            </a:solidFill>
          </p:spPr>
        </p:sp>
      </p:grpSp>
      <p:grpSp>
        <p:nvGrpSpPr>
          <p:cNvPr name="Group 27" id="27"/>
          <p:cNvGrpSpPr/>
          <p:nvPr/>
        </p:nvGrpSpPr>
        <p:grpSpPr>
          <a:xfrm rot="0">
            <a:off x="9770007" y="3919718"/>
            <a:ext cx="8367550" cy="2009765"/>
            <a:chOff x="0" y="0"/>
            <a:chExt cx="11156733" cy="2679687"/>
          </a:xfrm>
        </p:grpSpPr>
        <p:grpSp>
          <p:nvGrpSpPr>
            <p:cNvPr name="Group 28" id="28"/>
            <p:cNvGrpSpPr/>
            <p:nvPr/>
          </p:nvGrpSpPr>
          <p:grpSpPr>
            <a:xfrm rot="0">
              <a:off x="0" y="0"/>
              <a:ext cx="11156733" cy="2679687"/>
              <a:chOff x="0" y="0"/>
              <a:chExt cx="11156733" cy="2679687"/>
            </a:xfrm>
          </p:grpSpPr>
          <p:sp>
            <p:nvSpPr>
              <p:cNvPr name="Freeform 29" id="29"/>
              <p:cNvSpPr/>
              <p:nvPr/>
            </p:nvSpPr>
            <p:spPr>
              <a:xfrm flipH="false" flipV="false" rot="0">
                <a:off x="11366" y="13721"/>
                <a:ext cx="11133977" cy="2652286"/>
              </a:xfrm>
              <a:custGeom>
                <a:avLst/>
                <a:gdLst/>
                <a:ahLst/>
                <a:cxnLst/>
                <a:rect r="r" b="b" t="t" l="l"/>
                <a:pathLst>
                  <a:path h="2652286" w="11133977">
                    <a:moveTo>
                      <a:pt x="0" y="453756"/>
                    </a:moveTo>
                    <a:cubicBezTo>
                      <a:pt x="0" y="203072"/>
                      <a:pt x="169699" y="0"/>
                      <a:pt x="378953" y="0"/>
                    </a:cubicBezTo>
                    <a:lnTo>
                      <a:pt x="10755025" y="0"/>
                    </a:lnTo>
                    <a:cubicBezTo>
                      <a:pt x="10964279" y="0"/>
                      <a:pt x="11133978" y="203072"/>
                      <a:pt x="11133978" y="453756"/>
                    </a:cubicBezTo>
                    <a:lnTo>
                      <a:pt x="11133978" y="2198530"/>
                    </a:lnTo>
                    <a:cubicBezTo>
                      <a:pt x="11133978" y="2449077"/>
                      <a:pt x="10964279" y="2652286"/>
                      <a:pt x="10755025" y="2652286"/>
                    </a:cubicBezTo>
                    <a:lnTo>
                      <a:pt x="378953" y="2652286"/>
                    </a:lnTo>
                    <a:cubicBezTo>
                      <a:pt x="169699" y="2652286"/>
                      <a:pt x="0" y="2449077"/>
                      <a:pt x="0" y="2198530"/>
                    </a:cubicBezTo>
                    <a:close/>
                  </a:path>
                </a:pathLst>
              </a:custGeom>
              <a:solidFill>
                <a:srgbClr val="0A081B"/>
              </a:solidFill>
            </p:spPr>
          </p:sp>
          <p:sp>
            <p:nvSpPr>
              <p:cNvPr name="Freeform 30" id="30"/>
              <p:cNvSpPr/>
              <p:nvPr/>
            </p:nvSpPr>
            <p:spPr>
              <a:xfrm flipH="false" flipV="false" rot="0">
                <a:off x="0" y="0"/>
                <a:ext cx="11156710" cy="2679725"/>
              </a:xfrm>
              <a:custGeom>
                <a:avLst/>
                <a:gdLst/>
                <a:ahLst/>
                <a:cxnLst/>
                <a:rect r="r" b="b" t="t" l="l"/>
                <a:pathLst>
                  <a:path h="2679725" w="11156710">
                    <a:moveTo>
                      <a:pt x="0" y="467477"/>
                    </a:moveTo>
                    <a:cubicBezTo>
                      <a:pt x="0" y="209109"/>
                      <a:pt x="174814" y="0"/>
                      <a:pt x="390319" y="0"/>
                    </a:cubicBezTo>
                    <a:lnTo>
                      <a:pt x="10766391" y="0"/>
                    </a:lnTo>
                    <a:lnTo>
                      <a:pt x="10766391" y="13721"/>
                    </a:lnTo>
                    <a:lnTo>
                      <a:pt x="10766391" y="0"/>
                    </a:lnTo>
                    <a:cubicBezTo>
                      <a:pt x="10981896" y="0"/>
                      <a:pt x="11156710" y="209109"/>
                      <a:pt x="11156710" y="467477"/>
                    </a:cubicBezTo>
                    <a:lnTo>
                      <a:pt x="11145344" y="467477"/>
                    </a:lnTo>
                    <a:lnTo>
                      <a:pt x="11156710" y="467477"/>
                    </a:lnTo>
                    <a:lnTo>
                      <a:pt x="11156710" y="2212251"/>
                    </a:lnTo>
                    <a:lnTo>
                      <a:pt x="11145344" y="2212251"/>
                    </a:lnTo>
                    <a:lnTo>
                      <a:pt x="11156710" y="2212251"/>
                    </a:lnTo>
                    <a:cubicBezTo>
                      <a:pt x="11156710" y="2470482"/>
                      <a:pt x="10981896" y="2679725"/>
                      <a:pt x="10766391" y="2679725"/>
                    </a:cubicBezTo>
                    <a:lnTo>
                      <a:pt x="10766391" y="2666007"/>
                    </a:lnTo>
                    <a:lnTo>
                      <a:pt x="10766391" y="2679725"/>
                    </a:lnTo>
                    <a:lnTo>
                      <a:pt x="390319" y="2679725"/>
                    </a:lnTo>
                    <a:lnTo>
                      <a:pt x="390319" y="2666007"/>
                    </a:lnTo>
                    <a:lnTo>
                      <a:pt x="390319" y="2679725"/>
                    </a:lnTo>
                    <a:cubicBezTo>
                      <a:pt x="174814" y="2679725"/>
                      <a:pt x="0" y="2470482"/>
                      <a:pt x="0" y="2212251"/>
                    </a:cubicBezTo>
                    <a:lnTo>
                      <a:pt x="0" y="467477"/>
                    </a:lnTo>
                    <a:lnTo>
                      <a:pt x="11366" y="467477"/>
                    </a:lnTo>
                    <a:lnTo>
                      <a:pt x="0" y="467477"/>
                    </a:lnTo>
                    <a:moveTo>
                      <a:pt x="22733" y="467477"/>
                    </a:moveTo>
                    <a:lnTo>
                      <a:pt x="22733" y="2212251"/>
                    </a:lnTo>
                    <a:lnTo>
                      <a:pt x="11366" y="2212251"/>
                    </a:lnTo>
                    <a:lnTo>
                      <a:pt x="22733" y="2212251"/>
                    </a:lnTo>
                    <a:cubicBezTo>
                      <a:pt x="22733" y="2455114"/>
                      <a:pt x="187203" y="2652286"/>
                      <a:pt x="390319" y="2652286"/>
                    </a:cubicBezTo>
                    <a:lnTo>
                      <a:pt x="10766391" y="2652286"/>
                    </a:lnTo>
                    <a:cubicBezTo>
                      <a:pt x="10969507" y="2652286"/>
                      <a:pt x="11133978" y="2455251"/>
                      <a:pt x="11133978" y="2212251"/>
                    </a:cubicBezTo>
                    <a:lnTo>
                      <a:pt x="11133978" y="467477"/>
                    </a:lnTo>
                    <a:cubicBezTo>
                      <a:pt x="11133978" y="224477"/>
                      <a:pt x="10969508" y="27442"/>
                      <a:pt x="10766391" y="27442"/>
                    </a:cubicBezTo>
                    <a:lnTo>
                      <a:pt x="390319" y="27442"/>
                    </a:lnTo>
                    <a:lnTo>
                      <a:pt x="390319" y="13721"/>
                    </a:lnTo>
                    <a:lnTo>
                      <a:pt x="390319" y="27442"/>
                    </a:lnTo>
                    <a:cubicBezTo>
                      <a:pt x="187203" y="27442"/>
                      <a:pt x="22733" y="224477"/>
                      <a:pt x="22733" y="467477"/>
                    </a:cubicBezTo>
                    <a:close/>
                  </a:path>
                </a:pathLst>
              </a:custGeom>
              <a:solidFill>
                <a:srgbClr val="37A7E7"/>
              </a:solidFill>
            </p:spPr>
          </p:sp>
        </p:grpSp>
        <p:sp>
          <p:nvSpPr>
            <p:cNvPr name="TextBox 31" id="31"/>
            <p:cNvSpPr txBox="true"/>
            <p:nvPr/>
          </p:nvSpPr>
          <p:spPr>
            <a:xfrm rot="0">
              <a:off x="3996677" y="274587"/>
              <a:ext cx="4193874" cy="384175"/>
            </a:xfrm>
            <a:prstGeom prst="rect">
              <a:avLst/>
            </a:prstGeom>
          </p:spPr>
          <p:txBody>
            <a:bodyPr anchor="t" rtlCol="false" tIns="0" lIns="0" bIns="0" rIns="0">
              <a:spAutoFit/>
            </a:bodyPr>
            <a:lstStyle/>
            <a:p>
              <a:pPr algn="ctr">
                <a:lnSpc>
                  <a:spcPts val="2249"/>
                </a:lnSpc>
              </a:pPr>
              <a:r>
                <a:rPr lang="en-US" sz="1812" b="true">
                  <a:solidFill>
                    <a:srgbClr val="E0E4E6"/>
                  </a:solidFill>
                  <a:latin typeface="Arimo Bold"/>
                  <a:ea typeface="Arimo Bold"/>
                  <a:cs typeface="Arimo Bold"/>
                  <a:sym typeface="Arimo Bold"/>
                </a:rPr>
                <a:t>Incident Characteristics</a:t>
              </a:r>
            </a:p>
          </p:txBody>
        </p:sp>
        <p:sp>
          <p:nvSpPr>
            <p:cNvPr name="TextBox 32" id="32"/>
            <p:cNvSpPr txBox="true"/>
            <p:nvPr/>
          </p:nvSpPr>
          <p:spPr>
            <a:xfrm rot="0">
              <a:off x="284510" y="1134669"/>
              <a:ext cx="10587713" cy="347133"/>
            </a:xfrm>
            <a:prstGeom prst="rect">
              <a:avLst/>
            </a:prstGeom>
          </p:spPr>
          <p:txBody>
            <a:bodyPr anchor="t" rtlCol="false" tIns="0" lIns="0" bIns="0" rIns="0">
              <a:spAutoFit/>
            </a:bodyPr>
            <a:lstStyle/>
            <a:p>
              <a:pPr algn="ctr">
                <a:lnSpc>
                  <a:spcPts val="2187"/>
                </a:lnSpc>
              </a:pPr>
              <a:r>
                <a:rPr lang="en-US" sz="1625" b="true">
                  <a:solidFill>
                    <a:srgbClr val="E0E4E6"/>
                  </a:solidFill>
                  <a:latin typeface="Barlow Bold"/>
                  <a:ea typeface="Barlow Bold"/>
                  <a:cs typeface="Barlow Bold"/>
                  <a:sym typeface="Barlow Bold"/>
                </a:rPr>
                <a:t>Type:</a:t>
              </a:r>
              <a:r>
                <a:rPr lang="en-US" sz="1625">
                  <a:solidFill>
                    <a:srgbClr val="E0E4E6"/>
                  </a:solidFill>
                  <a:latin typeface="Barlow"/>
                  <a:ea typeface="Barlow"/>
                  <a:cs typeface="Barlow"/>
                  <a:sym typeface="Barlow"/>
                </a:rPr>
                <a:t> Unprovoked vs. Provoked incidents</a:t>
              </a:r>
            </a:p>
          </p:txBody>
        </p:sp>
        <p:sp>
          <p:nvSpPr>
            <p:cNvPr name="TextBox 33" id="33"/>
            <p:cNvSpPr txBox="true"/>
            <p:nvPr/>
          </p:nvSpPr>
          <p:spPr>
            <a:xfrm rot="0">
              <a:off x="284510" y="1574665"/>
              <a:ext cx="10587713" cy="347133"/>
            </a:xfrm>
            <a:prstGeom prst="rect">
              <a:avLst/>
            </a:prstGeom>
          </p:spPr>
          <p:txBody>
            <a:bodyPr anchor="t" rtlCol="false" tIns="0" lIns="0" bIns="0" rIns="0">
              <a:spAutoFit/>
            </a:bodyPr>
            <a:lstStyle/>
            <a:p>
              <a:pPr algn="ctr">
                <a:lnSpc>
                  <a:spcPts val="2187"/>
                </a:lnSpc>
              </a:pPr>
              <a:r>
                <a:rPr lang="en-US" sz="1625" b="true">
                  <a:solidFill>
                    <a:srgbClr val="E0E4E6"/>
                  </a:solidFill>
                  <a:latin typeface="Barlow Bold"/>
                  <a:ea typeface="Barlow Bold"/>
                  <a:cs typeface="Barlow Bold"/>
                  <a:sym typeface="Barlow Bold"/>
                </a:rPr>
                <a:t>Activity:</a:t>
              </a:r>
              <a:r>
                <a:rPr lang="en-US" sz="1625">
                  <a:solidFill>
                    <a:srgbClr val="E0E4E6"/>
                  </a:solidFill>
                  <a:latin typeface="Barlow"/>
                  <a:ea typeface="Barlow"/>
                  <a:cs typeface="Barlow"/>
                  <a:sym typeface="Barlow"/>
                </a:rPr>
                <a:t> Categorized (Surfing, Swimming, Diving, etc.)</a:t>
              </a:r>
            </a:p>
          </p:txBody>
        </p:sp>
        <p:sp>
          <p:nvSpPr>
            <p:cNvPr name="TextBox 34" id="34"/>
            <p:cNvSpPr txBox="true"/>
            <p:nvPr/>
          </p:nvSpPr>
          <p:spPr>
            <a:xfrm rot="0">
              <a:off x="284510" y="2014660"/>
              <a:ext cx="10587713" cy="347133"/>
            </a:xfrm>
            <a:prstGeom prst="rect">
              <a:avLst/>
            </a:prstGeom>
          </p:spPr>
          <p:txBody>
            <a:bodyPr anchor="t" rtlCol="false" tIns="0" lIns="0" bIns="0" rIns="0">
              <a:spAutoFit/>
            </a:bodyPr>
            <a:lstStyle/>
            <a:p>
              <a:pPr algn="ctr">
                <a:lnSpc>
                  <a:spcPts val="2187"/>
                </a:lnSpc>
              </a:pPr>
              <a:r>
                <a:rPr lang="en-US" sz="1625" b="true">
                  <a:solidFill>
                    <a:srgbClr val="E0E4E6"/>
                  </a:solidFill>
                  <a:latin typeface="Barlow Bold"/>
                  <a:ea typeface="Barlow Bold"/>
                  <a:cs typeface="Barlow Bold"/>
                  <a:sym typeface="Barlow Bold"/>
                </a:rPr>
                <a:t>Injury:</a:t>
              </a:r>
              <a:r>
                <a:rPr lang="en-US" sz="1625">
                  <a:solidFill>
                    <a:srgbClr val="E0E4E6"/>
                  </a:solidFill>
                  <a:latin typeface="Barlow"/>
                  <a:ea typeface="Barlow"/>
                  <a:cs typeface="Barlow"/>
                  <a:sym typeface="Barlow"/>
                </a:rPr>
                <a:t> Qualitative description of the encounter</a:t>
              </a:r>
            </a:p>
          </p:txBody>
        </p:sp>
      </p:grpSp>
      <p:grpSp>
        <p:nvGrpSpPr>
          <p:cNvPr name="Group 35" id="35"/>
          <p:cNvGrpSpPr/>
          <p:nvPr/>
        </p:nvGrpSpPr>
        <p:grpSpPr>
          <a:xfrm rot="0">
            <a:off x="225750" y="4176441"/>
            <a:ext cx="9349378" cy="1496320"/>
            <a:chOff x="0" y="0"/>
            <a:chExt cx="12465837" cy="1995094"/>
          </a:xfrm>
        </p:grpSpPr>
        <p:grpSp>
          <p:nvGrpSpPr>
            <p:cNvPr name="Group 36" id="36"/>
            <p:cNvGrpSpPr/>
            <p:nvPr/>
          </p:nvGrpSpPr>
          <p:grpSpPr>
            <a:xfrm rot="0">
              <a:off x="0" y="0"/>
              <a:ext cx="12465837" cy="1995094"/>
              <a:chOff x="0" y="0"/>
              <a:chExt cx="12465837" cy="1995094"/>
            </a:xfrm>
          </p:grpSpPr>
          <p:sp>
            <p:nvSpPr>
              <p:cNvPr name="Freeform 37" id="37"/>
              <p:cNvSpPr/>
              <p:nvPr/>
            </p:nvSpPr>
            <p:spPr>
              <a:xfrm flipH="false" flipV="false" rot="0">
                <a:off x="12700" y="12700"/>
                <a:ext cx="12440412" cy="1969770"/>
              </a:xfrm>
              <a:custGeom>
                <a:avLst/>
                <a:gdLst/>
                <a:ahLst/>
                <a:cxnLst/>
                <a:rect r="r" b="b" t="t" l="l"/>
                <a:pathLst>
                  <a:path h="1969770" w="12440412">
                    <a:moveTo>
                      <a:pt x="0" y="419989"/>
                    </a:moveTo>
                    <a:cubicBezTo>
                      <a:pt x="0" y="187960"/>
                      <a:pt x="189992" y="0"/>
                      <a:pt x="424434" y="0"/>
                    </a:cubicBezTo>
                    <a:lnTo>
                      <a:pt x="12015978" y="0"/>
                    </a:lnTo>
                    <a:cubicBezTo>
                      <a:pt x="12250420" y="0"/>
                      <a:pt x="12440412" y="187960"/>
                      <a:pt x="12440412" y="419989"/>
                    </a:cubicBezTo>
                    <a:lnTo>
                      <a:pt x="12440412" y="1549781"/>
                    </a:lnTo>
                    <a:cubicBezTo>
                      <a:pt x="12440412" y="1781683"/>
                      <a:pt x="12250420" y="1969770"/>
                      <a:pt x="12015978" y="1969770"/>
                    </a:cubicBezTo>
                    <a:lnTo>
                      <a:pt x="424434" y="1969770"/>
                    </a:lnTo>
                    <a:cubicBezTo>
                      <a:pt x="189992" y="1969643"/>
                      <a:pt x="0" y="1781683"/>
                      <a:pt x="0" y="1549781"/>
                    </a:cubicBezTo>
                    <a:close/>
                  </a:path>
                </a:pathLst>
              </a:custGeom>
              <a:solidFill>
                <a:srgbClr val="0A081B"/>
              </a:solidFill>
            </p:spPr>
          </p:sp>
          <p:sp>
            <p:nvSpPr>
              <p:cNvPr name="Freeform 38" id="38"/>
              <p:cNvSpPr/>
              <p:nvPr/>
            </p:nvSpPr>
            <p:spPr>
              <a:xfrm flipH="false" flipV="false" rot="0">
                <a:off x="0" y="0"/>
                <a:ext cx="12465812" cy="1995170"/>
              </a:xfrm>
              <a:custGeom>
                <a:avLst/>
                <a:gdLst/>
                <a:ahLst/>
                <a:cxnLst/>
                <a:rect r="r" b="b" t="t" l="l"/>
                <a:pathLst>
                  <a:path h="1995170" w="12465812">
                    <a:moveTo>
                      <a:pt x="0" y="432689"/>
                    </a:moveTo>
                    <a:cubicBezTo>
                      <a:pt x="0" y="193548"/>
                      <a:pt x="195834" y="0"/>
                      <a:pt x="437134" y="0"/>
                    </a:cubicBezTo>
                    <a:lnTo>
                      <a:pt x="12028678" y="0"/>
                    </a:lnTo>
                    <a:lnTo>
                      <a:pt x="12028678" y="12700"/>
                    </a:lnTo>
                    <a:lnTo>
                      <a:pt x="12028678" y="0"/>
                    </a:lnTo>
                    <a:cubicBezTo>
                      <a:pt x="12269978" y="0"/>
                      <a:pt x="12465812" y="193548"/>
                      <a:pt x="12465812" y="432689"/>
                    </a:cubicBezTo>
                    <a:lnTo>
                      <a:pt x="12453112" y="432689"/>
                    </a:lnTo>
                    <a:lnTo>
                      <a:pt x="12465812" y="432689"/>
                    </a:lnTo>
                    <a:lnTo>
                      <a:pt x="12465812" y="1562481"/>
                    </a:lnTo>
                    <a:lnTo>
                      <a:pt x="12453112" y="1562481"/>
                    </a:lnTo>
                    <a:lnTo>
                      <a:pt x="12465812" y="1562481"/>
                    </a:lnTo>
                    <a:cubicBezTo>
                      <a:pt x="12465812" y="1801495"/>
                      <a:pt x="12269978" y="1995170"/>
                      <a:pt x="12028678" y="1995170"/>
                    </a:cubicBezTo>
                    <a:lnTo>
                      <a:pt x="12028678" y="1982470"/>
                    </a:lnTo>
                    <a:lnTo>
                      <a:pt x="12028678" y="1995170"/>
                    </a:lnTo>
                    <a:lnTo>
                      <a:pt x="437134" y="1995170"/>
                    </a:lnTo>
                    <a:lnTo>
                      <a:pt x="437134" y="1982470"/>
                    </a:lnTo>
                    <a:lnTo>
                      <a:pt x="437134" y="1995170"/>
                    </a:lnTo>
                    <a:cubicBezTo>
                      <a:pt x="195834" y="1995170"/>
                      <a:pt x="0" y="1801622"/>
                      <a:pt x="0" y="1562481"/>
                    </a:cubicBezTo>
                    <a:lnTo>
                      <a:pt x="0" y="432689"/>
                    </a:lnTo>
                    <a:lnTo>
                      <a:pt x="12700" y="432689"/>
                    </a:lnTo>
                    <a:lnTo>
                      <a:pt x="0" y="432689"/>
                    </a:lnTo>
                    <a:moveTo>
                      <a:pt x="25400" y="432689"/>
                    </a:moveTo>
                    <a:lnTo>
                      <a:pt x="25400" y="1562481"/>
                    </a:lnTo>
                    <a:lnTo>
                      <a:pt x="12700" y="1562481"/>
                    </a:lnTo>
                    <a:lnTo>
                      <a:pt x="25400" y="1562481"/>
                    </a:lnTo>
                    <a:cubicBezTo>
                      <a:pt x="25400" y="1787271"/>
                      <a:pt x="209677" y="1969770"/>
                      <a:pt x="437134" y="1969770"/>
                    </a:cubicBezTo>
                    <a:lnTo>
                      <a:pt x="12028678" y="1969770"/>
                    </a:lnTo>
                    <a:cubicBezTo>
                      <a:pt x="12256262" y="1969770"/>
                      <a:pt x="12440412" y="1787271"/>
                      <a:pt x="12440412" y="1562481"/>
                    </a:cubicBezTo>
                    <a:lnTo>
                      <a:pt x="12440412" y="432689"/>
                    </a:lnTo>
                    <a:cubicBezTo>
                      <a:pt x="12440412" y="207899"/>
                      <a:pt x="12256262" y="25400"/>
                      <a:pt x="12028678" y="25400"/>
                    </a:cubicBezTo>
                    <a:lnTo>
                      <a:pt x="437134" y="25400"/>
                    </a:lnTo>
                    <a:lnTo>
                      <a:pt x="437134" y="12700"/>
                    </a:lnTo>
                    <a:lnTo>
                      <a:pt x="437134" y="25400"/>
                    </a:lnTo>
                    <a:cubicBezTo>
                      <a:pt x="209677" y="25400"/>
                      <a:pt x="25400" y="207899"/>
                      <a:pt x="25400" y="432689"/>
                    </a:cubicBezTo>
                    <a:close/>
                  </a:path>
                </a:pathLst>
              </a:custGeom>
              <a:solidFill>
                <a:srgbClr val="ED7D31"/>
              </a:solidFill>
            </p:spPr>
          </p:sp>
        </p:grpSp>
        <p:sp>
          <p:nvSpPr>
            <p:cNvPr name="TextBox 39" id="39"/>
            <p:cNvSpPr txBox="true"/>
            <p:nvPr/>
          </p:nvSpPr>
          <p:spPr>
            <a:xfrm rot="0">
              <a:off x="4174554" y="192684"/>
              <a:ext cx="3110509" cy="384175"/>
            </a:xfrm>
            <a:prstGeom prst="rect">
              <a:avLst/>
            </a:prstGeom>
          </p:spPr>
          <p:txBody>
            <a:bodyPr anchor="t" rtlCol="false" tIns="0" lIns="0" bIns="0" rIns="0">
              <a:spAutoFit/>
            </a:bodyPr>
            <a:lstStyle/>
            <a:p>
              <a:pPr algn="l">
                <a:lnSpc>
                  <a:spcPts val="2249"/>
                </a:lnSpc>
              </a:pPr>
              <a:r>
                <a:rPr lang="en-US" sz="1812" b="true">
                  <a:solidFill>
                    <a:srgbClr val="E0E4E6"/>
                  </a:solidFill>
                  <a:latin typeface="Arimo Bold"/>
                  <a:ea typeface="Arimo Bold"/>
                  <a:cs typeface="Arimo Bold"/>
                  <a:sym typeface="Arimo Bold"/>
                </a:rPr>
                <a:t>Outcome &amp; Species</a:t>
              </a:r>
            </a:p>
          </p:txBody>
        </p:sp>
        <p:sp>
          <p:nvSpPr>
            <p:cNvPr name="TextBox 40" id="40"/>
            <p:cNvSpPr txBox="true"/>
            <p:nvPr/>
          </p:nvSpPr>
          <p:spPr>
            <a:xfrm rot="0">
              <a:off x="317894" y="799706"/>
              <a:ext cx="11830050" cy="347133"/>
            </a:xfrm>
            <a:prstGeom prst="rect">
              <a:avLst/>
            </a:prstGeom>
          </p:spPr>
          <p:txBody>
            <a:bodyPr anchor="t" rtlCol="false" tIns="0" lIns="0" bIns="0" rIns="0">
              <a:spAutoFit/>
            </a:bodyPr>
            <a:lstStyle/>
            <a:p>
              <a:pPr algn="ctr">
                <a:lnSpc>
                  <a:spcPts val="2187"/>
                </a:lnSpc>
              </a:pPr>
              <a:r>
                <a:rPr lang="en-US" sz="1625" b="true">
                  <a:solidFill>
                    <a:srgbClr val="E0E4E6"/>
                  </a:solidFill>
                  <a:latin typeface="Barlow Bold"/>
                  <a:ea typeface="Barlow Bold"/>
                  <a:cs typeface="Barlow Bold"/>
                  <a:sym typeface="Barlow Bold"/>
                </a:rPr>
                <a:t>Fatal (Y/N)</a:t>
              </a:r>
              <a:r>
                <a:rPr lang="en-US" sz="1625">
                  <a:solidFill>
                    <a:srgbClr val="E0E4E6"/>
                  </a:solidFill>
                  <a:latin typeface="Barlow"/>
                  <a:ea typeface="Barlow"/>
                  <a:cs typeface="Barlow"/>
                  <a:sym typeface="Barlow"/>
                </a:rPr>
                <a:t>: Binary status (1 = Fatal, 0 = Non-Fatal)</a:t>
              </a:r>
            </a:p>
          </p:txBody>
        </p:sp>
        <p:sp>
          <p:nvSpPr>
            <p:cNvPr name="TextBox 41" id="41"/>
            <p:cNvSpPr txBox="true"/>
            <p:nvPr/>
          </p:nvSpPr>
          <p:spPr>
            <a:xfrm rot="0">
              <a:off x="317894" y="1284884"/>
              <a:ext cx="11830050" cy="347133"/>
            </a:xfrm>
            <a:prstGeom prst="rect">
              <a:avLst/>
            </a:prstGeom>
          </p:spPr>
          <p:txBody>
            <a:bodyPr anchor="t" rtlCol="false" tIns="0" lIns="0" bIns="0" rIns="0">
              <a:spAutoFit/>
            </a:bodyPr>
            <a:lstStyle/>
            <a:p>
              <a:pPr algn="ctr">
                <a:lnSpc>
                  <a:spcPts val="2187"/>
                </a:lnSpc>
              </a:pPr>
              <a:r>
                <a:rPr lang="en-US" sz="1625" b="true">
                  <a:solidFill>
                    <a:srgbClr val="E0E4E6"/>
                  </a:solidFill>
                  <a:latin typeface="Barlow Bold"/>
                  <a:ea typeface="Barlow Bold"/>
                  <a:cs typeface="Barlow Bold"/>
                  <a:sym typeface="Barlow Bold"/>
                </a:rPr>
                <a:t>Species</a:t>
              </a:r>
              <a:r>
                <a:rPr lang="en-US" sz="1625">
                  <a:solidFill>
                    <a:srgbClr val="E0E4E6"/>
                  </a:solidFill>
                  <a:latin typeface="Barlow"/>
                  <a:ea typeface="Barlow"/>
                  <a:cs typeface="Barlow"/>
                  <a:sym typeface="Barlow"/>
                </a:rPr>
                <a:t>: Standardized into 15 primary shark groups</a:t>
              </a:r>
            </a:p>
          </p:txBody>
        </p:sp>
      </p:grpSp>
      <p:sp>
        <p:nvSpPr>
          <p:cNvPr name="TextBox 42" id="42"/>
          <p:cNvSpPr txBox="true"/>
          <p:nvPr/>
        </p:nvSpPr>
        <p:spPr>
          <a:xfrm rot="0">
            <a:off x="11804737" y="2408775"/>
            <a:ext cx="5778937" cy="351083"/>
          </a:xfrm>
          <a:prstGeom prst="rect">
            <a:avLst/>
          </a:prstGeom>
        </p:spPr>
        <p:txBody>
          <a:bodyPr anchor="t" rtlCol="false" tIns="0" lIns="0" bIns="0" rIns="0">
            <a:spAutoFit/>
          </a:bodyPr>
          <a:lstStyle/>
          <a:p>
            <a:pPr algn="ctr">
              <a:lnSpc>
                <a:spcPts val="2860"/>
              </a:lnSpc>
              <a:spcBef>
                <a:spcPct val="0"/>
              </a:spcBef>
            </a:pPr>
            <a:r>
              <a:rPr lang="en-US" b="true" sz="2124">
                <a:solidFill>
                  <a:srgbClr val="FFFFFF"/>
                </a:solidFill>
                <a:latin typeface="Noto Serif Ethiopic Condensed Bold"/>
                <a:ea typeface="Noto Serif Ethiopic Condensed Bold"/>
                <a:cs typeface="Noto Serif Ethiopic Condensed Bold"/>
                <a:sym typeface="Noto Serif Ethiopic Condensed Bold"/>
              </a:rPr>
              <a:t>Which is the Most used variable under analysis?</a:t>
            </a:r>
          </a:p>
        </p:txBody>
      </p:sp>
      <p:sp>
        <p:nvSpPr>
          <p:cNvPr name="TextBox 43" id="43"/>
          <p:cNvSpPr txBox="true"/>
          <p:nvPr/>
        </p:nvSpPr>
        <p:spPr>
          <a:xfrm rot="0">
            <a:off x="11928562" y="2862005"/>
            <a:ext cx="3398520" cy="333889"/>
          </a:xfrm>
          <a:prstGeom prst="rect">
            <a:avLst/>
          </a:prstGeom>
        </p:spPr>
        <p:txBody>
          <a:bodyPr anchor="t" rtlCol="false" tIns="0" lIns="0" bIns="0" rIns="0">
            <a:spAutoFit/>
          </a:bodyPr>
          <a:lstStyle/>
          <a:p>
            <a:pPr algn="ctr">
              <a:lnSpc>
                <a:spcPts val="2725"/>
              </a:lnSpc>
              <a:spcBef>
                <a:spcPct val="0"/>
              </a:spcBef>
            </a:pPr>
            <a:r>
              <a:rPr lang="en-US" sz="2024">
                <a:solidFill>
                  <a:srgbClr val="FFFFFF"/>
                </a:solidFill>
                <a:latin typeface="Barlow"/>
                <a:ea typeface="Barlow"/>
                <a:cs typeface="Barlow"/>
                <a:sym typeface="Barlow"/>
              </a:rPr>
              <a:t>The categorical Variable, </a:t>
            </a:r>
            <a:r>
              <a:rPr lang="en-US" b="true" sz="2024">
                <a:solidFill>
                  <a:srgbClr val="FFFFFF"/>
                </a:solidFill>
                <a:latin typeface="Barlow Bold"/>
                <a:ea typeface="Barlow Bold"/>
                <a:cs typeface="Barlow Bold"/>
                <a:sym typeface="Barlow Bold"/>
              </a:rPr>
              <a:t>Fatal</a:t>
            </a:r>
            <a:r>
              <a:rPr lang="en-US" sz="2024">
                <a:solidFill>
                  <a:srgbClr val="FFFFFF"/>
                </a:solidFill>
                <a:latin typeface="Barlow"/>
                <a:ea typeface="Barlow"/>
                <a:cs typeface="Barlow"/>
                <a:sym typeface="Barlow"/>
              </a:rPr>
              <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1084212" y="947890"/>
            <a:ext cx="9261577" cy="1510608"/>
          </a:xfrm>
          <a:prstGeom prst="rect">
            <a:avLst/>
          </a:prstGeom>
        </p:spPr>
        <p:txBody>
          <a:bodyPr anchor="t" rtlCol="false" tIns="0" lIns="0" bIns="0" rIns="0">
            <a:spAutoFit/>
          </a:bodyPr>
          <a:lstStyle/>
          <a:p>
            <a:pPr algn="l">
              <a:lnSpc>
                <a:spcPts val="5750"/>
              </a:lnSpc>
            </a:pPr>
            <a:r>
              <a:rPr lang="en-US" sz="4562" b="true">
                <a:solidFill>
                  <a:srgbClr val="F0FCFF"/>
                </a:solidFill>
                <a:latin typeface="Arimo Bold"/>
                <a:ea typeface="Arimo Bold"/>
                <a:cs typeface="Arimo Bold"/>
                <a:sym typeface="Arimo Bold"/>
              </a:rPr>
              <a:t>Salvage Operation: Preparing Data for Analysis</a:t>
            </a:r>
          </a:p>
        </p:txBody>
      </p:sp>
      <p:sp>
        <p:nvSpPr>
          <p:cNvPr name="TextBox 7" id="7"/>
          <p:cNvSpPr txBox="true"/>
          <p:nvPr/>
        </p:nvSpPr>
        <p:spPr>
          <a:xfrm rot="0">
            <a:off x="1084212" y="2498969"/>
            <a:ext cx="8797823" cy="632670"/>
          </a:xfrm>
          <a:prstGeom prst="rect">
            <a:avLst/>
          </a:prstGeom>
        </p:spPr>
        <p:txBody>
          <a:bodyPr anchor="t" rtlCol="false" tIns="0" lIns="0" bIns="0" rIns="0">
            <a:spAutoFit/>
          </a:bodyPr>
          <a:lstStyle/>
          <a:p>
            <a:pPr algn="l">
              <a:lnSpc>
                <a:spcPts val="4562"/>
              </a:lnSpc>
            </a:pPr>
            <a:r>
              <a:rPr lang="en-US" sz="3625" b="true">
                <a:solidFill>
                  <a:srgbClr val="F0FCFF"/>
                </a:solidFill>
                <a:latin typeface="Arimo Bold"/>
                <a:ea typeface="Arimo Bold"/>
                <a:cs typeface="Arimo Bold"/>
                <a:sym typeface="Arimo Bold"/>
              </a:rPr>
              <a:t>Challenge Identified | Solution Designed</a:t>
            </a:r>
          </a:p>
        </p:txBody>
      </p:sp>
      <p:sp>
        <p:nvSpPr>
          <p:cNvPr name="TextBox 8" id="8"/>
          <p:cNvSpPr txBox="true"/>
          <p:nvPr/>
        </p:nvSpPr>
        <p:spPr>
          <a:xfrm rot="0">
            <a:off x="1084212" y="3644208"/>
            <a:ext cx="8427129" cy="703779"/>
          </a:xfrm>
          <a:prstGeom prst="rect">
            <a:avLst/>
          </a:prstGeom>
        </p:spPr>
        <p:txBody>
          <a:bodyPr anchor="t" rtlCol="false" tIns="0" lIns="0" bIns="0" rIns="0">
            <a:spAutoFit/>
          </a:bodyPr>
          <a:lstStyle/>
          <a:p>
            <a:pPr algn="l">
              <a:lnSpc>
                <a:spcPts val="5565"/>
              </a:lnSpc>
            </a:pPr>
            <a:r>
              <a:rPr lang="en-US" sz="4452" b="true">
                <a:solidFill>
                  <a:srgbClr val="F0FCFF"/>
                </a:solidFill>
                <a:latin typeface="Arimo Bold"/>
                <a:ea typeface="Arimo Bold"/>
                <a:cs typeface="Arimo Bold"/>
                <a:sym typeface="Arimo Bold"/>
              </a:rPr>
              <a:t>The Problems We Found</a:t>
            </a:r>
          </a:p>
        </p:txBody>
      </p:sp>
      <p:sp>
        <p:nvSpPr>
          <p:cNvPr name="TextBox 9" id="9"/>
          <p:cNvSpPr txBox="true"/>
          <p:nvPr/>
        </p:nvSpPr>
        <p:spPr>
          <a:xfrm rot="0">
            <a:off x="1084212" y="4663525"/>
            <a:ext cx="9261577" cy="4912540"/>
          </a:xfrm>
          <a:prstGeom prst="rect">
            <a:avLst/>
          </a:prstGeom>
        </p:spPr>
        <p:txBody>
          <a:bodyPr anchor="t" rtlCol="false" tIns="0" lIns="0" bIns="0" rIns="0">
            <a:spAutoFit/>
          </a:bodyPr>
          <a:lstStyle/>
          <a:p>
            <a:pPr algn="l" marL="503596" indent="-251798" lvl="1">
              <a:lnSpc>
                <a:spcPts val="4857"/>
              </a:lnSpc>
              <a:buFont typeface="Arial"/>
              <a:buChar char="•"/>
            </a:pPr>
            <a:r>
              <a:rPr lang="en-US" b="true" sz="3339">
                <a:solidFill>
                  <a:srgbClr val="E0E4E6"/>
                </a:solidFill>
                <a:latin typeface="Barlow Bold"/>
                <a:ea typeface="Barlow Bold"/>
                <a:cs typeface="Barlow Bold"/>
                <a:sym typeface="Barlow Bold"/>
              </a:rPr>
              <a:t>Messy Naming:</a:t>
            </a:r>
            <a:r>
              <a:rPr lang="en-US" sz="3339">
                <a:solidFill>
                  <a:srgbClr val="E0E4E6"/>
                </a:solidFill>
                <a:latin typeface="Barlow"/>
                <a:ea typeface="Barlow"/>
                <a:cs typeface="Barlow"/>
                <a:sym typeface="Barlow"/>
              </a:rPr>
              <a:t> Mixed case, special characters, and spaces in column headers</a:t>
            </a:r>
          </a:p>
          <a:p>
            <a:pPr algn="l" marL="503596" indent="-251798" lvl="1">
              <a:lnSpc>
                <a:spcPts val="4857"/>
              </a:lnSpc>
              <a:buFont typeface="Arial"/>
              <a:buChar char="•"/>
            </a:pPr>
            <a:r>
              <a:rPr lang="en-US" b="true" sz="3339">
                <a:solidFill>
                  <a:srgbClr val="E0E4E6"/>
                </a:solidFill>
                <a:latin typeface="Barlow Bold"/>
                <a:ea typeface="Barlow Bold"/>
                <a:cs typeface="Barlow Bold"/>
                <a:sym typeface="Barlow Bold"/>
              </a:rPr>
              <a:t>Inconsistent Values:</a:t>
            </a:r>
            <a:r>
              <a:rPr lang="en-US" sz="3339">
                <a:solidFill>
                  <a:srgbClr val="E0E4E6"/>
                </a:solidFill>
                <a:latin typeface="Barlow"/>
                <a:ea typeface="Barlow"/>
                <a:cs typeface="Barlow"/>
                <a:sym typeface="Barlow"/>
              </a:rPr>
              <a:t> "M" vs "Male," "20s" vs "25," and 1,550 raw variants for shark species</a:t>
            </a:r>
          </a:p>
          <a:p>
            <a:pPr algn="l" marL="503596" indent="-251798" lvl="1">
              <a:lnSpc>
                <a:spcPts val="4857"/>
              </a:lnSpc>
              <a:buFont typeface="Arial"/>
              <a:buChar char="•"/>
            </a:pPr>
            <a:r>
              <a:rPr lang="en-US" b="true" sz="3339">
                <a:solidFill>
                  <a:srgbClr val="E0E4E6"/>
                </a:solidFill>
                <a:latin typeface="Barlow Bold"/>
                <a:ea typeface="Barlow Bold"/>
                <a:cs typeface="Barlow Bold"/>
                <a:sym typeface="Barlow Bold"/>
              </a:rPr>
              <a:t>Missing Data:</a:t>
            </a:r>
            <a:r>
              <a:rPr lang="en-US" sz="3339">
                <a:solidFill>
                  <a:srgbClr val="E0E4E6"/>
                </a:solidFill>
                <a:latin typeface="Barlow"/>
                <a:ea typeface="Barlow"/>
                <a:cs typeface="Barlow"/>
                <a:sym typeface="Barlow"/>
              </a:rPr>
              <a:t> 67% of species unknown; age/time missing in significant records</a:t>
            </a:r>
          </a:p>
          <a:p>
            <a:pPr algn="l" marL="503596" indent="-251798" lvl="1">
              <a:lnSpc>
                <a:spcPts val="4857"/>
              </a:lnSpc>
              <a:buFont typeface="Arial"/>
              <a:buChar char="•"/>
            </a:pPr>
            <a:r>
              <a:rPr lang="en-US" b="true" sz="3339">
                <a:solidFill>
                  <a:srgbClr val="E0E4E6"/>
                </a:solidFill>
                <a:latin typeface="Barlow Bold"/>
                <a:ea typeface="Barlow Bold"/>
                <a:cs typeface="Barlow Bold"/>
                <a:sym typeface="Barlow Bold"/>
              </a:rPr>
              <a:t>Redundancy:</a:t>
            </a:r>
            <a:r>
              <a:rPr lang="en-US" sz="3339">
                <a:solidFill>
                  <a:srgbClr val="E0E4E6"/>
                </a:solidFill>
                <a:latin typeface="Barlow"/>
                <a:ea typeface="Barlow"/>
                <a:cs typeface="Barlow"/>
                <a:sym typeface="Barlow"/>
              </a:rPr>
              <a:t> Useless web metadata (URLs/PDFs) and duplicate ID columns</a:t>
            </a:r>
          </a:p>
        </p:txBody>
      </p:sp>
      <p:sp>
        <p:nvSpPr>
          <p:cNvPr name="TextBox 10" id="10"/>
          <p:cNvSpPr txBox="true"/>
          <p:nvPr/>
        </p:nvSpPr>
        <p:spPr>
          <a:xfrm rot="0">
            <a:off x="10666424" y="947890"/>
            <a:ext cx="9159838" cy="733191"/>
          </a:xfrm>
          <a:prstGeom prst="rect">
            <a:avLst/>
          </a:prstGeom>
        </p:spPr>
        <p:txBody>
          <a:bodyPr anchor="t" rtlCol="false" tIns="0" lIns="0" bIns="0" rIns="0">
            <a:spAutoFit/>
          </a:bodyPr>
          <a:lstStyle/>
          <a:p>
            <a:pPr algn="l">
              <a:lnSpc>
                <a:spcPts val="5731"/>
              </a:lnSpc>
            </a:pPr>
            <a:r>
              <a:rPr lang="en-US" sz="4585" b="true">
                <a:solidFill>
                  <a:srgbClr val="F0FCFF"/>
                </a:solidFill>
                <a:latin typeface="Arimo Bold"/>
                <a:ea typeface="Arimo Bold"/>
                <a:cs typeface="Arimo Bold"/>
                <a:sym typeface="Arimo Bold"/>
              </a:rPr>
              <a:t>The 8-Step Cleaning</a:t>
            </a:r>
          </a:p>
        </p:txBody>
      </p:sp>
      <p:sp>
        <p:nvSpPr>
          <p:cNvPr name="TextBox 11" id="11"/>
          <p:cNvSpPr txBox="true"/>
          <p:nvPr/>
        </p:nvSpPr>
        <p:spPr>
          <a:xfrm rot="0">
            <a:off x="10666424" y="1999082"/>
            <a:ext cx="7185789" cy="5511944"/>
          </a:xfrm>
          <a:prstGeom prst="rect">
            <a:avLst/>
          </a:prstGeom>
        </p:spPr>
        <p:txBody>
          <a:bodyPr anchor="t" rtlCol="false" tIns="0" lIns="0" bIns="0" rIns="0">
            <a:spAutoFit/>
          </a:bodyPr>
          <a:lstStyle/>
          <a:p>
            <a:pPr algn="l" marL="518642" indent="-259321" lvl="1">
              <a:lnSpc>
                <a:spcPts val="5002"/>
              </a:lnSpc>
              <a:buAutoNum type="arabicPeriod" startAt="1"/>
            </a:pPr>
            <a:r>
              <a:rPr lang="en-US" b="true" sz="3438">
                <a:solidFill>
                  <a:srgbClr val="E0E4E6"/>
                </a:solidFill>
                <a:latin typeface="Barlow Bold"/>
                <a:ea typeface="Barlow Bold"/>
                <a:cs typeface="Barlow Bold"/>
                <a:sym typeface="Barlow Bold"/>
              </a:rPr>
              <a:t>Structural Cleanup:</a:t>
            </a:r>
            <a:r>
              <a:rPr lang="en-US" sz="3438">
                <a:solidFill>
                  <a:srgbClr val="E0E4E6"/>
                </a:solidFill>
                <a:latin typeface="Barlow"/>
                <a:ea typeface="Barlow"/>
                <a:cs typeface="Barlow"/>
                <a:sym typeface="Barlow"/>
              </a:rPr>
              <a:t> Removing irrelevant columns and fixing headers</a:t>
            </a:r>
          </a:p>
          <a:p>
            <a:pPr algn="l" marL="518642" indent="-259321" lvl="1">
              <a:lnSpc>
                <a:spcPts val="5002"/>
              </a:lnSpc>
              <a:buAutoNum type="arabicPeriod" startAt="1"/>
            </a:pPr>
            <a:r>
              <a:rPr lang="en-US" b="true" sz="3438">
                <a:solidFill>
                  <a:srgbClr val="E0E4E6"/>
                </a:solidFill>
                <a:latin typeface="Barlow Bold"/>
                <a:ea typeface="Barlow Bold"/>
                <a:cs typeface="Barlow Bold"/>
                <a:sym typeface="Barlow Bold"/>
              </a:rPr>
              <a:t>Variable Standardization:</a:t>
            </a:r>
            <a:r>
              <a:rPr lang="en-US" sz="3438">
                <a:solidFill>
                  <a:srgbClr val="E0E4E6"/>
                </a:solidFill>
                <a:latin typeface="Barlow"/>
                <a:ea typeface="Barlow"/>
                <a:cs typeface="Barlow"/>
                <a:sym typeface="Barlow"/>
              </a:rPr>
              <a:t> Normalizing Sex, Fatal Status, Age, and Species</a:t>
            </a:r>
          </a:p>
          <a:p>
            <a:pPr algn="l" marL="518642" indent="-259321" lvl="1">
              <a:lnSpc>
                <a:spcPts val="5002"/>
              </a:lnSpc>
              <a:buAutoNum type="arabicPeriod" startAt="1"/>
            </a:pPr>
            <a:r>
              <a:rPr lang="en-US" b="true" sz="3438">
                <a:solidFill>
                  <a:srgbClr val="E0E4E6"/>
                </a:solidFill>
                <a:latin typeface="Barlow Bold"/>
                <a:ea typeface="Barlow Bold"/>
                <a:cs typeface="Barlow Bold"/>
                <a:sym typeface="Barlow Bold"/>
              </a:rPr>
              <a:t>Final Processing:</a:t>
            </a:r>
            <a:r>
              <a:rPr lang="en-US" sz="3438">
                <a:solidFill>
                  <a:srgbClr val="E0E4E6"/>
                </a:solidFill>
                <a:latin typeface="Barlow"/>
                <a:ea typeface="Barlow"/>
                <a:cs typeface="Barlow"/>
                <a:sym typeface="Barlow"/>
              </a:rPr>
              <a:t> Handling temporal data and encoding</a:t>
            </a:r>
          </a:p>
        </p:txBody>
      </p:sp>
      <p:sp>
        <p:nvSpPr>
          <p:cNvPr name="TextBox 12" id="12"/>
          <p:cNvSpPr txBox="true"/>
          <p:nvPr/>
        </p:nvSpPr>
        <p:spPr>
          <a:xfrm rot="0">
            <a:off x="10666424" y="7746326"/>
            <a:ext cx="7185789" cy="2030104"/>
          </a:xfrm>
          <a:prstGeom prst="rect">
            <a:avLst/>
          </a:prstGeom>
        </p:spPr>
        <p:txBody>
          <a:bodyPr anchor="t" rtlCol="false" tIns="0" lIns="0" bIns="0" rIns="0">
            <a:spAutoFit/>
          </a:bodyPr>
          <a:lstStyle/>
          <a:p>
            <a:pPr algn="l">
              <a:lnSpc>
                <a:spcPts val="5002"/>
              </a:lnSpc>
            </a:pPr>
            <a:r>
              <a:rPr lang="en-US" sz="3438" b="true">
                <a:solidFill>
                  <a:srgbClr val="E0E4E6"/>
                </a:solidFill>
                <a:latin typeface="Barlow Bold"/>
                <a:ea typeface="Barlow Bold"/>
                <a:cs typeface="Barlow Bold"/>
                <a:sym typeface="Barlow Bold"/>
              </a:rPr>
              <a:t>Impact:</a:t>
            </a:r>
            <a:r>
              <a:rPr lang="en-US" sz="3438">
                <a:solidFill>
                  <a:srgbClr val="E0E4E6"/>
                </a:solidFill>
                <a:latin typeface="Barlow"/>
                <a:ea typeface="Barlow"/>
                <a:cs typeface="Barlow"/>
                <a:sym typeface="Barlow"/>
              </a:rPr>
              <a:t> Transformed 5,409 messy records into a clean, categorical dataset ready for statistical modeling.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1066952" y="891035"/>
            <a:ext cx="8832790" cy="538162"/>
          </a:xfrm>
          <a:prstGeom prst="rect">
            <a:avLst/>
          </a:prstGeom>
        </p:spPr>
        <p:txBody>
          <a:bodyPr anchor="t" rtlCol="false" tIns="0" lIns="0" bIns="0" rIns="0">
            <a:spAutoFit/>
          </a:bodyPr>
          <a:lstStyle/>
          <a:p>
            <a:pPr algn="l">
              <a:lnSpc>
                <a:spcPts val="4312"/>
              </a:lnSpc>
            </a:pPr>
            <a:r>
              <a:rPr lang="en-US" sz="3437" b="true">
                <a:solidFill>
                  <a:srgbClr val="F0FCFF"/>
                </a:solidFill>
                <a:latin typeface="Playfair Display Bold"/>
                <a:ea typeface="Playfair Display Bold"/>
                <a:cs typeface="Playfair Display Bold"/>
                <a:sym typeface="Playfair Display Bold"/>
              </a:rPr>
              <a:t>Data Cleaning: R samples</a:t>
            </a:r>
          </a:p>
        </p:txBody>
      </p:sp>
      <p:sp>
        <p:nvSpPr>
          <p:cNvPr name="TextBox 7" id="7"/>
          <p:cNvSpPr txBox="true"/>
          <p:nvPr/>
        </p:nvSpPr>
        <p:spPr>
          <a:xfrm rot="0">
            <a:off x="557059" y="2097410"/>
            <a:ext cx="17730941" cy="7611361"/>
          </a:xfrm>
          <a:prstGeom prst="rect">
            <a:avLst/>
          </a:prstGeom>
        </p:spPr>
        <p:txBody>
          <a:bodyPr anchor="t" rtlCol="false" tIns="0" lIns="0" bIns="0" rIns="0">
            <a:spAutoFit/>
          </a:bodyPr>
          <a:lstStyle/>
          <a:p>
            <a:pPr algn="l">
              <a:lnSpc>
                <a:spcPts val="3765"/>
              </a:lnSpc>
              <a:spcBef>
                <a:spcPct val="0"/>
              </a:spcBef>
            </a:pPr>
            <a:r>
              <a:rPr lang="en-US" sz="2768">
                <a:solidFill>
                  <a:srgbClr val="ED7D31"/>
                </a:solidFill>
                <a:latin typeface="Fira Code"/>
                <a:ea typeface="Fira Code"/>
                <a:cs typeface="Fira Code"/>
                <a:sym typeface="Fira Code"/>
              </a:rPr>
              <a:t>#</a:t>
            </a:r>
            <a:r>
              <a:rPr lang="en-US" sz="2768">
                <a:solidFill>
                  <a:srgbClr val="ED7D31"/>
                </a:solidFill>
                <a:latin typeface="Fira Code"/>
                <a:ea typeface="Fira Code"/>
                <a:cs typeface="Fira Code"/>
                <a:sym typeface="Fira Code"/>
              </a:rPr>
              <a:t>Removing unnecessary columns</a:t>
            </a:r>
          </a:p>
          <a:p>
            <a:pPr algn="l">
              <a:lnSpc>
                <a:spcPts val="3765"/>
              </a:lnSpc>
              <a:spcBef>
                <a:spcPct val="0"/>
              </a:spcBef>
            </a:pPr>
            <a:r>
              <a:rPr lang="en-US" sz="2768">
                <a:solidFill>
                  <a:srgbClr val="00FFB3"/>
                </a:solidFill>
                <a:latin typeface="Fira Code"/>
                <a:ea typeface="Fira Code"/>
                <a:cs typeface="Fira Code"/>
                <a:sym typeface="Fira Code"/>
              </a:rPr>
              <a:t>df_updated &lt;- df[, !(names(df) %in% c("href","pdf","Date","Case.Number.2","original.order"))]</a:t>
            </a:r>
          </a:p>
          <a:p>
            <a:pPr algn="l">
              <a:lnSpc>
                <a:spcPts val="3765"/>
              </a:lnSpc>
              <a:spcBef>
                <a:spcPct val="0"/>
              </a:spcBef>
            </a:pPr>
            <a:r>
              <a:rPr lang="en-US" sz="2768">
                <a:solidFill>
                  <a:srgbClr val="00FFB3"/>
                </a:solidFill>
                <a:latin typeface="Fira Code"/>
                <a:ea typeface="Fira Code"/>
                <a:cs typeface="Fira Code"/>
                <a:sym typeface="Fira Code"/>
              </a:rPr>
              <a:t> </a:t>
            </a:r>
          </a:p>
          <a:p>
            <a:pPr algn="l">
              <a:lnSpc>
                <a:spcPts val="3765"/>
              </a:lnSpc>
              <a:spcBef>
                <a:spcPct val="0"/>
              </a:spcBef>
            </a:pPr>
            <a:r>
              <a:rPr lang="en-US" sz="2768">
                <a:solidFill>
                  <a:srgbClr val="ED7D31"/>
                </a:solidFill>
                <a:latin typeface="Fira Code"/>
                <a:ea typeface="Fira Code"/>
                <a:cs typeface="Fira Code"/>
                <a:sym typeface="Fira Code"/>
              </a:rPr>
              <a:t>#Removing invalid data</a:t>
            </a:r>
          </a:p>
          <a:p>
            <a:pPr algn="l">
              <a:lnSpc>
                <a:spcPts val="3765"/>
              </a:lnSpc>
              <a:spcBef>
                <a:spcPct val="0"/>
              </a:spcBef>
            </a:pPr>
            <a:r>
              <a:rPr lang="en-US" sz="2768">
                <a:solidFill>
                  <a:srgbClr val="00FFB3"/>
                </a:solidFill>
                <a:latin typeface="Fira Code"/>
                <a:ea typeface="Fira Code"/>
                <a:cs typeface="Fira Code"/>
                <a:sym typeface="Fira Code"/>
              </a:rPr>
              <a:t>df_updated &lt;- df_updated[!is.na(df_updated$year) &amp; df_updated$year &gt;= 1900, ]</a:t>
            </a:r>
          </a:p>
          <a:p>
            <a:pPr algn="l">
              <a:lnSpc>
                <a:spcPts val="3765"/>
              </a:lnSpc>
              <a:spcBef>
                <a:spcPct val="0"/>
              </a:spcBef>
            </a:pPr>
            <a:r>
              <a:rPr lang="en-US" sz="2768">
                <a:solidFill>
                  <a:srgbClr val="00FFB3"/>
                </a:solidFill>
                <a:latin typeface="Fira Code"/>
                <a:ea typeface="Fira Code"/>
                <a:cs typeface="Fira Code"/>
                <a:sym typeface="Fira Code"/>
              </a:rPr>
              <a:t> </a:t>
            </a:r>
          </a:p>
          <a:p>
            <a:pPr algn="l">
              <a:lnSpc>
                <a:spcPts val="3765"/>
              </a:lnSpc>
              <a:spcBef>
                <a:spcPct val="0"/>
              </a:spcBef>
            </a:pPr>
            <a:r>
              <a:rPr lang="en-US" sz="2768">
                <a:solidFill>
                  <a:srgbClr val="ED7D31"/>
                </a:solidFill>
                <a:latin typeface="Fira Code"/>
                <a:ea typeface="Fira Code"/>
                <a:cs typeface="Fira Code"/>
                <a:sym typeface="Fira Code"/>
              </a:rPr>
              <a:t>#Standardising column names </a:t>
            </a:r>
          </a:p>
          <a:p>
            <a:pPr algn="l">
              <a:lnSpc>
                <a:spcPts val="3765"/>
              </a:lnSpc>
              <a:spcBef>
                <a:spcPct val="0"/>
              </a:spcBef>
            </a:pPr>
            <a:r>
              <a:rPr lang="en-US" sz="2768">
                <a:solidFill>
                  <a:srgbClr val="00FFB3"/>
                </a:solidFill>
                <a:latin typeface="Fira Code"/>
                <a:ea typeface="Fira Code"/>
                <a:cs typeface="Fira Code"/>
                <a:sym typeface="Fira Code"/>
              </a:rPr>
              <a:t>names(df_updated) &lt;- tolower(names(df_updated))</a:t>
            </a:r>
          </a:p>
          <a:p>
            <a:pPr algn="l">
              <a:lnSpc>
                <a:spcPts val="3765"/>
              </a:lnSpc>
              <a:spcBef>
                <a:spcPct val="0"/>
              </a:spcBef>
            </a:pPr>
            <a:r>
              <a:rPr lang="en-US" sz="2768">
                <a:solidFill>
                  <a:srgbClr val="00FFB3"/>
                </a:solidFill>
                <a:latin typeface="Fira Code"/>
                <a:ea typeface="Fira Code"/>
                <a:cs typeface="Fira Code"/>
                <a:sym typeface="Fira Code"/>
              </a:rPr>
              <a:t> names(df_updated) &lt;- gsub("\\.+", "_", names(df_updated))</a:t>
            </a:r>
          </a:p>
          <a:p>
            <a:pPr algn="l">
              <a:lnSpc>
                <a:spcPts val="3765"/>
              </a:lnSpc>
              <a:spcBef>
                <a:spcPct val="0"/>
              </a:spcBef>
            </a:pPr>
            <a:r>
              <a:rPr lang="en-US" sz="2768">
                <a:solidFill>
                  <a:srgbClr val="00FFB3"/>
                </a:solidFill>
                <a:latin typeface="Fira Code"/>
                <a:ea typeface="Fira Code"/>
                <a:cs typeface="Fira Code"/>
                <a:sym typeface="Fira Code"/>
              </a:rPr>
              <a:t> </a:t>
            </a:r>
          </a:p>
          <a:p>
            <a:pPr algn="l">
              <a:lnSpc>
                <a:spcPts val="3765"/>
              </a:lnSpc>
              <a:spcBef>
                <a:spcPct val="0"/>
              </a:spcBef>
            </a:pPr>
            <a:r>
              <a:rPr lang="en-US" sz="2768">
                <a:solidFill>
                  <a:srgbClr val="ED7D31"/>
                </a:solidFill>
                <a:latin typeface="Fira Code"/>
                <a:ea typeface="Fira Code"/>
                <a:cs typeface="Fira Code"/>
                <a:sym typeface="Fira Code"/>
              </a:rPr>
              <a:t>#Cleaning categorical data </a:t>
            </a:r>
          </a:p>
          <a:p>
            <a:pPr algn="l">
              <a:lnSpc>
                <a:spcPts val="3765"/>
              </a:lnSpc>
              <a:spcBef>
                <a:spcPct val="0"/>
              </a:spcBef>
            </a:pPr>
            <a:r>
              <a:rPr lang="en-US" sz="2768">
                <a:solidFill>
                  <a:srgbClr val="00FFB3"/>
                </a:solidFill>
                <a:latin typeface="Fira Code"/>
                <a:ea typeface="Fira Code"/>
                <a:cs typeface="Fira Code"/>
                <a:sym typeface="Fira Code"/>
              </a:rPr>
              <a:t>df_updated$sex &lt;- tolower(trimws(df_updated$sex))</a:t>
            </a:r>
          </a:p>
          <a:p>
            <a:pPr algn="l">
              <a:lnSpc>
                <a:spcPts val="3765"/>
              </a:lnSpc>
              <a:spcBef>
                <a:spcPct val="0"/>
              </a:spcBef>
            </a:pPr>
            <a:r>
              <a:rPr lang="en-US" sz="2768">
                <a:solidFill>
                  <a:srgbClr val="00FFB3"/>
                </a:solidFill>
                <a:latin typeface="Fira Code"/>
                <a:ea typeface="Fira Code"/>
                <a:cs typeface="Fira Code"/>
                <a:sym typeface="Fira Code"/>
              </a:rPr>
              <a:t> df_updated$sex[df_updated$sex %in% c("m", "male")] &lt;- "Male"</a:t>
            </a:r>
          </a:p>
          <a:p>
            <a:pPr algn="l">
              <a:lnSpc>
                <a:spcPts val="3765"/>
              </a:lnSpc>
              <a:spcBef>
                <a:spcPct val="0"/>
              </a:spcBef>
            </a:pPr>
            <a:r>
              <a:rPr lang="en-US" sz="2768">
                <a:solidFill>
                  <a:srgbClr val="00FFB3"/>
                </a:solidFill>
                <a:latin typeface="Fira Code"/>
                <a:ea typeface="Fira Code"/>
                <a:cs typeface="Fira Code"/>
                <a:sym typeface="Fira Code"/>
              </a:rPr>
              <a:t> df_updated$sex[df_updated$sex %in% c("f", "female")] &lt;- "Female"</a:t>
            </a:r>
          </a:p>
          <a:p>
            <a:pPr algn="l">
              <a:lnSpc>
                <a:spcPts val="3765"/>
              </a:lnSpc>
              <a:spcBef>
                <a:spcPct val="0"/>
              </a:spcBef>
            </a:pPr>
            <a:r>
              <a:rPr lang="en-US" sz="2768">
                <a:solidFill>
                  <a:srgbClr val="00FFB3"/>
                </a:solidFill>
                <a:latin typeface="Fira Code"/>
                <a:ea typeface="Fira Code"/>
                <a:cs typeface="Fira Code"/>
                <a:sym typeface="Fira Code"/>
              </a:rPr>
              <a:t> df_updated$sex[df_updated$sex == "" | is.na(df_updated$sex)] &lt;- "Unknown"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1049836" y="1060247"/>
            <a:ext cx="16209464" cy="795337"/>
          </a:xfrm>
          <a:prstGeom prst="rect">
            <a:avLst/>
          </a:prstGeom>
        </p:spPr>
        <p:txBody>
          <a:bodyPr anchor="t" rtlCol="false" tIns="0" lIns="0" bIns="0" rIns="0">
            <a:spAutoFit/>
          </a:bodyPr>
          <a:lstStyle/>
          <a:p>
            <a:pPr algn="l">
              <a:lnSpc>
                <a:spcPts val="6187"/>
              </a:lnSpc>
            </a:pPr>
            <a:r>
              <a:rPr lang="en-US" sz="4937" b="true">
                <a:solidFill>
                  <a:srgbClr val="F0FCFF"/>
                </a:solidFill>
                <a:latin typeface="Arimo Bold"/>
                <a:ea typeface="Arimo Bold"/>
                <a:cs typeface="Arimo Bold"/>
                <a:sym typeface="Arimo Bold"/>
              </a:rPr>
              <a:t>Data Cleaning: From Raw Chaos to Analysis</a:t>
            </a:r>
          </a:p>
        </p:txBody>
      </p:sp>
      <p:sp>
        <p:nvSpPr>
          <p:cNvPr name="TextBox 7" id="7"/>
          <p:cNvSpPr txBox="true"/>
          <p:nvPr/>
        </p:nvSpPr>
        <p:spPr>
          <a:xfrm rot="0">
            <a:off x="1049836" y="1954854"/>
            <a:ext cx="15753718" cy="639763"/>
          </a:xfrm>
          <a:prstGeom prst="rect">
            <a:avLst/>
          </a:prstGeom>
        </p:spPr>
        <p:txBody>
          <a:bodyPr anchor="t" rtlCol="false" tIns="0" lIns="0" bIns="0" rIns="0">
            <a:spAutoFit/>
          </a:bodyPr>
          <a:lstStyle/>
          <a:p>
            <a:pPr algn="l">
              <a:lnSpc>
                <a:spcPts val="4937"/>
              </a:lnSpc>
            </a:pPr>
            <a:r>
              <a:rPr lang="en-US" sz="3937" b="true">
                <a:solidFill>
                  <a:srgbClr val="F0FCFF"/>
                </a:solidFill>
                <a:latin typeface="Arimo Bold"/>
                <a:ea typeface="Arimo Bold"/>
                <a:cs typeface="Arimo Bold"/>
                <a:sym typeface="Arimo Bold"/>
              </a:rPr>
              <a:t>Steps 1–5: Structural &amp; Core Variable Standardization</a:t>
            </a:r>
          </a:p>
        </p:txBody>
      </p:sp>
      <p:sp>
        <p:nvSpPr>
          <p:cNvPr name="TextBox 8" id="8"/>
          <p:cNvSpPr txBox="true"/>
          <p:nvPr/>
        </p:nvSpPr>
        <p:spPr>
          <a:xfrm rot="0">
            <a:off x="1049836" y="2936977"/>
            <a:ext cx="569862" cy="441874"/>
          </a:xfrm>
          <a:prstGeom prst="rect">
            <a:avLst/>
          </a:prstGeom>
        </p:spPr>
        <p:txBody>
          <a:bodyPr anchor="t" rtlCol="false" tIns="0" lIns="0" bIns="0" rIns="0">
            <a:spAutoFit/>
          </a:bodyPr>
          <a:lstStyle/>
          <a:p>
            <a:pPr algn="l">
              <a:lnSpc>
                <a:spcPts val="3375"/>
              </a:lnSpc>
            </a:pPr>
            <a:r>
              <a:rPr lang="en-US" sz="2187">
                <a:solidFill>
                  <a:srgbClr val="E0E4E6"/>
                </a:solidFill>
                <a:latin typeface="Arimo"/>
                <a:ea typeface="Arimo"/>
                <a:cs typeface="Arimo"/>
                <a:sym typeface="Arimo"/>
              </a:rPr>
              <a:t>01</a:t>
            </a:r>
          </a:p>
        </p:txBody>
      </p:sp>
      <p:grpSp>
        <p:nvGrpSpPr>
          <p:cNvPr name="Group 9" id="9"/>
          <p:cNvGrpSpPr/>
          <p:nvPr/>
        </p:nvGrpSpPr>
        <p:grpSpPr>
          <a:xfrm rot="0">
            <a:off x="1049836" y="3468738"/>
            <a:ext cx="5224167" cy="38100"/>
            <a:chOff x="0" y="0"/>
            <a:chExt cx="6965556" cy="50800"/>
          </a:xfrm>
        </p:grpSpPr>
        <p:sp>
          <p:nvSpPr>
            <p:cNvPr name="Freeform 10" id="10"/>
            <p:cNvSpPr/>
            <p:nvPr/>
          </p:nvSpPr>
          <p:spPr>
            <a:xfrm flipH="false" flipV="false" rot="0">
              <a:off x="0" y="0"/>
              <a:ext cx="6965569" cy="50800"/>
            </a:xfrm>
            <a:custGeom>
              <a:avLst/>
              <a:gdLst/>
              <a:ahLst/>
              <a:cxnLst/>
              <a:rect r="r" b="b" t="t" l="l"/>
              <a:pathLst>
                <a:path h="50800" w="6965569">
                  <a:moveTo>
                    <a:pt x="0" y="0"/>
                  </a:moveTo>
                  <a:lnTo>
                    <a:pt x="6965569" y="0"/>
                  </a:lnTo>
                  <a:lnTo>
                    <a:pt x="6965569" y="50800"/>
                  </a:lnTo>
                  <a:lnTo>
                    <a:pt x="0" y="50800"/>
                  </a:lnTo>
                  <a:close/>
                </a:path>
              </a:pathLst>
            </a:custGeom>
            <a:solidFill>
              <a:srgbClr val="16FFBB"/>
            </a:solidFill>
          </p:spPr>
        </p:sp>
      </p:grpSp>
      <p:sp>
        <p:nvSpPr>
          <p:cNvPr name="TextBox 11" id="11"/>
          <p:cNvSpPr txBox="true"/>
          <p:nvPr/>
        </p:nvSpPr>
        <p:spPr>
          <a:xfrm rot="0">
            <a:off x="1049836" y="3668316"/>
            <a:ext cx="4874104" cy="414633"/>
          </a:xfrm>
          <a:prstGeom prst="rect">
            <a:avLst/>
          </a:prstGeom>
        </p:spPr>
        <p:txBody>
          <a:bodyPr anchor="t" rtlCol="false" tIns="0" lIns="0" bIns="0" rIns="0">
            <a:spAutoFit/>
          </a:bodyPr>
          <a:lstStyle/>
          <a:p>
            <a:pPr algn="l">
              <a:lnSpc>
                <a:spcPts val="3062"/>
              </a:lnSpc>
            </a:pPr>
            <a:r>
              <a:rPr lang="en-US" sz="2437" b="true">
                <a:solidFill>
                  <a:srgbClr val="E0E4E6"/>
                </a:solidFill>
                <a:latin typeface="Arimo Bold"/>
                <a:ea typeface="Arimo Bold"/>
                <a:cs typeface="Arimo Bold"/>
                <a:sym typeface="Arimo Bold"/>
              </a:rPr>
              <a:t>Structural unique  defining</a:t>
            </a:r>
          </a:p>
        </p:txBody>
      </p:sp>
      <p:sp>
        <p:nvSpPr>
          <p:cNvPr name="TextBox 12" id="12"/>
          <p:cNvSpPr txBox="true"/>
          <p:nvPr/>
        </p:nvSpPr>
        <p:spPr>
          <a:xfrm rot="0">
            <a:off x="1049836" y="4161530"/>
            <a:ext cx="5224167" cy="1813922"/>
          </a:xfrm>
          <a:prstGeom prst="rect">
            <a:avLst/>
          </a:prstGeom>
        </p:spPr>
        <p:txBody>
          <a:bodyPr anchor="t" rtlCol="false" tIns="0" lIns="0" bIns="0" rIns="0">
            <a:spAutoFit/>
          </a:bodyPr>
          <a:lstStyle/>
          <a:p>
            <a:pPr algn="l">
              <a:lnSpc>
                <a:spcPts val="3375"/>
              </a:lnSpc>
            </a:pPr>
            <a:r>
              <a:rPr lang="en-US" sz="2187">
                <a:solidFill>
                  <a:srgbClr val="E0E4E6"/>
                </a:solidFill>
                <a:latin typeface="Barlow"/>
                <a:ea typeface="Barlow"/>
                <a:cs typeface="Barlow"/>
                <a:sym typeface="Barlow"/>
              </a:rPr>
              <a:t>Removed redundant metadata (URLs, PDFs) and duplicate ID columns. Kept </a:t>
            </a:r>
            <a:r>
              <a:rPr lang="en-US" sz="2187" b="true">
                <a:solidFill>
                  <a:srgbClr val="E0E4E6"/>
                </a:solidFill>
                <a:latin typeface="Barlow Bold"/>
                <a:ea typeface="Barlow Bold"/>
                <a:cs typeface="Barlow Bold"/>
                <a:sym typeface="Barlow Bold"/>
              </a:rPr>
              <a:t>Case Number 1</a:t>
            </a:r>
            <a:r>
              <a:rPr lang="en-US" sz="2187">
                <a:solidFill>
                  <a:srgbClr val="E0E4E6"/>
                </a:solidFill>
                <a:latin typeface="Barlow"/>
                <a:ea typeface="Barlow"/>
                <a:cs typeface="Barlow"/>
                <a:sym typeface="Barlow"/>
              </a:rPr>
              <a:t> as the primary unique identifier for all 5,409 records.</a:t>
            </a:r>
          </a:p>
        </p:txBody>
      </p:sp>
      <p:sp>
        <p:nvSpPr>
          <p:cNvPr name="TextBox 13" id="13"/>
          <p:cNvSpPr txBox="true"/>
          <p:nvPr/>
        </p:nvSpPr>
        <p:spPr>
          <a:xfrm rot="0">
            <a:off x="6531921" y="2936977"/>
            <a:ext cx="569862" cy="441874"/>
          </a:xfrm>
          <a:prstGeom prst="rect">
            <a:avLst/>
          </a:prstGeom>
        </p:spPr>
        <p:txBody>
          <a:bodyPr anchor="t" rtlCol="false" tIns="0" lIns="0" bIns="0" rIns="0">
            <a:spAutoFit/>
          </a:bodyPr>
          <a:lstStyle/>
          <a:p>
            <a:pPr algn="l">
              <a:lnSpc>
                <a:spcPts val="3375"/>
              </a:lnSpc>
            </a:pPr>
            <a:r>
              <a:rPr lang="en-US" sz="2187">
                <a:solidFill>
                  <a:srgbClr val="E0E4E6"/>
                </a:solidFill>
                <a:latin typeface="Arimo"/>
                <a:ea typeface="Arimo"/>
                <a:cs typeface="Arimo"/>
                <a:sym typeface="Arimo"/>
              </a:rPr>
              <a:t>02</a:t>
            </a:r>
          </a:p>
        </p:txBody>
      </p:sp>
      <p:grpSp>
        <p:nvGrpSpPr>
          <p:cNvPr name="Group 14" id="14"/>
          <p:cNvGrpSpPr/>
          <p:nvPr/>
        </p:nvGrpSpPr>
        <p:grpSpPr>
          <a:xfrm rot="0">
            <a:off x="6531921" y="3468738"/>
            <a:ext cx="5224167" cy="38100"/>
            <a:chOff x="0" y="0"/>
            <a:chExt cx="6965556" cy="50800"/>
          </a:xfrm>
        </p:grpSpPr>
        <p:sp>
          <p:nvSpPr>
            <p:cNvPr name="Freeform 15" id="15"/>
            <p:cNvSpPr/>
            <p:nvPr/>
          </p:nvSpPr>
          <p:spPr>
            <a:xfrm flipH="false" flipV="false" rot="0">
              <a:off x="0" y="0"/>
              <a:ext cx="6965569" cy="50800"/>
            </a:xfrm>
            <a:custGeom>
              <a:avLst/>
              <a:gdLst/>
              <a:ahLst/>
              <a:cxnLst/>
              <a:rect r="r" b="b" t="t" l="l"/>
              <a:pathLst>
                <a:path h="50800" w="6965569">
                  <a:moveTo>
                    <a:pt x="0" y="0"/>
                  </a:moveTo>
                  <a:lnTo>
                    <a:pt x="6965569" y="0"/>
                  </a:lnTo>
                  <a:lnTo>
                    <a:pt x="6965569" y="50800"/>
                  </a:lnTo>
                  <a:lnTo>
                    <a:pt x="0" y="50800"/>
                  </a:lnTo>
                  <a:close/>
                </a:path>
              </a:pathLst>
            </a:custGeom>
            <a:solidFill>
              <a:srgbClr val="29DDDA"/>
            </a:solidFill>
          </p:spPr>
        </p:sp>
      </p:grpSp>
      <p:sp>
        <p:nvSpPr>
          <p:cNvPr name="TextBox 16" id="16"/>
          <p:cNvSpPr txBox="true"/>
          <p:nvPr/>
        </p:nvSpPr>
        <p:spPr>
          <a:xfrm rot="0">
            <a:off x="6531921" y="3668316"/>
            <a:ext cx="3927719" cy="414633"/>
          </a:xfrm>
          <a:prstGeom prst="rect">
            <a:avLst/>
          </a:prstGeom>
        </p:spPr>
        <p:txBody>
          <a:bodyPr anchor="t" rtlCol="false" tIns="0" lIns="0" bIns="0" rIns="0">
            <a:spAutoFit/>
          </a:bodyPr>
          <a:lstStyle/>
          <a:p>
            <a:pPr algn="l">
              <a:lnSpc>
                <a:spcPts val="3062"/>
              </a:lnSpc>
            </a:pPr>
            <a:r>
              <a:rPr lang="en-US" sz="2437" b="true">
                <a:solidFill>
                  <a:srgbClr val="E0E4E6"/>
                </a:solidFill>
                <a:latin typeface="Arimo Bold"/>
                <a:ea typeface="Arimo Bold"/>
                <a:cs typeface="Arimo Bold"/>
                <a:sym typeface="Arimo Bold"/>
              </a:rPr>
              <a:t>Feasible  Headers</a:t>
            </a:r>
          </a:p>
        </p:txBody>
      </p:sp>
      <p:sp>
        <p:nvSpPr>
          <p:cNvPr name="TextBox 17" id="17"/>
          <p:cNvSpPr txBox="true"/>
          <p:nvPr/>
        </p:nvSpPr>
        <p:spPr>
          <a:xfrm rot="0">
            <a:off x="6531921" y="4161530"/>
            <a:ext cx="5224167" cy="2248348"/>
          </a:xfrm>
          <a:prstGeom prst="rect">
            <a:avLst/>
          </a:prstGeom>
        </p:spPr>
        <p:txBody>
          <a:bodyPr anchor="t" rtlCol="false" tIns="0" lIns="0" bIns="0" rIns="0">
            <a:spAutoFit/>
          </a:bodyPr>
          <a:lstStyle/>
          <a:p>
            <a:pPr algn="l">
              <a:lnSpc>
                <a:spcPts val="3375"/>
              </a:lnSpc>
            </a:pPr>
            <a:r>
              <a:rPr lang="en-US" sz="2187">
                <a:solidFill>
                  <a:srgbClr val="E0E4E6"/>
                </a:solidFill>
                <a:latin typeface="Barlow"/>
                <a:ea typeface="Barlow"/>
                <a:cs typeface="Barlow"/>
                <a:sym typeface="Barlow"/>
              </a:rPr>
              <a:t>Converted all column names to </a:t>
            </a:r>
            <a:r>
              <a:rPr lang="en-US" sz="2187" b="true">
                <a:solidFill>
                  <a:srgbClr val="E0E4E6"/>
                </a:solidFill>
                <a:latin typeface="Barlow Bold"/>
                <a:ea typeface="Barlow Bold"/>
                <a:cs typeface="Barlow Bold"/>
                <a:sym typeface="Barlow Bold"/>
              </a:rPr>
              <a:t>snake_case</a:t>
            </a:r>
            <a:r>
              <a:rPr lang="en-US" sz="2187">
                <a:solidFill>
                  <a:srgbClr val="E0E4E6"/>
                </a:solidFill>
                <a:latin typeface="Barlow"/>
                <a:ea typeface="Barlow"/>
                <a:cs typeface="Barlow"/>
                <a:sym typeface="Barlow"/>
              </a:rPr>
              <a:t> (lowercase_with_underscores). Removed periods and trailing spaces to prevent programming errors.</a:t>
            </a:r>
          </a:p>
        </p:txBody>
      </p:sp>
      <p:sp>
        <p:nvSpPr>
          <p:cNvPr name="TextBox 18" id="18"/>
          <p:cNvSpPr txBox="true"/>
          <p:nvPr/>
        </p:nvSpPr>
        <p:spPr>
          <a:xfrm rot="0">
            <a:off x="12013997" y="2936977"/>
            <a:ext cx="569862" cy="441874"/>
          </a:xfrm>
          <a:prstGeom prst="rect">
            <a:avLst/>
          </a:prstGeom>
        </p:spPr>
        <p:txBody>
          <a:bodyPr anchor="t" rtlCol="false" tIns="0" lIns="0" bIns="0" rIns="0">
            <a:spAutoFit/>
          </a:bodyPr>
          <a:lstStyle/>
          <a:p>
            <a:pPr algn="l">
              <a:lnSpc>
                <a:spcPts val="3375"/>
              </a:lnSpc>
            </a:pPr>
            <a:r>
              <a:rPr lang="en-US" sz="2187">
                <a:solidFill>
                  <a:srgbClr val="E0E4E6"/>
                </a:solidFill>
                <a:latin typeface="Arimo"/>
                <a:ea typeface="Arimo"/>
                <a:cs typeface="Arimo"/>
                <a:sym typeface="Arimo"/>
              </a:rPr>
              <a:t>03</a:t>
            </a:r>
          </a:p>
        </p:txBody>
      </p:sp>
      <p:grpSp>
        <p:nvGrpSpPr>
          <p:cNvPr name="Group 19" id="19"/>
          <p:cNvGrpSpPr/>
          <p:nvPr/>
        </p:nvGrpSpPr>
        <p:grpSpPr>
          <a:xfrm rot="0">
            <a:off x="12013997" y="3468738"/>
            <a:ext cx="5224167" cy="38100"/>
            <a:chOff x="0" y="0"/>
            <a:chExt cx="6965556" cy="50800"/>
          </a:xfrm>
        </p:grpSpPr>
        <p:sp>
          <p:nvSpPr>
            <p:cNvPr name="Freeform 20" id="20"/>
            <p:cNvSpPr/>
            <p:nvPr/>
          </p:nvSpPr>
          <p:spPr>
            <a:xfrm flipH="false" flipV="false" rot="0">
              <a:off x="0" y="0"/>
              <a:ext cx="6965569" cy="50800"/>
            </a:xfrm>
            <a:custGeom>
              <a:avLst/>
              <a:gdLst/>
              <a:ahLst/>
              <a:cxnLst/>
              <a:rect r="r" b="b" t="t" l="l"/>
              <a:pathLst>
                <a:path h="50800" w="6965569">
                  <a:moveTo>
                    <a:pt x="0" y="0"/>
                  </a:moveTo>
                  <a:lnTo>
                    <a:pt x="6965569" y="0"/>
                  </a:lnTo>
                  <a:lnTo>
                    <a:pt x="6965569" y="50800"/>
                  </a:lnTo>
                  <a:lnTo>
                    <a:pt x="0" y="50800"/>
                  </a:lnTo>
                  <a:close/>
                </a:path>
              </a:pathLst>
            </a:custGeom>
            <a:solidFill>
              <a:srgbClr val="37A7E7"/>
            </a:solidFill>
          </p:spPr>
        </p:sp>
      </p:grpSp>
      <p:sp>
        <p:nvSpPr>
          <p:cNvPr name="TextBox 21" id="21"/>
          <p:cNvSpPr txBox="true"/>
          <p:nvPr/>
        </p:nvSpPr>
        <p:spPr>
          <a:xfrm rot="0">
            <a:off x="12013997" y="3668316"/>
            <a:ext cx="3166167" cy="414633"/>
          </a:xfrm>
          <a:prstGeom prst="rect">
            <a:avLst/>
          </a:prstGeom>
        </p:spPr>
        <p:txBody>
          <a:bodyPr anchor="t" rtlCol="false" tIns="0" lIns="0" bIns="0" rIns="0">
            <a:spAutoFit/>
          </a:bodyPr>
          <a:lstStyle/>
          <a:p>
            <a:pPr algn="l">
              <a:lnSpc>
                <a:spcPts val="3062"/>
              </a:lnSpc>
            </a:pPr>
            <a:r>
              <a:rPr lang="en-US" sz="2437" b="true">
                <a:solidFill>
                  <a:srgbClr val="E0E4E6"/>
                </a:solidFill>
                <a:latin typeface="Arimo Bold"/>
                <a:ea typeface="Arimo Bold"/>
                <a:cs typeface="Arimo Bold"/>
                <a:sym typeface="Arimo Bold"/>
              </a:rPr>
              <a:t>Temporal Filtering</a:t>
            </a:r>
          </a:p>
        </p:txBody>
      </p:sp>
      <p:sp>
        <p:nvSpPr>
          <p:cNvPr name="TextBox 22" id="22"/>
          <p:cNvSpPr txBox="true"/>
          <p:nvPr/>
        </p:nvSpPr>
        <p:spPr>
          <a:xfrm rot="0">
            <a:off x="12013997" y="4161530"/>
            <a:ext cx="5224167" cy="1379487"/>
          </a:xfrm>
          <a:prstGeom prst="rect">
            <a:avLst/>
          </a:prstGeom>
        </p:spPr>
        <p:txBody>
          <a:bodyPr anchor="t" rtlCol="false" tIns="0" lIns="0" bIns="0" rIns="0">
            <a:spAutoFit/>
          </a:bodyPr>
          <a:lstStyle/>
          <a:p>
            <a:pPr algn="l">
              <a:lnSpc>
                <a:spcPts val="3375"/>
              </a:lnSpc>
            </a:pPr>
            <a:r>
              <a:rPr lang="en-US" sz="2187">
                <a:solidFill>
                  <a:srgbClr val="E0E4E6"/>
                </a:solidFill>
                <a:latin typeface="Barlow"/>
                <a:ea typeface="Barlow"/>
                <a:cs typeface="Barlow"/>
                <a:sym typeface="Barlow"/>
              </a:rPr>
              <a:t>Filtered to records from </a:t>
            </a:r>
            <a:r>
              <a:rPr lang="en-US" sz="2187" b="true">
                <a:solidFill>
                  <a:srgbClr val="E0E4E6"/>
                </a:solidFill>
                <a:latin typeface="Barlow Bold"/>
                <a:ea typeface="Barlow Bold"/>
                <a:cs typeface="Barlow Bold"/>
                <a:sym typeface="Barlow Bold"/>
              </a:rPr>
              <a:t>1900–2017</a:t>
            </a:r>
            <a:r>
              <a:rPr lang="en-US" sz="2187">
                <a:solidFill>
                  <a:srgbClr val="E0E4E6"/>
                </a:solidFill>
                <a:latin typeface="Barlow"/>
                <a:ea typeface="Barlow"/>
                <a:cs typeface="Barlow"/>
                <a:sym typeface="Barlow"/>
              </a:rPr>
              <a:t> only. Removed invalid/null years to ensure a reliable 117-year trend analysis.</a:t>
            </a:r>
          </a:p>
        </p:txBody>
      </p:sp>
      <p:sp>
        <p:nvSpPr>
          <p:cNvPr name="TextBox 23" id="23"/>
          <p:cNvSpPr txBox="true"/>
          <p:nvPr/>
        </p:nvSpPr>
        <p:spPr>
          <a:xfrm rot="0">
            <a:off x="1049836" y="6795792"/>
            <a:ext cx="569862" cy="441874"/>
          </a:xfrm>
          <a:prstGeom prst="rect">
            <a:avLst/>
          </a:prstGeom>
        </p:spPr>
        <p:txBody>
          <a:bodyPr anchor="t" rtlCol="false" tIns="0" lIns="0" bIns="0" rIns="0">
            <a:spAutoFit/>
          </a:bodyPr>
          <a:lstStyle/>
          <a:p>
            <a:pPr algn="l">
              <a:lnSpc>
                <a:spcPts val="3375"/>
              </a:lnSpc>
            </a:pPr>
            <a:r>
              <a:rPr lang="en-US" sz="2187">
                <a:solidFill>
                  <a:srgbClr val="E0E4E6"/>
                </a:solidFill>
                <a:latin typeface="Arimo"/>
                <a:ea typeface="Arimo"/>
                <a:cs typeface="Arimo"/>
                <a:sym typeface="Arimo"/>
              </a:rPr>
              <a:t>04</a:t>
            </a:r>
          </a:p>
        </p:txBody>
      </p:sp>
      <p:grpSp>
        <p:nvGrpSpPr>
          <p:cNvPr name="Group 24" id="24"/>
          <p:cNvGrpSpPr/>
          <p:nvPr/>
        </p:nvGrpSpPr>
        <p:grpSpPr>
          <a:xfrm rot="0">
            <a:off x="1049836" y="7327554"/>
            <a:ext cx="7965129" cy="38100"/>
            <a:chOff x="0" y="0"/>
            <a:chExt cx="10620172" cy="50800"/>
          </a:xfrm>
        </p:grpSpPr>
        <p:sp>
          <p:nvSpPr>
            <p:cNvPr name="Freeform 25" id="25"/>
            <p:cNvSpPr/>
            <p:nvPr/>
          </p:nvSpPr>
          <p:spPr>
            <a:xfrm flipH="false" flipV="false" rot="0">
              <a:off x="0" y="0"/>
              <a:ext cx="10620121" cy="50800"/>
            </a:xfrm>
            <a:custGeom>
              <a:avLst/>
              <a:gdLst/>
              <a:ahLst/>
              <a:cxnLst/>
              <a:rect r="r" b="b" t="t" l="l"/>
              <a:pathLst>
                <a:path h="50800" w="10620121">
                  <a:moveTo>
                    <a:pt x="0" y="0"/>
                  </a:moveTo>
                  <a:lnTo>
                    <a:pt x="10620121" y="0"/>
                  </a:lnTo>
                  <a:lnTo>
                    <a:pt x="10620121" y="50800"/>
                  </a:lnTo>
                  <a:lnTo>
                    <a:pt x="0" y="50800"/>
                  </a:lnTo>
                  <a:close/>
                </a:path>
              </a:pathLst>
            </a:custGeom>
            <a:solidFill>
              <a:srgbClr val="BDD7EE"/>
            </a:solidFill>
          </p:spPr>
        </p:sp>
      </p:grpSp>
      <p:sp>
        <p:nvSpPr>
          <p:cNvPr name="TextBox 26" id="26"/>
          <p:cNvSpPr txBox="true"/>
          <p:nvPr/>
        </p:nvSpPr>
        <p:spPr>
          <a:xfrm rot="0">
            <a:off x="1049836" y="7527131"/>
            <a:ext cx="4158853" cy="414633"/>
          </a:xfrm>
          <a:prstGeom prst="rect">
            <a:avLst/>
          </a:prstGeom>
        </p:spPr>
        <p:txBody>
          <a:bodyPr anchor="t" rtlCol="false" tIns="0" lIns="0" bIns="0" rIns="0">
            <a:spAutoFit/>
          </a:bodyPr>
          <a:lstStyle/>
          <a:p>
            <a:pPr algn="l">
              <a:lnSpc>
                <a:spcPts val="3062"/>
              </a:lnSpc>
            </a:pPr>
            <a:r>
              <a:rPr lang="en-US" sz="2437" b="true">
                <a:solidFill>
                  <a:srgbClr val="E0E4E6"/>
                </a:solidFill>
                <a:latin typeface="Arimo Bold"/>
                <a:ea typeface="Arimo Bold"/>
                <a:cs typeface="Arimo Bold"/>
                <a:sym typeface="Arimo Bold"/>
              </a:rPr>
              <a:t>Sex &amp; Gender Normalization</a:t>
            </a:r>
          </a:p>
        </p:txBody>
      </p:sp>
      <p:sp>
        <p:nvSpPr>
          <p:cNvPr name="TextBox 27" id="27"/>
          <p:cNvSpPr txBox="true"/>
          <p:nvPr/>
        </p:nvSpPr>
        <p:spPr>
          <a:xfrm rot="0">
            <a:off x="1049836" y="8020345"/>
            <a:ext cx="7965129" cy="945061"/>
          </a:xfrm>
          <a:prstGeom prst="rect">
            <a:avLst/>
          </a:prstGeom>
        </p:spPr>
        <p:txBody>
          <a:bodyPr anchor="t" rtlCol="false" tIns="0" lIns="0" bIns="0" rIns="0">
            <a:spAutoFit/>
          </a:bodyPr>
          <a:lstStyle/>
          <a:p>
            <a:pPr algn="l">
              <a:lnSpc>
                <a:spcPts val="3375"/>
              </a:lnSpc>
            </a:pPr>
            <a:r>
              <a:rPr lang="en-US" sz="2187">
                <a:solidFill>
                  <a:srgbClr val="E0E4E6"/>
                </a:solidFill>
                <a:latin typeface="Barlow"/>
                <a:ea typeface="Barlow"/>
                <a:cs typeface="Barlow"/>
                <a:sym typeface="Barlow"/>
              </a:rPr>
              <a:t>Consolidated "M", "male", "F", and "female" into three clean categories: </a:t>
            </a:r>
            <a:r>
              <a:rPr lang="en-US" sz="2187" b="true">
                <a:solidFill>
                  <a:srgbClr val="E0E4E6"/>
                </a:solidFill>
                <a:latin typeface="Barlow Bold"/>
                <a:ea typeface="Barlow Bold"/>
                <a:cs typeface="Barlow Bold"/>
                <a:sym typeface="Barlow Bold"/>
              </a:rPr>
              <a:t>Male (80%)</a:t>
            </a:r>
            <a:r>
              <a:rPr lang="en-US" sz="2187">
                <a:solidFill>
                  <a:srgbClr val="E0E4E6"/>
                </a:solidFill>
                <a:latin typeface="Barlow"/>
                <a:ea typeface="Barlow"/>
                <a:cs typeface="Barlow"/>
                <a:sym typeface="Barlow"/>
              </a:rPr>
              <a:t>, </a:t>
            </a:r>
            <a:r>
              <a:rPr lang="en-US" sz="2187" b="true">
                <a:solidFill>
                  <a:srgbClr val="E0E4E6"/>
                </a:solidFill>
                <a:latin typeface="Barlow Bold"/>
                <a:ea typeface="Barlow Bold"/>
                <a:cs typeface="Barlow Bold"/>
                <a:sym typeface="Barlow Bold"/>
              </a:rPr>
              <a:t>Female (10.5%)</a:t>
            </a:r>
            <a:r>
              <a:rPr lang="en-US" sz="2187">
                <a:solidFill>
                  <a:srgbClr val="E0E4E6"/>
                </a:solidFill>
                <a:latin typeface="Barlow"/>
                <a:ea typeface="Barlow"/>
                <a:cs typeface="Barlow"/>
                <a:sym typeface="Barlow"/>
              </a:rPr>
              <a:t>, and </a:t>
            </a:r>
            <a:r>
              <a:rPr lang="en-US" sz="2187" b="true">
                <a:solidFill>
                  <a:srgbClr val="E0E4E6"/>
                </a:solidFill>
                <a:latin typeface="Barlow Bold"/>
                <a:ea typeface="Barlow Bold"/>
                <a:cs typeface="Barlow Bold"/>
                <a:sym typeface="Barlow Bold"/>
              </a:rPr>
              <a:t>Unknown</a:t>
            </a:r>
            <a:r>
              <a:rPr lang="en-US" sz="2187">
                <a:solidFill>
                  <a:srgbClr val="E0E4E6"/>
                </a:solidFill>
                <a:latin typeface="Barlow"/>
                <a:ea typeface="Barlow"/>
                <a:cs typeface="Barlow"/>
                <a:sym typeface="Barlow"/>
              </a:rPr>
              <a:t>.</a:t>
            </a:r>
          </a:p>
        </p:txBody>
      </p:sp>
      <p:sp>
        <p:nvSpPr>
          <p:cNvPr name="TextBox 28" id="28"/>
          <p:cNvSpPr txBox="true"/>
          <p:nvPr/>
        </p:nvSpPr>
        <p:spPr>
          <a:xfrm rot="0">
            <a:off x="9272883" y="6795792"/>
            <a:ext cx="569862" cy="441874"/>
          </a:xfrm>
          <a:prstGeom prst="rect">
            <a:avLst/>
          </a:prstGeom>
        </p:spPr>
        <p:txBody>
          <a:bodyPr anchor="t" rtlCol="false" tIns="0" lIns="0" bIns="0" rIns="0">
            <a:spAutoFit/>
          </a:bodyPr>
          <a:lstStyle/>
          <a:p>
            <a:pPr algn="l">
              <a:lnSpc>
                <a:spcPts val="3375"/>
              </a:lnSpc>
            </a:pPr>
            <a:r>
              <a:rPr lang="en-US" sz="2187">
                <a:solidFill>
                  <a:srgbClr val="E0E4E6"/>
                </a:solidFill>
                <a:latin typeface="Arimo"/>
                <a:ea typeface="Arimo"/>
                <a:cs typeface="Arimo"/>
                <a:sym typeface="Arimo"/>
              </a:rPr>
              <a:t>05</a:t>
            </a:r>
          </a:p>
        </p:txBody>
      </p:sp>
      <p:grpSp>
        <p:nvGrpSpPr>
          <p:cNvPr name="Group 29" id="29"/>
          <p:cNvGrpSpPr/>
          <p:nvPr/>
        </p:nvGrpSpPr>
        <p:grpSpPr>
          <a:xfrm rot="0">
            <a:off x="9272883" y="7327554"/>
            <a:ext cx="7965281" cy="38100"/>
            <a:chOff x="0" y="0"/>
            <a:chExt cx="10620375" cy="50800"/>
          </a:xfrm>
        </p:grpSpPr>
        <p:sp>
          <p:nvSpPr>
            <p:cNvPr name="Freeform 30" id="30"/>
            <p:cNvSpPr/>
            <p:nvPr/>
          </p:nvSpPr>
          <p:spPr>
            <a:xfrm flipH="false" flipV="false" rot="0">
              <a:off x="0" y="0"/>
              <a:ext cx="10620375" cy="50800"/>
            </a:xfrm>
            <a:custGeom>
              <a:avLst/>
              <a:gdLst/>
              <a:ahLst/>
              <a:cxnLst/>
              <a:rect r="r" b="b" t="t" l="l"/>
              <a:pathLst>
                <a:path h="50800" w="10620375">
                  <a:moveTo>
                    <a:pt x="0" y="0"/>
                  </a:moveTo>
                  <a:lnTo>
                    <a:pt x="10620375" y="0"/>
                  </a:lnTo>
                  <a:lnTo>
                    <a:pt x="10620375" y="50800"/>
                  </a:lnTo>
                  <a:lnTo>
                    <a:pt x="0" y="50800"/>
                  </a:lnTo>
                  <a:close/>
                </a:path>
              </a:pathLst>
            </a:custGeom>
            <a:solidFill>
              <a:srgbClr val="16FFBB"/>
            </a:solidFill>
          </p:spPr>
        </p:sp>
      </p:grpSp>
      <p:sp>
        <p:nvSpPr>
          <p:cNvPr name="TextBox 31" id="31"/>
          <p:cNvSpPr txBox="true"/>
          <p:nvPr/>
        </p:nvSpPr>
        <p:spPr>
          <a:xfrm rot="0">
            <a:off x="9272883" y="7527131"/>
            <a:ext cx="5907281" cy="382588"/>
          </a:xfrm>
          <a:prstGeom prst="rect">
            <a:avLst/>
          </a:prstGeom>
        </p:spPr>
        <p:txBody>
          <a:bodyPr anchor="t" rtlCol="false" tIns="0" lIns="0" bIns="0" rIns="0">
            <a:spAutoFit/>
          </a:bodyPr>
          <a:lstStyle/>
          <a:p>
            <a:pPr algn="l">
              <a:lnSpc>
                <a:spcPts val="3062"/>
              </a:lnSpc>
            </a:pPr>
            <a:r>
              <a:rPr lang="en-US" sz="2437" b="true">
                <a:solidFill>
                  <a:srgbClr val="E0E4E6"/>
                </a:solidFill>
                <a:latin typeface="Arimo Bold"/>
                <a:ea typeface="Arimo Bold"/>
                <a:cs typeface="Arimo Bold"/>
                <a:sym typeface="Arimo Bold"/>
              </a:rPr>
              <a:t>Numeric Conversion (Fatal Status)</a:t>
            </a:r>
          </a:p>
        </p:txBody>
      </p:sp>
      <p:sp>
        <p:nvSpPr>
          <p:cNvPr name="TextBox 32" id="32"/>
          <p:cNvSpPr txBox="true"/>
          <p:nvPr/>
        </p:nvSpPr>
        <p:spPr>
          <a:xfrm rot="0">
            <a:off x="9272883" y="8020345"/>
            <a:ext cx="7965281" cy="945061"/>
          </a:xfrm>
          <a:prstGeom prst="rect">
            <a:avLst/>
          </a:prstGeom>
        </p:spPr>
        <p:txBody>
          <a:bodyPr anchor="t" rtlCol="false" tIns="0" lIns="0" bIns="0" rIns="0">
            <a:spAutoFit/>
          </a:bodyPr>
          <a:lstStyle/>
          <a:p>
            <a:pPr algn="l">
              <a:lnSpc>
                <a:spcPts val="3375"/>
              </a:lnSpc>
            </a:pPr>
            <a:r>
              <a:rPr lang="en-US" sz="2187">
                <a:solidFill>
                  <a:srgbClr val="E0E4E6"/>
                </a:solidFill>
                <a:latin typeface="Barlow"/>
                <a:ea typeface="Barlow"/>
                <a:cs typeface="Barlow"/>
                <a:sym typeface="Barlow"/>
              </a:rPr>
              <a:t>Transformed text ("Yes"/"No") into </a:t>
            </a:r>
            <a:r>
              <a:rPr lang="en-US" sz="2187" b="true">
                <a:solidFill>
                  <a:srgbClr val="E0E4E6"/>
                </a:solidFill>
                <a:latin typeface="Barlow Bold"/>
                <a:ea typeface="Barlow Bold"/>
                <a:cs typeface="Barlow Bold"/>
                <a:sym typeface="Barlow Bold"/>
              </a:rPr>
              <a:t>Binary Numeric (1 / 0)</a:t>
            </a:r>
            <a:r>
              <a:rPr lang="en-US" sz="2187">
                <a:solidFill>
                  <a:srgbClr val="E0E4E6"/>
                </a:solidFill>
                <a:latin typeface="Barlow"/>
                <a:ea typeface="Barlow"/>
                <a:cs typeface="Barlow"/>
                <a:sym typeface="Barlow"/>
              </a:rPr>
              <a:t>. Enables advanced statistical risk modeling and survival rate calculations.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grpSp>
        <p:nvGrpSpPr>
          <p:cNvPr name="Group 6" id="6"/>
          <p:cNvGrpSpPr/>
          <p:nvPr/>
        </p:nvGrpSpPr>
        <p:grpSpPr>
          <a:xfrm rot="0">
            <a:off x="1038377" y="2123332"/>
            <a:ext cx="6693871" cy="2336235"/>
            <a:chOff x="0" y="0"/>
            <a:chExt cx="8925161" cy="3114980"/>
          </a:xfrm>
        </p:grpSpPr>
        <p:grpSp>
          <p:nvGrpSpPr>
            <p:cNvPr name="Group 7" id="7"/>
            <p:cNvGrpSpPr/>
            <p:nvPr/>
          </p:nvGrpSpPr>
          <p:grpSpPr>
            <a:xfrm rot="0">
              <a:off x="0" y="23860"/>
              <a:ext cx="190881" cy="3067259"/>
              <a:chOff x="0" y="0"/>
              <a:chExt cx="152400" cy="2448916"/>
            </a:xfrm>
          </p:grpSpPr>
          <p:sp>
            <p:nvSpPr>
              <p:cNvPr name="Freeform 8" id="8"/>
              <p:cNvSpPr/>
              <p:nvPr/>
            </p:nvSpPr>
            <p:spPr>
              <a:xfrm flipH="false" flipV="false" rot="0">
                <a:off x="0" y="0"/>
                <a:ext cx="152400" cy="2448941"/>
              </a:xfrm>
              <a:custGeom>
                <a:avLst/>
                <a:gdLst/>
                <a:ahLst/>
                <a:cxnLst/>
                <a:rect r="r" b="b" t="t" l="l"/>
                <a:pathLst>
                  <a:path h="2448941" w="152400">
                    <a:moveTo>
                      <a:pt x="0" y="76200"/>
                    </a:moveTo>
                    <a:cubicBezTo>
                      <a:pt x="0" y="34163"/>
                      <a:pt x="34163" y="0"/>
                      <a:pt x="76200" y="0"/>
                    </a:cubicBezTo>
                    <a:cubicBezTo>
                      <a:pt x="118237" y="0"/>
                      <a:pt x="152400" y="34163"/>
                      <a:pt x="152400" y="76200"/>
                    </a:cubicBezTo>
                    <a:lnTo>
                      <a:pt x="152400" y="2372741"/>
                    </a:lnTo>
                    <a:cubicBezTo>
                      <a:pt x="152400" y="2414778"/>
                      <a:pt x="118237" y="2448941"/>
                      <a:pt x="76200" y="2448941"/>
                    </a:cubicBezTo>
                    <a:cubicBezTo>
                      <a:pt x="34163" y="2448941"/>
                      <a:pt x="0" y="2414778"/>
                      <a:pt x="0" y="2372741"/>
                    </a:cubicBezTo>
                    <a:close/>
                  </a:path>
                </a:pathLst>
              </a:custGeom>
              <a:solidFill>
                <a:srgbClr val="16FFBB"/>
              </a:solidFill>
            </p:spPr>
          </p:sp>
        </p:grpSp>
        <p:grpSp>
          <p:nvGrpSpPr>
            <p:cNvPr name="Group 9" id="9"/>
            <p:cNvGrpSpPr/>
            <p:nvPr/>
          </p:nvGrpSpPr>
          <p:grpSpPr>
            <a:xfrm rot="0">
              <a:off x="23860" y="0"/>
              <a:ext cx="8901301" cy="3114980"/>
              <a:chOff x="0" y="0"/>
              <a:chExt cx="7106844" cy="2487016"/>
            </a:xfrm>
          </p:grpSpPr>
          <p:sp>
            <p:nvSpPr>
              <p:cNvPr name="Freeform 10" id="10"/>
              <p:cNvSpPr/>
              <p:nvPr/>
            </p:nvSpPr>
            <p:spPr>
              <a:xfrm flipH="false" flipV="false" rot="0">
                <a:off x="19050" y="19050"/>
                <a:ext cx="7068820" cy="2448941"/>
              </a:xfrm>
              <a:custGeom>
                <a:avLst/>
                <a:gdLst/>
                <a:ahLst/>
                <a:cxnLst/>
                <a:rect r="r" b="b" t="t" l="l"/>
                <a:pathLst>
                  <a:path h="2448941" w="7068820">
                    <a:moveTo>
                      <a:pt x="0" y="182880"/>
                    </a:moveTo>
                    <a:cubicBezTo>
                      <a:pt x="0" y="81915"/>
                      <a:pt x="82677" y="0"/>
                      <a:pt x="184785" y="0"/>
                    </a:cubicBezTo>
                    <a:lnTo>
                      <a:pt x="6884035" y="0"/>
                    </a:lnTo>
                    <a:cubicBezTo>
                      <a:pt x="6986016" y="0"/>
                      <a:pt x="7068820" y="81915"/>
                      <a:pt x="7068820" y="182880"/>
                    </a:cubicBezTo>
                    <a:lnTo>
                      <a:pt x="7068820" y="2266061"/>
                    </a:lnTo>
                    <a:cubicBezTo>
                      <a:pt x="7068820" y="2367026"/>
                      <a:pt x="6986143" y="2448941"/>
                      <a:pt x="6884035" y="2448941"/>
                    </a:cubicBezTo>
                    <a:lnTo>
                      <a:pt x="184785" y="2448941"/>
                    </a:lnTo>
                    <a:cubicBezTo>
                      <a:pt x="82804" y="2448941"/>
                      <a:pt x="0" y="2367026"/>
                      <a:pt x="0" y="2266061"/>
                    </a:cubicBezTo>
                    <a:close/>
                  </a:path>
                </a:pathLst>
              </a:custGeom>
              <a:solidFill>
                <a:srgbClr val="0A081B">
                  <a:alpha val="56078"/>
                </a:srgbClr>
              </a:solidFill>
            </p:spPr>
          </p:sp>
          <p:sp>
            <p:nvSpPr>
              <p:cNvPr name="Freeform 11" id="11"/>
              <p:cNvSpPr/>
              <p:nvPr/>
            </p:nvSpPr>
            <p:spPr>
              <a:xfrm flipH="false" flipV="false" rot="0">
                <a:off x="0" y="0"/>
                <a:ext cx="7106920" cy="2487041"/>
              </a:xfrm>
              <a:custGeom>
                <a:avLst/>
                <a:gdLst/>
                <a:ahLst/>
                <a:cxnLst/>
                <a:rect r="r" b="b" t="t" l="l"/>
                <a:pathLst>
                  <a:path h="2487041" w="7106920">
                    <a:moveTo>
                      <a:pt x="0" y="201930"/>
                    </a:moveTo>
                    <a:cubicBezTo>
                      <a:pt x="0" y="90170"/>
                      <a:pt x="91440" y="0"/>
                      <a:pt x="203835" y="0"/>
                    </a:cubicBezTo>
                    <a:lnTo>
                      <a:pt x="6903085" y="0"/>
                    </a:lnTo>
                    <a:lnTo>
                      <a:pt x="6903085" y="19050"/>
                    </a:lnTo>
                    <a:lnTo>
                      <a:pt x="6903085" y="0"/>
                    </a:lnTo>
                    <a:cubicBezTo>
                      <a:pt x="7015480" y="0"/>
                      <a:pt x="7106920" y="90170"/>
                      <a:pt x="7106920" y="201930"/>
                    </a:cubicBezTo>
                    <a:lnTo>
                      <a:pt x="7087870" y="201930"/>
                    </a:lnTo>
                    <a:lnTo>
                      <a:pt x="7106920" y="201930"/>
                    </a:lnTo>
                    <a:lnTo>
                      <a:pt x="7106920" y="2285111"/>
                    </a:lnTo>
                    <a:lnTo>
                      <a:pt x="7087870" y="2285111"/>
                    </a:lnTo>
                    <a:lnTo>
                      <a:pt x="7106920" y="2285111"/>
                    </a:lnTo>
                    <a:cubicBezTo>
                      <a:pt x="7106920" y="2396871"/>
                      <a:pt x="7015480" y="2487041"/>
                      <a:pt x="6903085" y="2487041"/>
                    </a:cubicBezTo>
                    <a:lnTo>
                      <a:pt x="6903085" y="2467991"/>
                    </a:lnTo>
                    <a:lnTo>
                      <a:pt x="6903085" y="2487041"/>
                    </a:lnTo>
                    <a:lnTo>
                      <a:pt x="203835" y="2487041"/>
                    </a:lnTo>
                    <a:lnTo>
                      <a:pt x="203835" y="2467991"/>
                    </a:lnTo>
                    <a:lnTo>
                      <a:pt x="203835" y="2487041"/>
                    </a:lnTo>
                    <a:cubicBezTo>
                      <a:pt x="91440" y="2487041"/>
                      <a:pt x="0" y="2396744"/>
                      <a:pt x="0" y="2285111"/>
                    </a:cubicBezTo>
                    <a:lnTo>
                      <a:pt x="0" y="201930"/>
                    </a:lnTo>
                    <a:lnTo>
                      <a:pt x="19050" y="201930"/>
                    </a:lnTo>
                    <a:lnTo>
                      <a:pt x="0" y="201930"/>
                    </a:lnTo>
                    <a:moveTo>
                      <a:pt x="38100" y="201930"/>
                    </a:moveTo>
                    <a:lnTo>
                      <a:pt x="38100" y="2285111"/>
                    </a:lnTo>
                    <a:lnTo>
                      <a:pt x="19050" y="2285111"/>
                    </a:lnTo>
                    <a:lnTo>
                      <a:pt x="38100" y="2285111"/>
                    </a:lnTo>
                    <a:cubicBezTo>
                      <a:pt x="38100" y="2375408"/>
                      <a:pt x="112141" y="2448941"/>
                      <a:pt x="203835" y="2448941"/>
                    </a:cubicBezTo>
                    <a:lnTo>
                      <a:pt x="6903085" y="2448941"/>
                    </a:lnTo>
                    <a:cubicBezTo>
                      <a:pt x="6994779" y="2448941"/>
                      <a:pt x="7068820" y="2375408"/>
                      <a:pt x="7068820" y="2285111"/>
                    </a:cubicBezTo>
                    <a:lnTo>
                      <a:pt x="7068820" y="201930"/>
                    </a:lnTo>
                    <a:cubicBezTo>
                      <a:pt x="7068820" y="111633"/>
                      <a:pt x="6994779" y="38100"/>
                      <a:pt x="6903085" y="38100"/>
                    </a:cubicBezTo>
                    <a:lnTo>
                      <a:pt x="203835" y="38100"/>
                    </a:lnTo>
                    <a:lnTo>
                      <a:pt x="203835" y="19050"/>
                    </a:lnTo>
                    <a:lnTo>
                      <a:pt x="203835" y="38100"/>
                    </a:lnTo>
                    <a:cubicBezTo>
                      <a:pt x="112141" y="38100"/>
                      <a:pt x="38100" y="111633"/>
                      <a:pt x="38100" y="201930"/>
                    </a:cubicBezTo>
                    <a:close/>
                  </a:path>
                </a:pathLst>
              </a:custGeom>
              <a:solidFill>
                <a:srgbClr val="16FFBB"/>
              </a:solidFill>
            </p:spPr>
          </p:sp>
        </p:grpSp>
        <p:sp>
          <p:nvSpPr>
            <p:cNvPr name="TextBox 12" id="12"/>
            <p:cNvSpPr txBox="true"/>
            <p:nvPr/>
          </p:nvSpPr>
          <p:spPr>
            <a:xfrm rot="0">
              <a:off x="569397" y="554792"/>
              <a:ext cx="7881776" cy="605820"/>
            </a:xfrm>
            <a:prstGeom prst="rect">
              <a:avLst/>
            </a:prstGeom>
          </p:spPr>
          <p:txBody>
            <a:bodyPr anchor="t" rtlCol="false" tIns="0" lIns="0" bIns="0" rIns="0">
              <a:spAutoFit/>
            </a:bodyPr>
            <a:lstStyle/>
            <a:p>
              <a:pPr algn="l">
                <a:lnSpc>
                  <a:spcPts val="2661"/>
                </a:lnSpc>
              </a:pPr>
              <a:r>
                <a:rPr lang="en-US" sz="3757" b="true">
                  <a:solidFill>
                    <a:srgbClr val="E0E4E6"/>
                  </a:solidFill>
                  <a:latin typeface="Arimo Bold"/>
                  <a:ea typeface="Arimo Bold"/>
                  <a:cs typeface="Arimo Bold"/>
                  <a:sym typeface="Arimo Bold"/>
                </a:rPr>
                <a:t>Age Grouping Logic</a:t>
              </a:r>
            </a:p>
          </p:txBody>
        </p:sp>
        <p:sp>
          <p:nvSpPr>
            <p:cNvPr name="TextBox 13" id="13"/>
            <p:cNvSpPr txBox="true"/>
            <p:nvPr/>
          </p:nvSpPr>
          <p:spPr>
            <a:xfrm rot="0">
              <a:off x="497816" y="1522973"/>
              <a:ext cx="7953356" cy="1246784"/>
            </a:xfrm>
            <a:prstGeom prst="rect">
              <a:avLst/>
            </a:prstGeom>
          </p:spPr>
          <p:txBody>
            <a:bodyPr anchor="t" rtlCol="false" tIns="0" lIns="0" bIns="0" rIns="0">
              <a:spAutoFit/>
            </a:bodyPr>
            <a:lstStyle/>
            <a:p>
              <a:pPr algn="l">
                <a:lnSpc>
                  <a:spcPts val="2504"/>
                </a:lnSpc>
              </a:pPr>
              <a:r>
                <a:rPr lang="en-US" sz="2504">
                  <a:solidFill>
                    <a:srgbClr val="E0E4E6"/>
                  </a:solidFill>
                  <a:latin typeface="Barlow"/>
                  <a:ea typeface="Barlow"/>
                  <a:cs typeface="Barlow"/>
                  <a:sym typeface="Barlow"/>
                </a:rPr>
                <a:t>Extracted strings (e.g., "mid-20s" → 25). </a:t>
              </a:r>
            </a:p>
            <a:p>
              <a:pPr algn="l">
                <a:lnSpc>
                  <a:spcPts val="2504"/>
                </a:lnSpc>
              </a:pPr>
              <a:r>
                <a:rPr lang="en-US" sz="2504">
                  <a:solidFill>
                    <a:srgbClr val="E0E4E6"/>
                  </a:solidFill>
                  <a:latin typeface="Barlow"/>
                  <a:ea typeface="Barlow"/>
                  <a:cs typeface="Barlow"/>
                  <a:sym typeface="Barlow"/>
                </a:rPr>
                <a:t>Created life-stage bins: </a:t>
              </a:r>
              <a:r>
                <a:rPr lang="en-US" sz="2504" b="true">
                  <a:solidFill>
                    <a:srgbClr val="E0E4E6"/>
                  </a:solidFill>
                  <a:latin typeface="Barlow Bold"/>
                  <a:ea typeface="Barlow Bold"/>
                  <a:cs typeface="Barlow Bold"/>
                  <a:sym typeface="Barlow Bold"/>
                </a:rPr>
                <a:t>Child, Teen, Adult, and Old</a:t>
              </a:r>
              <a:r>
                <a:rPr lang="en-US" sz="2504">
                  <a:solidFill>
                    <a:srgbClr val="E0E4E6"/>
                  </a:solidFill>
                  <a:latin typeface="Barlow"/>
                  <a:ea typeface="Barlow"/>
                  <a:cs typeface="Barlow"/>
                  <a:sym typeface="Barlow"/>
                </a:rPr>
                <a:t>.</a:t>
              </a:r>
            </a:p>
          </p:txBody>
        </p:sp>
      </p:grpSp>
      <p:grpSp>
        <p:nvGrpSpPr>
          <p:cNvPr name="Group 14" id="14"/>
          <p:cNvGrpSpPr/>
          <p:nvPr/>
        </p:nvGrpSpPr>
        <p:grpSpPr>
          <a:xfrm rot="0">
            <a:off x="8631516" y="2123332"/>
            <a:ext cx="7668414" cy="2336235"/>
            <a:chOff x="0" y="0"/>
            <a:chExt cx="10224551" cy="3114980"/>
          </a:xfrm>
        </p:grpSpPr>
        <p:grpSp>
          <p:nvGrpSpPr>
            <p:cNvPr name="Group 15" id="15"/>
            <p:cNvGrpSpPr/>
            <p:nvPr/>
          </p:nvGrpSpPr>
          <p:grpSpPr>
            <a:xfrm rot="0">
              <a:off x="0" y="7953"/>
              <a:ext cx="218087" cy="3067259"/>
              <a:chOff x="0" y="0"/>
              <a:chExt cx="174122" cy="2448916"/>
            </a:xfrm>
          </p:grpSpPr>
          <p:sp>
            <p:nvSpPr>
              <p:cNvPr name="Freeform 16" id="16"/>
              <p:cNvSpPr/>
              <p:nvPr/>
            </p:nvSpPr>
            <p:spPr>
              <a:xfrm flipH="false" flipV="false" rot="0">
                <a:off x="0" y="0"/>
                <a:ext cx="174122" cy="2448941"/>
              </a:xfrm>
              <a:custGeom>
                <a:avLst/>
                <a:gdLst/>
                <a:ahLst/>
                <a:cxnLst/>
                <a:rect r="r" b="b" t="t" l="l"/>
                <a:pathLst>
                  <a:path h="2448941" w="174122">
                    <a:moveTo>
                      <a:pt x="0" y="76200"/>
                    </a:moveTo>
                    <a:cubicBezTo>
                      <a:pt x="0" y="34163"/>
                      <a:pt x="39032" y="0"/>
                      <a:pt x="87061" y="0"/>
                    </a:cubicBezTo>
                    <a:cubicBezTo>
                      <a:pt x="135090" y="0"/>
                      <a:pt x="174122" y="34163"/>
                      <a:pt x="174122" y="76200"/>
                    </a:cubicBezTo>
                    <a:lnTo>
                      <a:pt x="174122" y="2372741"/>
                    </a:lnTo>
                    <a:cubicBezTo>
                      <a:pt x="174122" y="2414778"/>
                      <a:pt x="135090" y="2448941"/>
                      <a:pt x="87061" y="2448941"/>
                    </a:cubicBezTo>
                    <a:cubicBezTo>
                      <a:pt x="39032" y="2448941"/>
                      <a:pt x="0" y="2414778"/>
                      <a:pt x="0" y="2372741"/>
                    </a:cubicBezTo>
                    <a:close/>
                  </a:path>
                </a:pathLst>
              </a:custGeom>
              <a:solidFill>
                <a:srgbClr val="29DDDA"/>
              </a:solidFill>
            </p:spPr>
          </p:sp>
        </p:grpSp>
        <p:grpSp>
          <p:nvGrpSpPr>
            <p:cNvPr name="Group 17" id="17"/>
            <p:cNvGrpSpPr/>
            <p:nvPr/>
          </p:nvGrpSpPr>
          <p:grpSpPr>
            <a:xfrm rot="0">
              <a:off x="54522" y="0"/>
              <a:ext cx="10170030" cy="3114980"/>
              <a:chOff x="0" y="0"/>
              <a:chExt cx="8119803" cy="2487016"/>
            </a:xfrm>
          </p:grpSpPr>
          <p:sp>
            <p:nvSpPr>
              <p:cNvPr name="Freeform 18" id="18"/>
              <p:cNvSpPr/>
              <p:nvPr/>
            </p:nvSpPr>
            <p:spPr>
              <a:xfrm flipH="false" flipV="false" rot="0">
                <a:off x="21765" y="19050"/>
                <a:ext cx="8076360" cy="2448941"/>
              </a:xfrm>
              <a:custGeom>
                <a:avLst/>
                <a:gdLst/>
                <a:ahLst/>
                <a:cxnLst/>
                <a:rect r="r" b="b" t="t" l="l"/>
                <a:pathLst>
                  <a:path h="2448941" w="8076360">
                    <a:moveTo>
                      <a:pt x="0" y="182880"/>
                    </a:moveTo>
                    <a:cubicBezTo>
                      <a:pt x="0" y="81915"/>
                      <a:pt x="94461" y="0"/>
                      <a:pt x="211123" y="0"/>
                    </a:cubicBezTo>
                    <a:lnTo>
                      <a:pt x="7865237" y="0"/>
                    </a:lnTo>
                    <a:cubicBezTo>
                      <a:pt x="7981754" y="0"/>
                      <a:pt x="8076360" y="81915"/>
                      <a:pt x="8076360" y="182880"/>
                    </a:cubicBezTo>
                    <a:lnTo>
                      <a:pt x="8076360" y="2266061"/>
                    </a:lnTo>
                    <a:cubicBezTo>
                      <a:pt x="8076360" y="2367026"/>
                      <a:pt x="7981899" y="2448941"/>
                      <a:pt x="7865237" y="2448941"/>
                    </a:cubicBezTo>
                    <a:lnTo>
                      <a:pt x="211123" y="2448941"/>
                    </a:lnTo>
                    <a:cubicBezTo>
                      <a:pt x="94607" y="2448941"/>
                      <a:pt x="0" y="2367026"/>
                      <a:pt x="0" y="2266061"/>
                    </a:cubicBezTo>
                    <a:close/>
                  </a:path>
                </a:pathLst>
              </a:custGeom>
              <a:solidFill>
                <a:srgbClr val="0A081B">
                  <a:alpha val="56078"/>
                </a:srgbClr>
              </a:solidFill>
            </p:spPr>
          </p:sp>
          <p:sp>
            <p:nvSpPr>
              <p:cNvPr name="Freeform 19" id="19"/>
              <p:cNvSpPr/>
              <p:nvPr/>
            </p:nvSpPr>
            <p:spPr>
              <a:xfrm flipH="false" flipV="false" rot="0">
                <a:off x="0" y="0"/>
                <a:ext cx="8119880" cy="2487041"/>
              </a:xfrm>
              <a:custGeom>
                <a:avLst/>
                <a:gdLst/>
                <a:ahLst/>
                <a:cxnLst/>
                <a:rect r="r" b="b" t="t" l="l"/>
                <a:pathLst>
                  <a:path h="2487041" w="8119880">
                    <a:moveTo>
                      <a:pt x="0" y="201930"/>
                    </a:moveTo>
                    <a:cubicBezTo>
                      <a:pt x="0" y="90170"/>
                      <a:pt x="104473" y="0"/>
                      <a:pt x="232888" y="0"/>
                    </a:cubicBezTo>
                    <a:lnTo>
                      <a:pt x="7887002" y="0"/>
                    </a:lnTo>
                    <a:lnTo>
                      <a:pt x="7887002" y="19050"/>
                    </a:lnTo>
                    <a:lnTo>
                      <a:pt x="7887002" y="0"/>
                    </a:lnTo>
                    <a:cubicBezTo>
                      <a:pt x="8015418" y="0"/>
                      <a:pt x="8119880" y="90170"/>
                      <a:pt x="8119880" y="201930"/>
                    </a:cubicBezTo>
                    <a:lnTo>
                      <a:pt x="8098125" y="201930"/>
                    </a:lnTo>
                    <a:lnTo>
                      <a:pt x="8119880" y="201930"/>
                    </a:lnTo>
                    <a:lnTo>
                      <a:pt x="8119880" y="2285111"/>
                    </a:lnTo>
                    <a:lnTo>
                      <a:pt x="8098125" y="2285111"/>
                    </a:lnTo>
                    <a:lnTo>
                      <a:pt x="8119880" y="2285111"/>
                    </a:lnTo>
                    <a:cubicBezTo>
                      <a:pt x="8119880" y="2396871"/>
                      <a:pt x="8015418" y="2487041"/>
                      <a:pt x="7887002" y="2487041"/>
                    </a:cubicBezTo>
                    <a:lnTo>
                      <a:pt x="7887002" y="2467991"/>
                    </a:lnTo>
                    <a:lnTo>
                      <a:pt x="7887002" y="2487041"/>
                    </a:lnTo>
                    <a:lnTo>
                      <a:pt x="232888" y="2487041"/>
                    </a:lnTo>
                    <a:lnTo>
                      <a:pt x="232888" y="2467991"/>
                    </a:lnTo>
                    <a:lnTo>
                      <a:pt x="232888" y="2487041"/>
                    </a:lnTo>
                    <a:cubicBezTo>
                      <a:pt x="104473" y="2487041"/>
                      <a:pt x="0" y="2396744"/>
                      <a:pt x="0" y="2285111"/>
                    </a:cubicBezTo>
                    <a:lnTo>
                      <a:pt x="0" y="201930"/>
                    </a:lnTo>
                    <a:lnTo>
                      <a:pt x="21765" y="201930"/>
                    </a:lnTo>
                    <a:lnTo>
                      <a:pt x="0" y="201930"/>
                    </a:lnTo>
                    <a:moveTo>
                      <a:pt x="43531" y="201930"/>
                    </a:moveTo>
                    <a:lnTo>
                      <a:pt x="43531" y="2285111"/>
                    </a:lnTo>
                    <a:lnTo>
                      <a:pt x="21765" y="2285111"/>
                    </a:lnTo>
                    <a:lnTo>
                      <a:pt x="43531" y="2285111"/>
                    </a:lnTo>
                    <a:cubicBezTo>
                      <a:pt x="43531" y="2375408"/>
                      <a:pt x="128125" y="2448941"/>
                      <a:pt x="232888" y="2448941"/>
                    </a:cubicBezTo>
                    <a:lnTo>
                      <a:pt x="7887002" y="2448941"/>
                    </a:lnTo>
                    <a:cubicBezTo>
                      <a:pt x="7991766" y="2448941"/>
                      <a:pt x="8076360" y="2375408"/>
                      <a:pt x="8076360" y="2285111"/>
                    </a:cubicBezTo>
                    <a:lnTo>
                      <a:pt x="8076360" y="201930"/>
                    </a:lnTo>
                    <a:cubicBezTo>
                      <a:pt x="8076360" y="111633"/>
                      <a:pt x="7991766" y="38100"/>
                      <a:pt x="7887002" y="38100"/>
                    </a:cubicBezTo>
                    <a:lnTo>
                      <a:pt x="232888" y="38100"/>
                    </a:lnTo>
                    <a:lnTo>
                      <a:pt x="232888" y="19050"/>
                    </a:lnTo>
                    <a:lnTo>
                      <a:pt x="232888" y="38100"/>
                    </a:lnTo>
                    <a:cubicBezTo>
                      <a:pt x="128125" y="38100"/>
                      <a:pt x="43531" y="111633"/>
                      <a:pt x="43531" y="201930"/>
                    </a:cubicBezTo>
                    <a:close/>
                  </a:path>
                </a:pathLst>
              </a:custGeom>
              <a:solidFill>
                <a:srgbClr val="29DDDA"/>
              </a:solidFill>
            </p:spPr>
          </p:sp>
        </p:grpSp>
        <p:sp>
          <p:nvSpPr>
            <p:cNvPr name="TextBox 20" id="20"/>
            <p:cNvSpPr txBox="true"/>
            <p:nvPr/>
          </p:nvSpPr>
          <p:spPr>
            <a:xfrm rot="0">
              <a:off x="396428" y="488117"/>
              <a:ext cx="8916230" cy="545241"/>
            </a:xfrm>
            <a:prstGeom prst="rect">
              <a:avLst/>
            </a:prstGeom>
          </p:spPr>
          <p:txBody>
            <a:bodyPr anchor="t" rtlCol="false" tIns="0" lIns="0" bIns="0" rIns="0">
              <a:spAutoFit/>
            </a:bodyPr>
            <a:lstStyle/>
            <a:p>
              <a:pPr algn="l">
                <a:lnSpc>
                  <a:spcPts val="2661"/>
                </a:lnSpc>
              </a:pPr>
              <a:r>
                <a:rPr lang="en-US" sz="3131" b="true">
                  <a:solidFill>
                    <a:srgbClr val="E0E4E6"/>
                  </a:solidFill>
                  <a:latin typeface="Arimo Bold"/>
                  <a:ea typeface="Arimo Bold"/>
                  <a:cs typeface="Arimo Bold"/>
                  <a:sym typeface="Arimo Bold"/>
                </a:rPr>
                <a:t>Geographic &amp; Activity Refinement</a:t>
              </a:r>
            </a:p>
          </p:txBody>
        </p:sp>
        <p:sp>
          <p:nvSpPr>
            <p:cNvPr name="TextBox 21" id="21"/>
            <p:cNvSpPr txBox="true"/>
            <p:nvPr/>
          </p:nvSpPr>
          <p:spPr>
            <a:xfrm rot="0">
              <a:off x="596051" y="1441441"/>
              <a:ext cx="9086972" cy="899412"/>
            </a:xfrm>
            <a:prstGeom prst="rect">
              <a:avLst/>
            </a:prstGeom>
          </p:spPr>
          <p:txBody>
            <a:bodyPr anchor="t" rtlCol="false" tIns="0" lIns="0" bIns="0" rIns="0">
              <a:spAutoFit/>
            </a:bodyPr>
            <a:lstStyle/>
            <a:p>
              <a:pPr algn="l">
                <a:lnSpc>
                  <a:spcPts val="2504"/>
                </a:lnSpc>
              </a:pPr>
              <a:r>
                <a:rPr lang="en-US" sz="2818" b="true">
                  <a:solidFill>
                    <a:srgbClr val="E0E4E6"/>
                  </a:solidFill>
                  <a:latin typeface="Barlow Bold"/>
                  <a:ea typeface="Barlow Bold"/>
                  <a:cs typeface="Barlow Bold"/>
                  <a:sym typeface="Barlow Bold"/>
                </a:rPr>
                <a:t>Country Fix:</a:t>
              </a:r>
              <a:r>
                <a:rPr lang="en-US" sz="2818">
                  <a:solidFill>
                    <a:srgbClr val="E0E4E6"/>
                  </a:solidFill>
                  <a:latin typeface="Barlow"/>
                  <a:ea typeface="Barlow"/>
                  <a:cs typeface="Barlow"/>
                  <a:sym typeface="Barlow"/>
                </a:rPr>
                <a:t> Resolved the "Region vs. Country"</a:t>
              </a:r>
            </a:p>
          </p:txBody>
        </p:sp>
      </p:grpSp>
      <p:grpSp>
        <p:nvGrpSpPr>
          <p:cNvPr name="Group 22" id="22"/>
          <p:cNvGrpSpPr/>
          <p:nvPr/>
        </p:nvGrpSpPr>
        <p:grpSpPr>
          <a:xfrm rot="0">
            <a:off x="1028700" y="5375935"/>
            <a:ext cx="6703548" cy="2320998"/>
            <a:chOff x="0" y="0"/>
            <a:chExt cx="8938064" cy="3094664"/>
          </a:xfrm>
        </p:grpSpPr>
        <p:grpSp>
          <p:nvGrpSpPr>
            <p:cNvPr name="Group 23" id="23"/>
            <p:cNvGrpSpPr/>
            <p:nvPr/>
          </p:nvGrpSpPr>
          <p:grpSpPr>
            <a:xfrm rot="0">
              <a:off x="0" y="47409"/>
              <a:ext cx="189636" cy="3047255"/>
              <a:chOff x="0" y="0"/>
              <a:chExt cx="152400" cy="2448916"/>
            </a:xfrm>
          </p:grpSpPr>
          <p:sp>
            <p:nvSpPr>
              <p:cNvPr name="Freeform 24" id="24"/>
              <p:cNvSpPr/>
              <p:nvPr/>
            </p:nvSpPr>
            <p:spPr>
              <a:xfrm flipH="false" flipV="false" rot="0">
                <a:off x="0" y="0"/>
                <a:ext cx="152400" cy="2448941"/>
              </a:xfrm>
              <a:custGeom>
                <a:avLst/>
                <a:gdLst/>
                <a:ahLst/>
                <a:cxnLst/>
                <a:rect r="r" b="b" t="t" l="l"/>
                <a:pathLst>
                  <a:path h="2448941" w="152400">
                    <a:moveTo>
                      <a:pt x="0" y="76200"/>
                    </a:moveTo>
                    <a:cubicBezTo>
                      <a:pt x="0" y="34163"/>
                      <a:pt x="34163" y="0"/>
                      <a:pt x="76200" y="0"/>
                    </a:cubicBezTo>
                    <a:cubicBezTo>
                      <a:pt x="118237" y="0"/>
                      <a:pt x="152400" y="34163"/>
                      <a:pt x="152400" y="76200"/>
                    </a:cubicBezTo>
                    <a:lnTo>
                      <a:pt x="152400" y="2372741"/>
                    </a:lnTo>
                    <a:cubicBezTo>
                      <a:pt x="152400" y="2414778"/>
                      <a:pt x="118237" y="2448941"/>
                      <a:pt x="76200" y="2448941"/>
                    </a:cubicBezTo>
                    <a:cubicBezTo>
                      <a:pt x="34163" y="2448941"/>
                      <a:pt x="0" y="2414778"/>
                      <a:pt x="0" y="2372741"/>
                    </a:cubicBezTo>
                    <a:close/>
                  </a:path>
                </a:pathLst>
              </a:custGeom>
              <a:solidFill>
                <a:srgbClr val="37A7E7"/>
              </a:solidFill>
            </p:spPr>
          </p:sp>
        </p:grpSp>
        <p:grpSp>
          <p:nvGrpSpPr>
            <p:cNvPr name="Group 25" id="25"/>
            <p:cNvGrpSpPr/>
            <p:nvPr/>
          </p:nvGrpSpPr>
          <p:grpSpPr>
            <a:xfrm rot="0">
              <a:off x="94818" y="0"/>
              <a:ext cx="8843246" cy="3094664"/>
              <a:chOff x="0" y="0"/>
              <a:chExt cx="7106844" cy="2487016"/>
            </a:xfrm>
          </p:grpSpPr>
          <p:sp>
            <p:nvSpPr>
              <p:cNvPr name="Freeform 26" id="26"/>
              <p:cNvSpPr/>
              <p:nvPr/>
            </p:nvSpPr>
            <p:spPr>
              <a:xfrm flipH="false" flipV="false" rot="0">
                <a:off x="19050" y="19050"/>
                <a:ext cx="7068820" cy="2448941"/>
              </a:xfrm>
              <a:custGeom>
                <a:avLst/>
                <a:gdLst/>
                <a:ahLst/>
                <a:cxnLst/>
                <a:rect r="r" b="b" t="t" l="l"/>
                <a:pathLst>
                  <a:path h="2448941" w="7068820">
                    <a:moveTo>
                      <a:pt x="0" y="182880"/>
                    </a:moveTo>
                    <a:cubicBezTo>
                      <a:pt x="0" y="81915"/>
                      <a:pt x="82677" y="0"/>
                      <a:pt x="184785" y="0"/>
                    </a:cubicBezTo>
                    <a:lnTo>
                      <a:pt x="6884035" y="0"/>
                    </a:lnTo>
                    <a:cubicBezTo>
                      <a:pt x="6986016" y="0"/>
                      <a:pt x="7068820" y="81915"/>
                      <a:pt x="7068820" y="182880"/>
                    </a:cubicBezTo>
                    <a:lnTo>
                      <a:pt x="7068820" y="2266061"/>
                    </a:lnTo>
                    <a:cubicBezTo>
                      <a:pt x="7068820" y="2367026"/>
                      <a:pt x="6986143" y="2448941"/>
                      <a:pt x="6884035" y="2448941"/>
                    </a:cubicBezTo>
                    <a:lnTo>
                      <a:pt x="184785" y="2448941"/>
                    </a:lnTo>
                    <a:cubicBezTo>
                      <a:pt x="82804" y="2448941"/>
                      <a:pt x="0" y="2367026"/>
                      <a:pt x="0" y="2266061"/>
                    </a:cubicBezTo>
                    <a:close/>
                  </a:path>
                </a:pathLst>
              </a:custGeom>
              <a:solidFill>
                <a:srgbClr val="0A081B">
                  <a:alpha val="56078"/>
                </a:srgbClr>
              </a:solidFill>
            </p:spPr>
          </p:sp>
          <p:sp>
            <p:nvSpPr>
              <p:cNvPr name="Freeform 27" id="27"/>
              <p:cNvSpPr/>
              <p:nvPr/>
            </p:nvSpPr>
            <p:spPr>
              <a:xfrm flipH="false" flipV="false" rot="0">
                <a:off x="0" y="0"/>
                <a:ext cx="7106920" cy="2487041"/>
              </a:xfrm>
              <a:custGeom>
                <a:avLst/>
                <a:gdLst/>
                <a:ahLst/>
                <a:cxnLst/>
                <a:rect r="r" b="b" t="t" l="l"/>
                <a:pathLst>
                  <a:path h="2487041" w="7106920">
                    <a:moveTo>
                      <a:pt x="0" y="201930"/>
                    </a:moveTo>
                    <a:cubicBezTo>
                      <a:pt x="0" y="90170"/>
                      <a:pt x="91440" y="0"/>
                      <a:pt x="203835" y="0"/>
                    </a:cubicBezTo>
                    <a:lnTo>
                      <a:pt x="6903085" y="0"/>
                    </a:lnTo>
                    <a:lnTo>
                      <a:pt x="6903085" y="19050"/>
                    </a:lnTo>
                    <a:lnTo>
                      <a:pt x="6903085" y="0"/>
                    </a:lnTo>
                    <a:cubicBezTo>
                      <a:pt x="7015480" y="0"/>
                      <a:pt x="7106920" y="90170"/>
                      <a:pt x="7106920" y="201930"/>
                    </a:cubicBezTo>
                    <a:lnTo>
                      <a:pt x="7087870" y="201930"/>
                    </a:lnTo>
                    <a:lnTo>
                      <a:pt x="7106920" y="201930"/>
                    </a:lnTo>
                    <a:lnTo>
                      <a:pt x="7106920" y="2285111"/>
                    </a:lnTo>
                    <a:lnTo>
                      <a:pt x="7087870" y="2285111"/>
                    </a:lnTo>
                    <a:lnTo>
                      <a:pt x="7106920" y="2285111"/>
                    </a:lnTo>
                    <a:cubicBezTo>
                      <a:pt x="7106920" y="2396871"/>
                      <a:pt x="7015480" y="2487041"/>
                      <a:pt x="6903085" y="2487041"/>
                    </a:cubicBezTo>
                    <a:lnTo>
                      <a:pt x="6903085" y="2467991"/>
                    </a:lnTo>
                    <a:lnTo>
                      <a:pt x="6903085" y="2487041"/>
                    </a:lnTo>
                    <a:lnTo>
                      <a:pt x="203835" y="2487041"/>
                    </a:lnTo>
                    <a:lnTo>
                      <a:pt x="203835" y="2467991"/>
                    </a:lnTo>
                    <a:lnTo>
                      <a:pt x="203835" y="2487041"/>
                    </a:lnTo>
                    <a:cubicBezTo>
                      <a:pt x="91440" y="2487041"/>
                      <a:pt x="0" y="2396744"/>
                      <a:pt x="0" y="2285111"/>
                    </a:cubicBezTo>
                    <a:lnTo>
                      <a:pt x="0" y="201930"/>
                    </a:lnTo>
                    <a:lnTo>
                      <a:pt x="19050" y="201930"/>
                    </a:lnTo>
                    <a:lnTo>
                      <a:pt x="0" y="201930"/>
                    </a:lnTo>
                    <a:moveTo>
                      <a:pt x="38100" y="201930"/>
                    </a:moveTo>
                    <a:lnTo>
                      <a:pt x="38100" y="2285111"/>
                    </a:lnTo>
                    <a:lnTo>
                      <a:pt x="19050" y="2285111"/>
                    </a:lnTo>
                    <a:lnTo>
                      <a:pt x="38100" y="2285111"/>
                    </a:lnTo>
                    <a:cubicBezTo>
                      <a:pt x="38100" y="2375408"/>
                      <a:pt x="112141" y="2448941"/>
                      <a:pt x="203835" y="2448941"/>
                    </a:cubicBezTo>
                    <a:lnTo>
                      <a:pt x="6903085" y="2448941"/>
                    </a:lnTo>
                    <a:cubicBezTo>
                      <a:pt x="6994779" y="2448941"/>
                      <a:pt x="7068820" y="2375408"/>
                      <a:pt x="7068820" y="2285111"/>
                    </a:cubicBezTo>
                    <a:lnTo>
                      <a:pt x="7068820" y="201930"/>
                    </a:lnTo>
                    <a:cubicBezTo>
                      <a:pt x="7068820" y="111633"/>
                      <a:pt x="6994779" y="38100"/>
                      <a:pt x="6903085" y="38100"/>
                    </a:cubicBezTo>
                    <a:lnTo>
                      <a:pt x="203835" y="38100"/>
                    </a:lnTo>
                    <a:lnTo>
                      <a:pt x="203835" y="19050"/>
                    </a:lnTo>
                    <a:lnTo>
                      <a:pt x="203835" y="38100"/>
                    </a:lnTo>
                    <a:cubicBezTo>
                      <a:pt x="112141" y="38100"/>
                      <a:pt x="38100" y="111633"/>
                      <a:pt x="38100" y="201930"/>
                    </a:cubicBezTo>
                    <a:close/>
                  </a:path>
                </a:pathLst>
              </a:custGeom>
              <a:solidFill>
                <a:srgbClr val="37A7E7"/>
              </a:solidFill>
            </p:spPr>
          </p:sp>
        </p:grpSp>
        <p:sp>
          <p:nvSpPr>
            <p:cNvPr name="TextBox 28" id="28"/>
            <p:cNvSpPr txBox="true"/>
            <p:nvPr/>
          </p:nvSpPr>
          <p:spPr>
            <a:xfrm rot="0">
              <a:off x="420264" y="495929"/>
              <a:ext cx="8046919" cy="610400"/>
            </a:xfrm>
            <a:prstGeom prst="rect">
              <a:avLst/>
            </a:prstGeom>
          </p:spPr>
          <p:txBody>
            <a:bodyPr anchor="t" rtlCol="false" tIns="0" lIns="0" bIns="0" rIns="0">
              <a:spAutoFit/>
            </a:bodyPr>
            <a:lstStyle/>
            <a:p>
              <a:pPr algn="l">
                <a:lnSpc>
                  <a:spcPts val="2644"/>
                </a:lnSpc>
              </a:pPr>
              <a:r>
                <a:rPr lang="en-US" sz="3732" b="true">
                  <a:solidFill>
                    <a:srgbClr val="E0E4E6"/>
                  </a:solidFill>
                  <a:latin typeface="Arimo Bold"/>
                  <a:ea typeface="Arimo Bold"/>
                  <a:cs typeface="Arimo Bold"/>
                  <a:sym typeface="Arimo Bold"/>
                </a:rPr>
                <a:t>Species Standardization</a:t>
              </a:r>
            </a:p>
          </p:txBody>
        </p:sp>
        <p:sp>
          <p:nvSpPr>
            <p:cNvPr name="TextBox 29" id="29"/>
            <p:cNvSpPr txBox="true"/>
            <p:nvPr/>
          </p:nvSpPr>
          <p:spPr>
            <a:xfrm rot="0">
              <a:off x="565699" y="1363321"/>
              <a:ext cx="7901484" cy="819211"/>
            </a:xfrm>
            <a:prstGeom prst="rect">
              <a:avLst/>
            </a:prstGeom>
          </p:spPr>
          <p:txBody>
            <a:bodyPr anchor="t" rtlCol="false" tIns="0" lIns="0" bIns="0" rIns="0">
              <a:spAutoFit/>
            </a:bodyPr>
            <a:lstStyle/>
            <a:p>
              <a:pPr algn="l">
                <a:lnSpc>
                  <a:spcPts val="2488"/>
                </a:lnSpc>
              </a:pPr>
              <a:r>
                <a:rPr lang="en-US" sz="2488">
                  <a:solidFill>
                    <a:srgbClr val="E0E4E6"/>
                  </a:solidFill>
                  <a:latin typeface="Barlow"/>
                  <a:ea typeface="Barlow"/>
                  <a:cs typeface="Barlow"/>
                  <a:sym typeface="Barlow"/>
                </a:rPr>
                <a:t>Grouped 1,550+ raw text variants into </a:t>
              </a:r>
              <a:r>
                <a:rPr lang="en-US" sz="2488" b="true">
                  <a:solidFill>
                    <a:srgbClr val="E0E4E6"/>
                  </a:solidFill>
                  <a:latin typeface="Barlow Bold"/>
                  <a:ea typeface="Barlow Bold"/>
                  <a:cs typeface="Barlow Bold"/>
                  <a:sym typeface="Barlow Bold"/>
                </a:rPr>
                <a:t>15 standardized shark groups</a:t>
              </a:r>
              <a:r>
                <a:rPr lang="en-US" sz="2488">
                  <a:solidFill>
                    <a:srgbClr val="E0E4E6"/>
                  </a:solidFill>
                  <a:latin typeface="Barlow"/>
                  <a:ea typeface="Barlow"/>
                  <a:cs typeface="Barlow"/>
                  <a:sym typeface="Barlow"/>
                </a:rPr>
                <a:t>.</a:t>
              </a:r>
            </a:p>
          </p:txBody>
        </p:sp>
      </p:grpSp>
      <p:grpSp>
        <p:nvGrpSpPr>
          <p:cNvPr name="Group 30" id="30"/>
          <p:cNvGrpSpPr/>
          <p:nvPr/>
        </p:nvGrpSpPr>
        <p:grpSpPr>
          <a:xfrm rot="0">
            <a:off x="1066952" y="9002468"/>
            <a:ext cx="16154105" cy="643680"/>
            <a:chOff x="0" y="0"/>
            <a:chExt cx="21538806" cy="858241"/>
          </a:xfrm>
        </p:grpSpPr>
        <p:sp>
          <p:nvSpPr>
            <p:cNvPr name="Freeform 31" id="31"/>
            <p:cNvSpPr/>
            <p:nvPr/>
          </p:nvSpPr>
          <p:spPr>
            <a:xfrm flipH="false" flipV="false" rot="0">
              <a:off x="0" y="0"/>
              <a:ext cx="21538819" cy="858266"/>
            </a:xfrm>
            <a:custGeom>
              <a:avLst/>
              <a:gdLst/>
              <a:ahLst/>
              <a:cxnLst/>
              <a:rect r="r" b="b" t="t" l="l"/>
              <a:pathLst>
                <a:path h="858266" w="21538819">
                  <a:moveTo>
                    <a:pt x="0" y="396367"/>
                  </a:moveTo>
                  <a:cubicBezTo>
                    <a:pt x="0" y="177419"/>
                    <a:pt x="177419" y="0"/>
                    <a:pt x="396367" y="0"/>
                  </a:cubicBezTo>
                  <a:lnTo>
                    <a:pt x="21142452" y="0"/>
                  </a:lnTo>
                  <a:cubicBezTo>
                    <a:pt x="21361400" y="0"/>
                    <a:pt x="21538819" y="177419"/>
                    <a:pt x="21538819" y="396367"/>
                  </a:cubicBezTo>
                  <a:lnTo>
                    <a:pt x="21538819" y="461899"/>
                  </a:lnTo>
                  <a:cubicBezTo>
                    <a:pt x="21538819" y="680847"/>
                    <a:pt x="21361400" y="858266"/>
                    <a:pt x="21142452" y="858266"/>
                  </a:cubicBezTo>
                  <a:lnTo>
                    <a:pt x="396367" y="858266"/>
                  </a:lnTo>
                  <a:cubicBezTo>
                    <a:pt x="177419" y="858266"/>
                    <a:pt x="0" y="680847"/>
                    <a:pt x="0" y="461899"/>
                  </a:cubicBezTo>
                  <a:close/>
                </a:path>
              </a:pathLst>
            </a:custGeom>
            <a:solidFill>
              <a:srgbClr val="183A13"/>
            </a:solidFill>
          </p:spPr>
        </p:sp>
      </p:grpSp>
      <p:grpSp>
        <p:nvGrpSpPr>
          <p:cNvPr name="Group 32" id="32"/>
          <p:cNvGrpSpPr/>
          <p:nvPr/>
        </p:nvGrpSpPr>
        <p:grpSpPr>
          <a:xfrm rot="0">
            <a:off x="8639734" y="5375935"/>
            <a:ext cx="7660196" cy="2320998"/>
            <a:chOff x="0" y="0"/>
            <a:chExt cx="10213594" cy="3094664"/>
          </a:xfrm>
        </p:grpSpPr>
        <p:grpSp>
          <p:nvGrpSpPr>
            <p:cNvPr name="Group 33" id="33"/>
            <p:cNvGrpSpPr/>
            <p:nvPr/>
          </p:nvGrpSpPr>
          <p:grpSpPr>
            <a:xfrm rot="0">
              <a:off x="0" y="47409"/>
              <a:ext cx="189636" cy="3047255"/>
              <a:chOff x="0" y="0"/>
              <a:chExt cx="152400" cy="2448916"/>
            </a:xfrm>
          </p:grpSpPr>
          <p:sp>
            <p:nvSpPr>
              <p:cNvPr name="Freeform 34" id="34"/>
              <p:cNvSpPr/>
              <p:nvPr/>
            </p:nvSpPr>
            <p:spPr>
              <a:xfrm flipH="false" flipV="false" rot="0">
                <a:off x="0" y="0"/>
                <a:ext cx="152400" cy="2448941"/>
              </a:xfrm>
              <a:custGeom>
                <a:avLst/>
                <a:gdLst/>
                <a:ahLst/>
                <a:cxnLst/>
                <a:rect r="r" b="b" t="t" l="l"/>
                <a:pathLst>
                  <a:path h="2448941" w="152400">
                    <a:moveTo>
                      <a:pt x="0" y="76200"/>
                    </a:moveTo>
                    <a:cubicBezTo>
                      <a:pt x="0" y="34163"/>
                      <a:pt x="34163" y="0"/>
                      <a:pt x="76200" y="0"/>
                    </a:cubicBezTo>
                    <a:cubicBezTo>
                      <a:pt x="118237" y="0"/>
                      <a:pt x="152400" y="34163"/>
                      <a:pt x="152400" y="76200"/>
                    </a:cubicBezTo>
                    <a:lnTo>
                      <a:pt x="152400" y="2372741"/>
                    </a:lnTo>
                    <a:cubicBezTo>
                      <a:pt x="152400" y="2414778"/>
                      <a:pt x="118237" y="2448941"/>
                      <a:pt x="76200" y="2448941"/>
                    </a:cubicBezTo>
                    <a:cubicBezTo>
                      <a:pt x="34163" y="2448941"/>
                      <a:pt x="0" y="2414778"/>
                      <a:pt x="0" y="2372741"/>
                    </a:cubicBezTo>
                    <a:close/>
                  </a:path>
                </a:pathLst>
              </a:custGeom>
              <a:solidFill>
                <a:srgbClr val="00FFB3"/>
              </a:solidFill>
            </p:spPr>
          </p:sp>
        </p:grpSp>
        <p:grpSp>
          <p:nvGrpSpPr>
            <p:cNvPr name="Group 35" id="35"/>
            <p:cNvGrpSpPr/>
            <p:nvPr/>
          </p:nvGrpSpPr>
          <p:grpSpPr>
            <a:xfrm rot="0">
              <a:off x="94818" y="0"/>
              <a:ext cx="10118777" cy="3094664"/>
              <a:chOff x="0" y="0"/>
              <a:chExt cx="8131919" cy="2487016"/>
            </a:xfrm>
          </p:grpSpPr>
          <p:sp>
            <p:nvSpPr>
              <p:cNvPr name="Freeform 36" id="36"/>
              <p:cNvSpPr/>
              <p:nvPr/>
            </p:nvSpPr>
            <p:spPr>
              <a:xfrm flipH="false" flipV="false" rot="0">
                <a:off x="21798" y="19050"/>
                <a:ext cx="8088411" cy="2448941"/>
              </a:xfrm>
              <a:custGeom>
                <a:avLst/>
                <a:gdLst/>
                <a:ahLst/>
                <a:cxnLst/>
                <a:rect r="r" b="b" t="t" l="l"/>
                <a:pathLst>
                  <a:path h="2448941" w="8088411">
                    <a:moveTo>
                      <a:pt x="0" y="182880"/>
                    </a:moveTo>
                    <a:cubicBezTo>
                      <a:pt x="0" y="81915"/>
                      <a:pt x="94602" y="0"/>
                      <a:pt x="211438" y="0"/>
                    </a:cubicBezTo>
                    <a:lnTo>
                      <a:pt x="7876973" y="0"/>
                    </a:lnTo>
                    <a:cubicBezTo>
                      <a:pt x="7993664" y="0"/>
                      <a:pt x="8088411" y="81915"/>
                      <a:pt x="8088411" y="182880"/>
                    </a:cubicBezTo>
                    <a:lnTo>
                      <a:pt x="8088411" y="2266061"/>
                    </a:lnTo>
                    <a:cubicBezTo>
                      <a:pt x="8088411" y="2367026"/>
                      <a:pt x="7993809" y="2448941"/>
                      <a:pt x="7876973" y="2448941"/>
                    </a:cubicBezTo>
                    <a:lnTo>
                      <a:pt x="211438" y="2448941"/>
                    </a:lnTo>
                    <a:cubicBezTo>
                      <a:pt x="94747" y="2448941"/>
                      <a:pt x="0" y="2367026"/>
                      <a:pt x="0" y="2266061"/>
                    </a:cubicBezTo>
                    <a:close/>
                  </a:path>
                </a:pathLst>
              </a:custGeom>
              <a:solidFill>
                <a:srgbClr val="0A081B">
                  <a:alpha val="56078"/>
                </a:srgbClr>
              </a:solidFill>
            </p:spPr>
          </p:sp>
          <p:sp>
            <p:nvSpPr>
              <p:cNvPr name="Freeform 37" id="37"/>
              <p:cNvSpPr/>
              <p:nvPr/>
            </p:nvSpPr>
            <p:spPr>
              <a:xfrm flipH="false" flipV="false" rot="0">
                <a:off x="0" y="0"/>
                <a:ext cx="8131995" cy="2487041"/>
              </a:xfrm>
              <a:custGeom>
                <a:avLst/>
                <a:gdLst/>
                <a:ahLst/>
                <a:cxnLst/>
                <a:rect r="r" b="b" t="t" l="l"/>
                <a:pathLst>
                  <a:path h="2487041" w="8131995">
                    <a:moveTo>
                      <a:pt x="0" y="201930"/>
                    </a:moveTo>
                    <a:cubicBezTo>
                      <a:pt x="0" y="90170"/>
                      <a:pt x="104629" y="0"/>
                      <a:pt x="233236" y="0"/>
                    </a:cubicBezTo>
                    <a:lnTo>
                      <a:pt x="7898771" y="0"/>
                    </a:lnTo>
                    <a:lnTo>
                      <a:pt x="7898771" y="19050"/>
                    </a:lnTo>
                    <a:lnTo>
                      <a:pt x="7898771" y="0"/>
                    </a:lnTo>
                    <a:cubicBezTo>
                      <a:pt x="8027378" y="0"/>
                      <a:pt x="8131995" y="90170"/>
                      <a:pt x="8131995" y="201930"/>
                    </a:cubicBezTo>
                    <a:lnTo>
                      <a:pt x="8110209" y="201930"/>
                    </a:lnTo>
                    <a:lnTo>
                      <a:pt x="8131995" y="201930"/>
                    </a:lnTo>
                    <a:lnTo>
                      <a:pt x="8131995" y="2285111"/>
                    </a:lnTo>
                    <a:lnTo>
                      <a:pt x="8110209" y="2285111"/>
                    </a:lnTo>
                    <a:lnTo>
                      <a:pt x="8131995" y="2285111"/>
                    </a:lnTo>
                    <a:cubicBezTo>
                      <a:pt x="8131995" y="2396871"/>
                      <a:pt x="8027378" y="2487041"/>
                      <a:pt x="7898771" y="2487041"/>
                    </a:cubicBezTo>
                    <a:lnTo>
                      <a:pt x="7898771" y="2467991"/>
                    </a:lnTo>
                    <a:lnTo>
                      <a:pt x="7898771" y="2487041"/>
                    </a:lnTo>
                    <a:lnTo>
                      <a:pt x="233236" y="2487041"/>
                    </a:lnTo>
                    <a:lnTo>
                      <a:pt x="233236" y="2467991"/>
                    </a:lnTo>
                    <a:lnTo>
                      <a:pt x="233236" y="2487041"/>
                    </a:lnTo>
                    <a:cubicBezTo>
                      <a:pt x="104629" y="2487041"/>
                      <a:pt x="0" y="2396744"/>
                      <a:pt x="0" y="2285111"/>
                    </a:cubicBezTo>
                    <a:lnTo>
                      <a:pt x="0" y="201930"/>
                    </a:lnTo>
                    <a:lnTo>
                      <a:pt x="21798" y="201930"/>
                    </a:lnTo>
                    <a:lnTo>
                      <a:pt x="0" y="201930"/>
                    </a:lnTo>
                    <a:moveTo>
                      <a:pt x="43595" y="201930"/>
                    </a:moveTo>
                    <a:lnTo>
                      <a:pt x="43595" y="2285111"/>
                    </a:lnTo>
                    <a:lnTo>
                      <a:pt x="21798" y="2285111"/>
                    </a:lnTo>
                    <a:lnTo>
                      <a:pt x="43595" y="2285111"/>
                    </a:lnTo>
                    <a:cubicBezTo>
                      <a:pt x="43595" y="2375408"/>
                      <a:pt x="128316" y="2448941"/>
                      <a:pt x="233236" y="2448941"/>
                    </a:cubicBezTo>
                    <a:lnTo>
                      <a:pt x="7898771" y="2448941"/>
                    </a:lnTo>
                    <a:cubicBezTo>
                      <a:pt x="8003691" y="2448941"/>
                      <a:pt x="8088411" y="2375408"/>
                      <a:pt x="8088411" y="2285111"/>
                    </a:cubicBezTo>
                    <a:lnTo>
                      <a:pt x="8088411" y="201930"/>
                    </a:lnTo>
                    <a:cubicBezTo>
                      <a:pt x="8088411" y="111633"/>
                      <a:pt x="8003691" y="38100"/>
                      <a:pt x="7898771" y="38100"/>
                    </a:cubicBezTo>
                    <a:lnTo>
                      <a:pt x="233236" y="38100"/>
                    </a:lnTo>
                    <a:lnTo>
                      <a:pt x="233236" y="19050"/>
                    </a:lnTo>
                    <a:lnTo>
                      <a:pt x="233236" y="38100"/>
                    </a:lnTo>
                    <a:cubicBezTo>
                      <a:pt x="128316" y="38100"/>
                      <a:pt x="43595" y="111633"/>
                      <a:pt x="43595" y="201930"/>
                    </a:cubicBezTo>
                    <a:close/>
                  </a:path>
                </a:pathLst>
              </a:custGeom>
              <a:solidFill>
                <a:srgbClr val="00FF00"/>
              </a:solidFill>
            </p:spPr>
          </p:sp>
        </p:grpSp>
        <p:sp>
          <p:nvSpPr>
            <p:cNvPr name="TextBox 38" id="38"/>
            <p:cNvSpPr txBox="true"/>
            <p:nvPr/>
          </p:nvSpPr>
          <p:spPr>
            <a:xfrm rot="0">
              <a:off x="420264" y="495929"/>
              <a:ext cx="8046919" cy="610400"/>
            </a:xfrm>
            <a:prstGeom prst="rect">
              <a:avLst/>
            </a:prstGeom>
          </p:spPr>
          <p:txBody>
            <a:bodyPr anchor="t" rtlCol="false" tIns="0" lIns="0" bIns="0" rIns="0">
              <a:spAutoFit/>
            </a:bodyPr>
            <a:lstStyle/>
            <a:p>
              <a:pPr algn="l">
                <a:lnSpc>
                  <a:spcPts val="2644"/>
                </a:lnSpc>
              </a:pPr>
              <a:r>
                <a:rPr lang="en-US" sz="3732" b="true">
                  <a:solidFill>
                    <a:srgbClr val="E0E4E6"/>
                  </a:solidFill>
                  <a:latin typeface="Arimo Bold"/>
                  <a:ea typeface="Arimo Bold"/>
                  <a:cs typeface="Arimo Bold"/>
                  <a:sym typeface="Arimo Bold"/>
                </a:rPr>
                <a:t>Activity Consistency</a:t>
              </a:r>
            </a:p>
          </p:txBody>
        </p:sp>
        <p:sp>
          <p:nvSpPr>
            <p:cNvPr name="TextBox 39" id="39"/>
            <p:cNvSpPr txBox="true"/>
            <p:nvPr/>
          </p:nvSpPr>
          <p:spPr>
            <a:xfrm rot="0">
              <a:off x="253136" y="1363321"/>
              <a:ext cx="9692321" cy="1423945"/>
            </a:xfrm>
            <a:prstGeom prst="rect">
              <a:avLst/>
            </a:prstGeom>
          </p:spPr>
          <p:txBody>
            <a:bodyPr anchor="t" rtlCol="false" tIns="0" lIns="0" bIns="0" rIns="0">
              <a:spAutoFit/>
            </a:bodyPr>
            <a:lstStyle/>
            <a:p>
              <a:pPr algn="l">
                <a:lnSpc>
                  <a:spcPts val="2488"/>
                </a:lnSpc>
              </a:pPr>
              <a:r>
                <a:rPr lang="en-US" sz="2488">
                  <a:solidFill>
                    <a:srgbClr val="E0E4E6"/>
                  </a:solidFill>
                  <a:latin typeface="Barlow"/>
                  <a:ea typeface="Barlow"/>
                  <a:cs typeface="Barlow"/>
                  <a:sym typeface="Barlow"/>
                </a:rPr>
                <a:t>Various entries has the same intention with different terminologies </a:t>
              </a:r>
            </a:p>
            <a:p>
              <a:pPr algn="l">
                <a:lnSpc>
                  <a:spcPts val="888"/>
                </a:lnSpc>
              </a:pPr>
            </a:p>
            <a:p>
              <a:pPr algn="l">
                <a:lnSpc>
                  <a:spcPts val="2388"/>
                </a:lnSpc>
              </a:pPr>
              <a:r>
                <a:rPr lang="en-US" sz="2388" b="true">
                  <a:solidFill>
                    <a:srgbClr val="E0E4E6"/>
                  </a:solidFill>
                  <a:latin typeface="Barlow Bold"/>
                  <a:ea typeface="Barlow Bold"/>
                  <a:cs typeface="Barlow Bold"/>
                  <a:sym typeface="Barlow Bold"/>
                </a:rPr>
                <a:t>(ex. diving/scuba/free diving/snorkel) ← </a:t>
              </a:r>
              <a:r>
                <a:rPr lang="en-US" sz="2388">
                  <a:solidFill>
                    <a:srgbClr val="E0E4E6"/>
                  </a:solidFill>
                  <a:latin typeface="Barlow"/>
                  <a:ea typeface="Barlow"/>
                  <a:cs typeface="Barlow"/>
                  <a:sym typeface="Barlow"/>
                </a:rPr>
                <a:t>Diving</a:t>
              </a:r>
            </a:p>
          </p:txBody>
        </p:sp>
      </p:grpSp>
      <p:sp>
        <p:nvSpPr>
          <p:cNvPr name="TextBox 40" id="40"/>
          <p:cNvSpPr txBox="true"/>
          <p:nvPr/>
        </p:nvSpPr>
        <p:spPr>
          <a:xfrm rot="0">
            <a:off x="1066952" y="871985"/>
            <a:ext cx="12388651" cy="557212"/>
          </a:xfrm>
          <a:prstGeom prst="rect">
            <a:avLst/>
          </a:prstGeom>
        </p:spPr>
        <p:txBody>
          <a:bodyPr anchor="t" rtlCol="false" tIns="0" lIns="0" bIns="0" rIns="0">
            <a:spAutoFit/>
          </a:bodyPr>
          <a:lstStyle/>
          <a:p>
            <a:pPr algn="l">
              <a:lnSpc>
                <a:spcPts val="4312"/>
              </a:lnSpc>
            </a:pPr>
            <a:r>
              <a:rPr lang="en-US" sz="3437" b="true">
                <a:solidFill>
                  <a:srgbClr val="F0FCFF"/>
                </a:solidFill>
                <a:latin typeface="Arimo Bold"/>
                <a:ea typeface="Arimo Bold"/>
                <a:cs typeface="Arimo Bold"/>
                <a:sym typeface="Arimo Bold"/>
              </a:rPr>
              <a:t>Data Cleaning: Contextual Logic &amp; Outcome</a:t>
            </a:r>
          </a:p>
        </p:txBody>
      </p:sp>
      <p:sp>
        <p:nvSpPr>
          <p:cNvPr name="TextBox 41" id="41"/>
          <p:cNvSpPr txBox="true"/>
          <p:nvPr/>
        </p:nvSpPr>
        <p:spPr>
          <a:xfrm rot="0">
            <a:off x="1066952" y="1472203"/>
            <a:ext cx="13861609" cy="449262"/>
          </a:xfrm>
          <a:prstGeom prst="rect">
            <a:avLst/>
          </a:prstGeom>
        </p:spPr>
        <p:txBody>
          <a:bodyPr anchor="t" rtlCol="false" tIns="0" lIns="0" bIns="0" rIns="0">
            <a:spAutoFit/>
          </a:bodyPr>
          <a:lstStyle/>
          <a:p>
            <a:pPr algn="l">
              <a:lnSpc>
                <a:spcPts val="3437"/>
              </a:lnSpc>
            </a:pPr>
            <a:r>
              <a:rPr lang="en-US" sz="2750" b="true">
                <a:solidFill>
                  <a:srgbClr val="F0FCFF"/>
                </a:solidFill>
                <a:latin typeface="Arimo Bold"/>
                <a:ea typeface="Arimo Bold"/>
                <a:cs typeface="Arimo Bold"/>
                <a:sym typeface="Arimo Bold"/>
              </a:rPr>
              <a:t>Steps 6–9: Behavioral Cleaning &amp; The Survival Baseline</a:t>
            </a:r>
          </a:p>
        </p:txBody>
      </p:sp>
      <p:sp>
        <p:nvSpPr>
          <p:cNvPr name="TextBox 42" id="42"/>
          <p:cNvSpPr txBox="true"/>
          <p:nvPr/>
        </p:nvSpPr>
        <p:spPr>
          <a:xfrm rot="0">
            <a:off x="1710776" y="9233745"/>
            <a:ext cx="15312180" cy="201216"/>
          </a:xfrm>
          <a:prstGeom prst="rect">
            <a:avLst/>
          </a:prstGeom>
        </p:spPr>
        <p:txBody>
          <a:bodyPr anchor="t" rtlCol="false" tIns="0" lIns="0" bIns="0" rIns="0">
            <a:spAutoFit/>
          </a:bodyPr>
          <a:lstStyle/>
          <a:p>
            <a:pPr algn="l">
              <a:lnSpc>
                <a:spcPts val="2000"/>
              </a:lnSpc>
            </a:pPr>
            <a:r>
              <a:rPr lang="en-US" sz="2249" b="true">
                <a:solidFill>
                  <a:srgbClr val="FFFFFF"/>
                </a:solidFill>
                <a:latin typeface="Barlow Bold"/>
                <a:ea typeface="Barlow Bold"/>
                <a:cs typeface="Barlow Bold"/>
                <a:sym typeface="Barlow Bold"/>
              </a:rPr>
              <a:t>Key Insight:</a:t>
            </a:r>
            <a:r>
              <a:rPr lang="en-US" sz="2249">
                <a:solidFill>
                  <a:srgbClr val="FFFFFF"/>
                </a:solidFill>
                <a:latin typeface="Barlow"/>
                <a:ea typeface="Barlow"/>
                <a:cs typeface="Barlow"/>
                <a:sym typeface="Barlow"/>
              </a:rPr>
              <a:t>      Survival is the norm; the "Killer Shark" narrative is a statistical outlier.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7959328" y="848316"/>
            <a:ext cx="9227344" cy="1349273"/>
          </a:xfrm>
          <a:prstGeom prst="rect">
            <a:avLst/>
          </a:prstGeom>
        </p:spPr>
        <p:txBody>
          <a:bodyPr anchor="t" rtlCol="false" tIns="0" lIns="0" bIns="0" rIns="0">
            <a:spAutoFit/>
          </a:bodyPr>
          <a:lstStyle/>
          <a:p>
            <a:pPr algn="l">
              <a:lnSpc>
                <a:spcPts val="5124"/>
              </a:lnSpc>
            </a:pPr>
            <a:r>
              <a:rPr lang="en-US" sz="4124" b="true">
                <a:solidFill>
                  <a:srgbClr val="F0FCFF"/>
                </a:solidFill>
                <a:latin typeface="Arimo Bold"/>
                <a:ea typeface="Arimo Bold"/>
                <a:cs typeface="Arimo Bold"/>
                <a:sym typeface="Arimo Bold"/>
              </a:rPr>
              <a:t>The Good News: Shark Attack Survival Rates</a:t>
            </a:r>
          </a:p>
        </p:txBody>
      </p:sp>
      <p:sp>
        <p:nvSpPr>
          <p:cNvPr name="TextBox 7" id="7"/>
          <p:cNvSpPr txBox="true"/>
          <p:nvPr/>
        </p:nvSpPr>
        <p:spPr>
          <a:xfrm rot="0">
            <a:off x="7959328" y="2220668"/>
            <a:ext cx="8807653" cy="571948"/>
          </a:xfrm>
          <a:prstGeom prst="rect">
            <a:avLst/>
          </a:prstGeom>
        </p:spPr>
        <p:txBody>
          <a:bodyPr anchor="t" rtlCol="false" tIns="0" lIns="0" bIns="0" rIns="0">
            <a:spAutoFit/>
          </a:bodyPr>
          <a:lstStyle/>
          <a:p>
            <a:pPr algn="l">
              <a:lnSpc>
                <a:spcPts val="4125"/>
              </a:lnSpc>
            </a:pPr>
            <a:r>
              <a:rPr lang="en-US" sz="3250" b="true">
                <a:solidFill>
                  <a:srgbClr val="F0FCFF"/>
                </a:solidFill>
                <a:latin typeface="Arimo Bold"/>
                <a:ea typeface="Arimo Bold"/>
                <a:cs typeface="Arimo Bold"/>
                <a:sym typeface="Arimo Bold"/>
              </a:rPr>
              <a:t>77.7% of Victims Survive | 22.3% Fatality Rate</a:t>
            </a:r>
          </a:p>
        </p:txBody>
      </p:sp>
      <p:sp>
        <p:nvSpPr>
          <p:cNvPr name="TextBox 8" id="8"/>
          <p:cNvSpPr txBox="true"/>
          <p:nvPr/>
        </p:nvSpPr>
        <p:spPr>
          <a:xfrm rot="0">
            <a:off x="7959328" y="3216031"/>
            <a:ext cx="3146974" cy="412404"/>
          </a:xfrm>
          <a:prstGeom prst="rect">
            <a:avLst/>
          </a:prstGeom>
        </p:spPr>
        <p:txBody>
          <a:bodyPr anchor="t" rtlCol="false" tIns="0" lIns="0" bIns="0" rIns="0">
            <a:spAutoFit/>
          </a:bodyPr>
          <a:lstStyle/>
          <a:p>
            <a:pPr algn="l">
              <a:lnSpc>
                <a:spcPts val="3062"/>
              </a:lnSpc>
            </a:pPr>
            <a:r>
              <a:rPr lang="en-US" sz="2437" b="true">
                <a:solidFill>
                  <a:srgbClr val="F0FCFF"/>
                </a:solidFill>
                <a:latin typeface="Arimo Bold"/>
                <a:ea typeface="Arimo Bold"/>
                <a:cs typeface="Arimo Bold"/>
                <a:sym typeface="Arimo Bold"/>
              </a:rPr>
              <a:t>The Bottom Line</a:t>
            </a:r>
          </a:p>
        </p:txBody>
      </p:sp>
      <p:sp>
        <p:nvSpPr>
          <p:cNvPr name="TextBox 9" id="9"/>
          <p:cNvSpPr txBox="true"/>
          <p:nvPr/>
        </p:nvSpPr>
        <p:spPr>
          <a:xfrm rot="0">
            <a:off x="7959328" y="3767290"/>
            <a:ext cx="5306016" cy="698897"/>
          </a:xfrm>
          <a:prstGeom prst="rect">
            <a:avLst/>
          </a:prstGeom>
        </p:spPr>
        <p:txBody>
          <a:bodyPr anchor="t" rtlCol="false" tIns="0" lIns="0" bIns="0" rIns="0">
            <a:spAutoFit/>
          </a:bodyPr>
          <a:lstStyle/>
          <a:p>
            <a:pPr algn="l">
              <a:lnSpc>
                <a:spcPts val="2562"/>
              </a:lnSpc>
            </a:pPr>
            <a:r>
              <a:rPr lang="en-US" sz="1812">
                <a:solidFill>
                  <a:srgbClr val="E0E4E6"/>
                </a:solidFill>
                <a:latin typeface="Barlow"/>
                <a:ea typeface="Barlow"/>
                <a:cs typeface="Barlow"/>
                <a:sym typeface="Barlow"/>
              </a:rPr>
              <a:t>Out of 5,409 documented shark attacks from 1900-2017:</a:t>
            </a:r>
          </a:p>
        </p:txBody>
      </p:sp>
      <p:sp>
        <p:nvSpPr>
          <p:cNvPr name="TextBox 10" id="10"/>
          <p:cNvSpPr txBox="true"/>
          <p:nvPr/>
        </p:nvSpPr>
        <p:spPr>
          <a:xfrm rot="0">
            <a:off x="7959328" y="4587326"/>
            <a:ext cx="5306016" cy="760809"/>
          </a:xfrm>
          <a:prstGeom prst="rect">
            <a:avLst/>
          </a:prstGeom>
        </p:spPr>
        <p:txBody>
          <a:bodyPr anchor="t" rtlCol="false" tIns="0" lIns="0" bIns="0" rIns="0">
            <a:spAutoFit/>
          </a:bodyPr>
          <a:lstStyle/>
          <a:p>
            <a:pPr algn="l" marL="273348" indent="-136674" lvl="1">
              <a:lnSpc>
                <a:spcPts val="2562"/>
              </a:lnSpc>
              <a:buFont typeface="Arial"/>
              <a:buChar char="•"/>
            </a:pPr>
            <a:r>
              <a:rPr lang="en-US" b="true" sz="1812">
                <a:solidFill>
                  <a:srgbClr val="E0E4E6"/>
                </a:solidFill>
                <a:latin typeface="Barlow Bold"/>
                <a:ea typeface="Barlow Bold"/>
                <a:cs typeface="Barlow Bold"/>
                <a:sym typeface="Barlow Bold"/>
              </a:rPr>
              <a:t>Non-Fatal:</a:t>
            </a:r>
            <a:r>
              <a:rPr lang="en-US" sz="1812">
                <a:solidFill>
                  <a:srgbClr val="E0E4E6"/>
                </a:solidFill>
                <a:latin typeface="Barlow"/>
                <a:ea typeface="Barlow"/>
                <a:cs typeface="Barlow"/>
                <a:sym typeface="Barlow"/>
              </a:rPr>
              <a:t> 4,204 attacks (77.7%)</a:t>
            </a:r>
          </a:p>
          <a:p>
            <a:pPr algn="l" marL="273348" indent="-136674" lvl="1">
              <a:lnSpc>
                <a:spcPts val="2562"/>
              </a:lnSpc>
              <a:buFont typeface="Arial"/>
              <a:buChar char="•"/>
            </a:pPr>
            <a:r>
              <a:rPr lang="en-US" b="true" sz="1812">
                <a:solidFill>
                  <a:srgbClr val="E0E4E6"/>
                </a:solidFill>
                <a:latin typeface="Barlow Bold"/>
                <a:ea typeface="Barlow Bold"/>
                <a:cs typeface="Barlow Bold"/>
                <a:sym typeface="Barlow Bold"/>
              </a:rPr>
              <a:t>Fatal:</a:t>
            </a:r>
            <a:r>
              <a:rPr lang="en-US" sz="1812">
                <a:solidFill>
                  <a:srgbClr val="E0E4E6"/>
                </a:solidFill>
                <a:latin typeface="Barlow"/>
                <a:ea typeface="Barlow"/>
                <a:cs typeface="Barlow"/>
                <a:sym typeface="Barlow"/>
              </a:rPr>
              <a:t> 1,205 attacks (22.3%)</a:t>
            </a:r>
          </a:p>
        </p:txBody>
      </p:sp>
      <p:sp>
        <p:nvSpPr>
          <p:cNvPr name="TextBox 11" id="11"/>
          <p:cNvSpPr txBox="true"/>
          <p:nvPr/>
        </p:nvSpPr>
        <p:spPr>
          <a:xfrm rot="0">
            <a:off x="7959328" y="5506041"/>
            <a:ext cx="3146974" cy="412404"/>
          </a:xfrm>
          <a:prstGeom prst="rect">
            <a:avLst/>
          </a:prstGeom>
        </p:spPr>
        <p:txBody>
          <a:bodyPr anchor="t" rtlCol="false" tIns="0" lIns="0" bIns="0" rIns="0">
            <a:spAutoFit/>
          </a:bodyPr>
          <a:lstStyle/>
          <a:p>
            <a:pPr algn="l">
              <a:lnSpc>
                <a:spcPts val="3062"/>
              </a:lnSpc>
            </a:pPr>
            <a:r>
              <a:rPr lang="en-US" sz="2437" b="true">
                <a:solidFill>
                  <a:srgbClr val="F0FCFF"/>
                </a:solidFill>
                <a:latin typeface="Arimo Bold"/>
                <a:ea typeface="Arimo Bold"/>
                <a:cs typeface="Arimo Bold"/>
                <a:sym typeface="Arimo Bold"/>
              </a:rPr>
              <a:t>What This Means</a:t>
            </a:r>
          </a:p>
        </p:txBody>
      </p:sp>
      <p:sp>
        <p:nvSpPr>
          <p:cNvPr name="TextBox 12" id="12"/>
          <p:cNvSpPr txBox="true"/>
          <p:nvPr/>
        </p:nvSpPr>
        <p:spPr>
          <a:xfrm rot="0">
            <a:off x="7959328" y="6057309"/>
            <a:ext cx="5306016" cy="1029291"/>
          </a:xfrm>
          <a:prstGeom prst="rect">
            <a:avLst/>
          </a:prstGeom>
        </p:spPr>
        <p:txBody>
          <a:bodyPr anchor="t" rtlCol="false" tIns="0" lIns="0" bIns="0" rIns="0">
            <a:spAutoFit/>
          </a:bodyPr>
          <a:lstStyle/>
          <a:p>
            <a:pPr algn="l">
              <a:lnSpc>
                <a:spcPts val="2562"/>
              </a:lnSpc>
            </a:pPr>
            <a:r>
              <a:rPr lang="en-US" sz="1812">
                <a:solidFill>
                  <a:srgbClr val="E0E4E6"/>
                </a:solidFill>
                <a:latin typeface="Barlow"/>
                <a:ea typeface="Barlow"/>
                <a:cs typeface="Barlow"/>
                <a:sym typeface="Barlow"/>
              </a:rPr>
              <a:t>Roughly 4 out of 5 shark attack victims survive. This baseline statistic is critical to understanding the rest of our analysis.</a:t>
            </a:r>
          </a:p>
        </p:txBody>
      </p:sp>
      <p:sp>
        <p:nvSpPr>
          <p:cNvPr name="TextBox 13" id="13"/>
          <p:cNvSpPr txBox="true"/>
          <p:nvPr/>
        </p:nvSpPr>
        <p:spPr>
          <a:xfrm rot="0">
            <a:off x="13850541" y="3216031"/>
            <a:ext cx="3146974" cy="412404"/>
          </a:xfrm>
          <a:prstGeom prst="rect">
            <a:avLst/>
          </a:prstGeom>
        </p:spPr>
        <p:txBody>
          <a:bodyPr anchor="t" rtlCol="false" tIns="0" lIns="0" bIns="0" rIns="0">
            <a:spAutoFit/>
          </a:bodyPr>
          <a:lstStyle/>
          <a:p>
            <a:pPr algn="l">
              <a:lnSpc>
                <a:spcPts val="3062"/>
              </a:lnSpc>
            </a:pPr>
            <a:r>
              <a:rPr lang="en-US" sz="2437" b="true">
                <a:solidFill>
                  <a:srgbClr val="F0FCFF"/>
                </a:solidFill>
                <a:latin typeface="Arimo Bold"/>
                <a:ea typeface="Arimo Bold"/>
                <a:cs typeface="Arimo Bold"/>
                <a:sym typeface="Arimo Bold"/>
              </a:rPr>
              <a:t>Key Insight</a:t>
            </a:r>
          </a:p>
        </p:txBody>
      </p:sp>
      <p:sp>
        <p:nvSpPr>
          <p:cNvPr name="TextBox 14" id="14"/>
          <p:cNvSpPr txBox="true"/>
          <p:nvPr/>
        </p:nvSpPr>
        <p:spPr>
          <a:xfrm rot="0">
            <a:off x="13850541" y="3767290"/>
            <a:ext cx="3345504" cy="2020491"/>
          </a:xfrm>
          <a:prstGeom prst="rect">
            <a:avLst/>
          </a:prstGeom>
        </p:spPr>
        <p:txBody>
          <a:bodyPr anchor="t" rtlCol="false" tIns="0" lIns="0" bIns="0" rIns="0">
            <a:spAutoFit/>
          </a:bodyPr>
          <a:lstStyle/>
          <a:p>
            <a:pPr algn="l">
              <a:lnSpc>
                <a:spcPts val="2562"/>
              </a:lnSpc>
            </a:pPr>
            <a:r>
              <a:rPr lang="en-US" sz="1812">
                <a:solidFill>
                  <a:srgbClr val="E0E4E6"/>
                </a:solidFill>
                <a:latin typeface="Barlow"/>
                <a:ea typeface="Barlow"/>
                <a:cs typeface="Barlow"/>
                <a:sym typeface="Barlow"/>
              </a:rPr>
              <a:t>Despite media sensationalization portraying sharks as killers, the survival rate is reassuring. Most shark encounters do not result in death.</a:t>
            </a:r>
          </a:p>
        </p:txBody>
      </p:sp>
      <p:sp>
        <p:nvSpPr>
          <p:cNvPr name="TextBox 15" id="15"/>
          <p:cNvSpPr txBox="true"/>
          <p:nvPr/>
        </p:nvSpPr>
        <p:spPr>
          <a:xfrm rot="0">
            <a:off x="13850541" y="5945686"/>
            <a:ext cx="3345504" cy="805758"/>
          </a:xfrm>
          <a:prstGeom prst="rect">
            <a:avLst/>
          </a:prstGeom>
        </p:spPr>
        <p:txBody>
          <a:bodyPr anchor="t" rtlCol="false" tIns="0" lIns="0" bIns="0" rIns="0">
            <a:spAutoFit/>
          </a:bodyPr>
          <a:lstStyle/>
          <a:p>
            <a:pPr algn="l">
              <a:lnSpc>
                <a:spcPts val="3062"/>
              </a:lnSpc>
            </a:pPr>
            <a:r>
              <a:rPr lang="en-US" sz="2437" b="true">
                <a:solidFill>
                  <a:srgbClr val="F0FCFF"/>
                </a:solidFill>
                <a:latin typeface="Arimo Bold"/>
                <a:ea typeface="Arimo Bold"/>
                <a:cs typeface="Arimo Bold"/>
                <a:sym typeface="Arimo Bold"/>
              </a:rPr>
              <a:t>Why This Matters for Context</a:t>
            </a:r>
          </a:p>
        </p:txBody>
      </p:sp>
      <p:sp>
        <p:nvSpPr>
          <p:cNvPr name="TextBox 16" id="16"/>
          <p:cNvSpPr txBox="true"/>
          <p:nvPr/>
        </p:nvSpPr>
        <p:spPr>
          <a:xfrm rot="0">
            <a:off x="13850541" y="6890299"/>
            <a:ext cx="3345504" cy="2350884"/>
          </a:xfrm>
          <a:prstGeom prst="rect">
            <a:avLst/>
          </a:prstGeom>
        </p:spPr>
        <p:txBody>
          <a:bodyPr anchor="t" rtlCol="false" tIns="0" lIns="0" bIns="0" rIns="0">
            <a:spAutoFit/>
          </a:bodyPr>
          <a:lstStyle/>
          <a:p>
            <a:pPr algn="l">
              <a:lnSpc>
                <a:spcPts val="2562"/>
              </a:lnSpc>
            </a:pPr>
            <a:r>
              <a:rPr lang="en-US" sz="1812">
                <a:solidFill>
                  <a:srgbClr val="E0E4E6"/>
                </a:solidFill>
                <a:latin typeface="Barlow"/>
                <a:ea typeface="Barlow"/>
                <a:cs typeface="Barlow"/>
                <a:sym typeface="Barlow"/>
              </a:rPr>
              <a:t>This 77.7% survival rate will be our baseline. All subsequent analyses will examine what factors influence whether someone falls into the 77.7% (survivors) or 22.3% (fatal cases).</a:t>
            </a:r>
          </a:p>
        </p:txBody>
      </p:sp>
      <p:sp>
        <p:nvSpPr>
          <p:cNvPr name="Freeform 17" id="17"/>
          <p:cNvSpPr/>
          <p:nvPr/>
        </p:nvSpPr>
        <p:spPr>
          <a:xfrm flipH="false" flipV="false" rot="6000">
            <a:off x="73851" y="1233335"/>
            <a:ext cx="7297276" cy="8229600"/>
          </a:xfrm>
          <a:custGeom>
            <a:avLst/>
            <a:gdLst/>
            <a:ahLst/>
            <a:cxnLst/>
            <a:rect r="r" b="b" t="t" l="l"/>
            <a:pathLst>
              <a:path h="8229600" w="7297276">
                <a:moveTo>
                  <a:pt x="0" y="0"/>
                </a:moveTo>
                <a:lnTo>
                  <a:pt x="7297276" y="0"/>
                </a:lnTo>
                <a:lnTo>
                  <a:pt x="7297276" y="8229600"/>
                </a:lnTo>
                <a:lnTo>
                  <a:pt x="0" y="8229600"/>
                </a:lnTo>
                <a:lnTo>
                  <a:pt x="0" y="0"/>
                </a:lnTo>
                <a:close/>
              </a:path>
            </a:pathLst>
          </a:custGeom>
          <a:blipFill>
            <a:blip r:embed="rId4"/>
            <a:stretch>
              <a:fillRect l="0" t="0" r="-14485"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1101328" y="842515"/>
            <a:ext cx="13925005" cy="663575"/>
          </a:xfrm>
          <a:prstGeom prst="rect">
            <a:avLst/>
          </a:prstGeom>
        </p:spPr>
        <p:txBody>
          <a:bodyPr anchor="t" rtlCol="false" tIns="0" lIns="0" bIns="0" rIns="0">
            <a:spAutoFit/>
          </a:bodyPr>
          <a:lstStyle/>
          <a:p>
            <a:pPr algn="l">
              <a:lnSpc>
                <a:spcPts val="5124"/>
              </a:lnSpc>
            </a:pPr>
            <a:r>
              <a:rPr lang="en-US" sz="4124" b="true">
                <a:solidFill>
                  <a:srgbClr val="F0FCFF"/>
                </a:solidFill>
                <a:latin typeface="Arimo Bold"/>
                <a:ea typeface="Arimo Bold"/>
                <a:cs typeface="Arimo Bold"/>
                <a:sym typeface="Arimo Bold"/>
              </a:rPr>
              <a:t>The Paradox: Rising Attacks, Falling Deaths</a:t>
            </a:r>
          </a:p>
        </p:txBody>
      </p:sp>
      <p:sp>
        <p:nvSpPr>
          <p:cNvPr name="TextBox 7" id="7"/>
          <p:cNvSpPr txBox="true"/>
          <p:nvPr/>
        </p:nvSpPr>
        <p:spPr>
          <a:xfrm rot="0">
            <a:off x="1101328" y="1559271"/>
            <a:ext cx="15217319" cy="542925"/>
          </a:xfrm>
          <a:prstGeom prst="rect">
            <a:avLst/>
          </a:prstGeom>
        </p:spPr>
        <p:txBody>
          <a:bodyPr anchor="t" rtlCol="false" tIns="0" lIns="0" bIns="0" rIns="0">
            <a:spAutoFit/>
          </a:bodyPr>
          <a:lstStyle/>
          <a:p>
            <a:pPr algn="l">
              <a:lnSpc>
                <a:spcPts val="4125"/>
              </a:lnSpc>
            </a:pPr>
            <a:r>
              <a:rPr lang="en-US" sz="3250" b="true">
                <a:solidFill>
                  <a:srgbClr val="F0FCFF"/>
                </a:solidFill>
                <a:latin typeface="Arimo Bold"/>
                <a:ea typeface="Arimo Bold"/>
                <a:cs typeface="Arimo Bold"/>
                <a:sym typeface="Arimo Bold"/>
              </a:rPr>
              <a:t>117 Years of Data Reveals a Surprising Trend (1900–2017)</a:t>
            </a:r>
          </a:p>
        </p:txBody>
      </p:sp>
      <p:sp>
        <p:nvSpPr>
          <p:cNvPr name="TextBox 8" id="8"/>
          <p:cNvSpPr txBox="true"/>
          <p:nvPr/>
        </p:nvSpPr>
        <p:spPr>
          <a:xfrm rot="0">
            <a:off x="1101328" y="2182863"/>
            <a:ext cx="4868113" cy="382588"/>
          </a:xfrm>
          <a:prstGeom prst="rect">
            <a:avLst/>
          </a:prstGeom>
        </p:spPr>
        <p:txBody>
          <a:bodyPr anchor="t" rtlCol="false" tIns="0" lIns="0" bIns="0" rIns="0">
            <a:spAutoFit/>
          </a:bodyPr>
          <a:lstStyle/>
          <a:p>
            <a:pPr algn="l">
              <a:lnSpc>
                <a:spcPts val="3062"/>
              </a:lnSpc>
            </a:pPr>
            <a:r>
              <a:rPr lang="en-US" sz="2437" b="true">
                <a:solidFill>
                  <a:srgbClr val="F0FCFF"/>
                </a:solidFill>
                <a:latin typeface="Arimo Bold"/>
                <a:ea typeface="Arimo Bold"/>
                <a:cs typeface="Arimo Bold"/>
                <a:sym typeface="Arimo Bold"/>
              </a:rPr>
              <a:t>The Story in Three Lines</a:t>
            </a:r>
          </a:p>
        </p:txBody>
      </p:sp>
      <p:grpSp>
        <p:nvGrpSpPr>
          <p:cNvPr name="Group 9" id="9"/>
          <p:cNvGrpSpPr/>
          <p:nvPr/>
        </p:nvGrpSpPr>
        <p:grpSpPr>
          <a:xfrm rot="0">
            <a:off x="1461306" y="2860777"/>
            <a:ext cx="3928872" cy="944013"/>
            <a:chOff x="0" y="0"/>
            <a:chExt cx="5238496" cy="1258684"/>
          </a:xfrm>
        </p:grpSpPr>
        <p:sp>
          <p:nvSpPr>
            <p:cNvPr name="Freeform 10" id="10" descr="preencoded.png"/>
            <p:cNvSpPr/>
            <p:nvPr/>
          </p:nvSpPr>
          <p:spPr>
            <a:xfrm flipH="false" flipV="false" rot="0">
              <a:off x="0" y="0"/>
              <a:ext cx="5238496" cy="1258697"/>
            </a:xfrm>
            <a:custGeom>
              <a:avLst/>
              <a:gdLst/>
              <a:ahLst/>
              <a:cxnLst/>
              <a:rect r="r" b="b" t="t" l="l"/>
              <a:pathLst>
                <a:path h="1258697" w="5238496">
                  <a:moveTo>
                    <a:pt x="0" y="0"/>
                  </a:moveTo>
                  <a:lnTo>
                    <a:pt x="5238496" y="0"/>
                  </a:lnTo>
                  <a:lnTo>
                    <a:pt x="5238496" y="1258697"/>
                  </a:lnTo>
                  <a:lnTo>
                    <a:pt x="0" y="1258697"/>
                  </a:lnTo>
                  <a:lnTo>
                    <a:pt x="0" y="0"/>
                  </a:lnTo>
                  <a:close/>
                </a:path>
              </a:pathLst>
            </a:custGeom>
            <a:blipFill>
              <a:blip r:embed="rId4"/>
              <a:stretch>
                <a:fillRect l="-18321" t="0" r="-18321" b="1"/>
              </a:stretch>
            </a:blipFill>
          </p:spPr>
        </p:sp>
      </p:grpSp>
      <p:sp>
        <p:nvSpPr>
          <p:cNvPr name="TextBox 11" id="11"/>
          <p:cNvSpPr txBox="true"/>
          <p:nvPr/>
        </p:nvSpPr>
        <p:spPr>
          <a:xfrm rot="0">
            <a:off x="2188293" y="3962695"/>
            <a:ext cx="3781149" cy="331787"/>
          </a:xfrm>
          <a:prstGeom prst="rect">
            <a:avLst/>
          </a:prstGeom>
        </p:spPr>
        <p:txBody>
          <a:bodyPr anchor="t" rtlCol="false" tIns="0" lIns="0" bIns="0" rIns="0">
            <a:spAutoFit/>
          </a:bodyPr>
          <a:lstStyle/>
          <a:p>
            <a:pPr algn="l">
              <a:lnSpc>
                <a:spcPts val="2562"/>
              </a:lnSpc>
            </a:pPr>
            <a:r>
              <a:rPr lang="en-US" sz="2062" b="true">
                <a:solidFill>
                  <a:srgbClr val="E0E4E6"/>
                </a:solidFill>
                <a:latin typeface="Arimo Bold"/>
                <a:ea typeface="Arimo Bold"/>
                <a:cs typeface="Arimo Bold"/>
                <a:sym typeface="Arimo Bold"/>
              </a:rPr>
              <a:t>Non-Fatal Attacks (Up)</a:t>
            </a:r>
          </a:p>
        </p:txBody>
      </p:sp>
      <p:sp>
        <p:nvSpPr>
          <p:cNvPr name="TextBox 12" id="12"/>
          <p:cNvSpPr txBox="true"/>
          <p:nvPr/>
        </p:nvSpPr>
        <p:spPr>
          <a:xfrm rot="0">
            <a:off x="1326490" y="4377480"/>
            <a:ext cx="5364490" cy="698897"/>
          </a:xfrm>
          <a:prstGeom prst="rect">
            <a:avLst/>
          </a:prstGeom>
        </p:spPr>
        <p:txBody>
          <a:bodyPr anchor="t" rtlCol="false" tIns="0" lIns="0" bIns="0" rIns="0">
            <a:spAutoFit/>
          </a:bodyPr>
          <a:lstStyle/>
          <a:p>
            <a:pPr algn="l">
              <a:lnSpc>
                <a:spcPts val="2562"/>
              </a:lnSpc>
            </a:pPr>
            <a:r>
              <a:rPr lang="en-US" sz="1812">
                <a:solidFill>
                  <a:srgbClr val="E0E4E6"/>
                </a:solidFill>
                <a:latin typeface="Barlow"/>
                <a:ea typeface="Barlow"/>
                <a:cs typeface="Barlow"/>
                <a:sym typeface="Barlow"/>
              </a:rPr>
              <a:t>Rising exponentially since 1960. Current levels reach 100–200+ incidents per year.</a:t>
            </a:r>
          </a:p>
        </p:txBody>
      </p:sp>
      <p:grpSp>
        <p:nvGrpSpPr>
          <p:cNvPr name="Group 13" id="13"/>
          <p:cNvGrpSpPr/>
          <p:nvPr/>
        </p:nvGrpSpPr>
        <p:grpSpPr>
          <a:xfrm rot="0">
            <a:off x="6915874" y="2860777"/>
            <a:ext cx="3429505" cy="944013"/>
            <a:chOff x="0" y="0"/>
            <a:chExt cx="4572673" cy="1258684"/>
          </a:xfrm>
        </p:grpSpPr>
        <p:sp>
          <p:nvSpPr>
            <p:cNvPr name="Freeform 14" id="14" descr="preencoded.png"/>
            <p:cNvSpPr/>
            <p:nvPr/>
          </p:nvSpPr>
          <p:spPr>
            <a:xfrm flipH="false" flipV="false" rot="0">
              <a:off x="0" y="0"/>
              <a:ext cx="4572635" cy="1258697"/>
            </a:xfrm>
            <a:custGeom>
              <a:avLst/>
              <a:gdLst/>
              <a:ahLst/>
              <a:cxnLst/>
              <a:rect r="r" b="b" t="t" l="l"/>
              <a:pathLst>
                <a:path h="1258697" w="4572635">
                  <a:moveTo>
                    <a:pt x="0" y="0"/>
                  </a:moveTo>
                  <a:lnTo>
                    <a:pt x="4572635" y="0"/>
                  </a:lnTo>
                  <a:lnTo>
                    <a:pt x="4572635" y="1258697"/>
                  </a:lnTo>
                  <a:lnTo>
                    <a:pt x="0" y="1258697"/>
                  </a:lnTo>
                  <a:lnTo>
                    <a:pt x="0" y="0"/>
                  </a:lnTo>
                  <a:close/>
                </a:path>
              </a:pathLst>
            </a:custGeom>
            <a:blipFill>
              <a:blip r:embed="rId5"/>
              <a:stretch>
                <a:fillRect l="-28269" t="0" r="-28270" b="1"/>
              </a:stretch>
            </a:blipFill>
          </p:spPr>
        </p:sp>
      </p:grpSp>
      <p:sp>
        <p:nvSpPr>
          <p:cNvPr name="TextBox 15" id="15"/>
          <p:cNvSpPr txBox="true"/>
          <p:nvPr/>
        </p:nvSpPr>
        <p:spPr>
          <a:xfrm rot="0">
            <a:off x="7414908" y="3962695"/>
            <a:ext cx="3129498" cy="331787"/>
          </a:xfrm>
          <a:prstGeom prst="rect">
            <a:avLst/>
          </a:prstGeom>
        </p:spPr>
        <p:txBody>
          <a:bodyPr anchor="t" rtlCol="false" tIns="0" lIns="0" bIns="0" rIns="0">
            <a:spAutoFit/>
          </a:bodyPr>
          <a:lstStyle/>
          <a:p>
            <a:pPr algn="l">
              <a:lnSpc>
                <a:spcPts val="2562"/>
              </a:lnSpc>
            </a:pPr>
            <a:r>
              <a:rPr lang="en-US" sz="2062" b="true">
                <a:solidFill>
                  <a:srgbClr val="E0E4E6"/>
                </a:solidFill>
                <a:latin typeface="Arimo Bold"/>
                <a:ea typeface="Arimo Bold"/>
                <a:cs typeface="Arimo Bold"/>
                <a:sym typeface="Arimo Bold"/>
              </a:rPr>
              <a:t>Fatal Attacks (Flat)</a:t>
            </a:r>
          </a:p>
        </p:txBody>
      </p:sp>
      <p:sp>
        <p:nvSpPr>
          <p:cNvPr name="TextBox 16" id="16"/>
          <p:cNvSpPr txBox="true"/>
          <p:nvPr/>
        </p:nvSpPr>
        <p:spPr>
          <a:xfrm rot="0">
            <a:off x="7017001" y="4377480"/>
            <a:ext cx="4326836" cy="698897"/>
          </a:xfrm>
          <a:prstGeom prst="rect">
            <a:avLst/>
          </a:prstGeom>
        </p:spPr>
        <p:txBody>
          <a:bodyPr anchor="t" rtlCol="false" tIns="0" lIns="0" bIns="0" rIns="0">
            <a:spAutoFit/>
          </a:bodyPr>
          <a:lstStyle/>
          <a:p>
            <a:pPr algn="l">
              <a:lnSpc>
                <a:spcPts val="2562"/>
              </a:lnSpc>
            </a:pPr>
            <a:r>
              <a:rPr lang="en-US" sz="1812">
                <a:solidFill>
                  <a:srgbClr val="E0E4E6"/>
                </a:solidFill>
                <a:latin typeface="Barlow"/>
                <a:ea typeface="Barlow"/>
                <a:cs typeface="Barlow"/>
                <a:sym typeface="Barlow"/>
              </a:rPr>
              <a:t>Remarkably stable at 5–30 deaths per year, despite a massive surge in ocean recreation.</a:t>
            </a:r>
          </a:p>
        </p:txBody>
      </p:sp>
      <p:grpSp>
        <p:nvGrpSpPr>
          <p:cNvPr name="Group 17" id="17"/>
          <p:cNvGrpSpPr/>
          <p:nvPr/>
        </p:nvGrpSpPr>
        <p:grpSpPr>
          <a:xfrm rot="0">
            <a:off x="12166454" y="2860777"/>
            <a:ext cx="3883162" cy="944013"/>
            <a:chOff x="0" y="0"/>
            <a:chExt cx="5177549" cy="1258684"/>
          </a:xfrm>
        </p:grpSpPr>
        <p:sp>
          <p:nvSpPr>
            <p:cNvPr name="Freeform 18" id="18" descr="preencoded.png"/>
            <p:cNvSpPr/>
            <p:nvPr/>
          </p:nvSpPr>
          <p:spPr>
            <a:xfrm flipH="false" flipV="false" rot="0">
              <a:off x="0" y="0"/>
              <a:ext cx="5177536" cy="1258697"/>
            </a:xfrm>
            <a:custGeom>
              <a:avLst/>
              <a:gdLst/>
              <a:ahLst/>
              <a:cxnLst/>
              <a:rect r="r" b="b" t="t" l="l"/>
              <a:pathLst>
                <a:path h="1258697" w="5177536">
                  <a:moveTo>
                    <a:pt x="0" y="0"/>
                  </a:moveTo>
                  <a:lnTo>
                    <a:pt x="5177536" y="0"/>
                  </a:lnTo>
                  <a:lnTo>
                    <a:pt x="5177536" y="1258697"/>
                  </a:lnTo>
                  <a:lnTo>
                    <a:pt x="0" y="1258697"/>
                  </a:lnTo>
                  <a:lnTo>
                    <a:pt x="0" y="0"/>
                  </a:lnTo>
                  <a:close/>
                </a:path>
              </a:pathLst>
            </a:custGeom>
            <a:blipFill>
              <a:blip r:embed="rId6"/>
              <a:stretch>
                <a:fillRect l="-19125" t="0" r="-19125" b="1"/>
              </a:stretch>
            </a:blipFill>
          </p:spPr>
        </p:sp>
      </p:grpSp>
      <p:sp>
        <p:nvSpPr>
          <p:cNvPr name="TextBox 19" id="19"/>
          <p:cNvSpPr txBox="true"/>
          <p:nvPr/>
        </p:nvSpPr>
        <p:spPr>
          <a:xfrm rot="0">
            <a:off x="12402341" y="3962695"/>
            <a:ext cx="5176714" cy="331787"/>
          </a:xfrm>
          <a:prstGeom prst="rect">
            <a:avLst/>
          </a:prstGeom>
        </p:spPr>
        <p:txBody>
          <a:bodyPr anchor="t" rtlCol="false" tIns="0" lIns="0" bIns="0" rIns="0">
            <a:spAutoFit/>
          </a:bodyPr>
          <a:lstStyle/>
          <a:p>
            <a:pPr algn="l">
              <a:lnSpc>
                <a:spcPts val="2562"/>
              </a:lnSpc>
            </a:pPr>
            <a:r>
              <a:rPr lang="en-US" sz="2062" b="true">
                <a:solidFill>
                  <a:srgbClr val="E0E4E6"/>
                </a:solidFill>
                <a:latin typeface="Arimo Bold"/>
                <a:ea typeface="Arimo Bold"/>
                <a:cs typeface="Arimo Bold"/>
                <a:sym typeface="Arimo Bold"/>
              </a:rPr>
              <a:t>Fatality Rate (Down)</a:t>
            </a:r>
          </a:p>
        </p:txBody>
      </p:sp>
      <p:sp>
        <p:nvSpPr>
          <p:cNvPr name="TextBox 20" id="20"/>
          <p:cNvSpPr txBox="true"/>
          <p:nvPr/>
        </p:nvSpPr>
        <p:spPr>
          <a:xfrm rot="0">
            <a:off x="12402341" y="4377480"/>
            <a:ext cx="4320750" cy="698897"/>
          </a:xfrm>
          <a:prstGeom prst="rect">
            <a:avLst/>
          </a:prstGeom>
        </p:spPr>
        <p:txBody>
          <a:bodyPr anchor="t" rtlCol="false" tIns="0" lIns="0" bIns="0" rIns="0">
            <a:spAutoFit/>
          </a:bodyPr>
          <a:lstStyle/>
          <a:p>
            <a:pPr algn="l">
              <a:lnSpc>
                <a:spcPts val="2562"/>
              </a:lnSpc>
            </a:pPr>
            <a:r>
              <a:rPr lang="en-US" sz="1812">
                <a:solidFill>
                  <a:srgbClr val="E0E4E6"/>
                </a:solidFill>
                <a:latin typeface="Barlow"/>
                <a:ea typeface="Barlow"/>
                <a:cs typeface="Barlow"/>
                <a:sym typeface="Barlow"/>
              </a:rPr>
              <a:t>Dropped from ~30% in the early 1900s to under 20% today.</a:t>
            </a:r>
          </a:p>
        </p:txBody>
      </p:sp>
      <p:grpSp>
        <p:nvGrpSpPr>
          <p:cNvPr name="Group 21" id="21"/>
          <p:cNvGrpSpPr/>
          <p:nvPr/>
        </p:nvGrpSpPr>
        <p:grpSpPr>
          <a:xfrm rot="0">
            <a:off x="400793" y="8615410"/>
            <a:ext cx="17178261" cy="1173804"/>
            <a:chOff x="0" y="0"/>
            <a:chExt cx="22904348" cy="1565072"/>
          </a:xfrm>
        </p:grpSpPr>
        <p:sp>
          <p:nvSpPr>
            <p:cNvPr name="Freeform 22" id="22"/>
            <p:cNvSpPr/>
            <p:nvPr/>
          </p:nvSpPr>
          <p:spPr>
            <a:xfrm flipH="false" flipV="false" rot="0">
              <a:off x="0" y="0"/>
              <a:ext cx="22904323" cy="1565021"/>
            </a:xfrm>
            <a:custGeom>
              <a:avLst/>
              <a:gdLst/>
              <a:ahLst/>
              <a:cxnLst/>
              <a:rect r="r" b="b" t="t" l="l"/>
              <a:pathLst>
                <a:path h="1565021" w="22904323">
                  <a:moveTo>
                    <a:pt x="0" y="472059"/>
                  </a:moveTo>
                  <a:cubicBezTo>
                    <a:pt x="0" y="211328"/>
                    <a:pt x="211328" y="0"/>
                    <a:pt x="472059" y="0"/>
                  </a:cubicBezTo>
                  <a:lnTo>
                    <a:pt x="22432263" y="0"/>
                  </a:lnTo>
                  <a:cubicBezTo>
                    <a:pt x="22692995" y="0"/>
                    <a:pt x="22904323" y="211328"/>
                    <a:pt x="22904323" y="472059"/>
                  </a:cubicBezTo>
                  <a:lnTo>
                    <a:pt x="22904323" y="1092962"/>
                  </a:lnTo>
                  <a:cubicBezTo>
                    <a:pt x="22904323" y="1353693"/>
                    <a:pt x="22692995" y="1565021"/>
                    <a:pt x="22432263" y="1565021"/>
                  </a:cubicBezTo>
                  <a:lnTo>
                    <a:pt x="472059" y="1565021"/>
                  </a:lnTo>
                  <a:cubicBezTo>
                    <a:pt x="211328" y="1565021"/>
                    <a:pt x="0" y="1353693"/>
                    <a:pt x="0" y="1092962"/>
                  </a:cubicBezTo>
                  <a:close/>
                </a:path>
              </a:pathLst>
            </a:custGeom>
            <a:solidFill>
              <a:srgbClr val="022349"/>
            </a:solidFill>
          </p:spPr>
        </p:sp>
      </p:grpSp>
      <p:sp>
        <p:nvSpPr>
          <p:cNvPr name="TextBox 23" id="23"/>
          <p:cNvSpPr txBox="true"/>
          <p:nvPr/>
        </p:nvSpPr>
        <p:spPr>
          <a:xfrm rot="0">
            <a:off x="1101328" y="5558733"/>
            <a:ext cx="5262639" cy="382588"/>
          </a:xfrm>
          <a:prstGeom prst="rect">
            <a:avLst/>
          </a:prstGeom>
        </p:spPr>
        <p:txBody>
          <a:bodyPr anchor="t" rtlCol="false" tIns="0" lIns="0" bIns="0" rIns="0">
            <a:spAutoFit/>
          </a:bodyPr>
          <a:lstStyle/>
          <a:p>
            <a:pPr algn="l">
              <a:lnSpc>
                <a:spcPts val="3062"/>
              </a:lnSpc>
            </a:pPr>
            <a:r>
              <a:rPr lang="en-US" sz="2437" b="true">
                <a:solidFill>
                  <a:srgbClr val="F0FCFF"/>
                </a:solidFill>
                <a:latin typeface="Arimo Bold"/>
                <a:ea typeface="Arimo Bold"/>
                <a:cs typeface="Arimo Bold"/>
                <a:sym typeface="Arimo Bold"/>
              </a:rPr>
              <a:t>Why the Paradox Exists</a:t>
            </a:r>
          </a:p>
        </p:txBody>
      </p:sp>
      <p:sp>
        <p:nvSpPr>
          <p:cNvPr name="TextBox 24" id="24"/>
          <p:cNvSpPr txBox="true"/>
          <p:nvPr/>
        </p:nvSpPr>
        <p:spPr>
          <a:xfrm rot="0">
            <a:off x="1012431" y="6064348"/>
            <a:ext cx="5678548" cy="331787"/>
          </a:xfrm>
          <a:prstGeom prst="rect">
            <a:avLst/>
          </a:prstGeom>
        </p:spPr>
        <p:txBody>
          <a:bodyPr anchor="t" rtlCol="false" tIns="0" lIns="0" bIns="0" rIns="0">
            <a:spAutoFit/>
          </a:bodyPr>
          <a:lstStyle/>
          <a:p>
            <a:pPr algn="l">
              <a:lnSpc>
                <a:spcPts val="2562"/>
              </a:lnSpc>
            </a:pPr>
            <a:r>
              <a:rPr lang="en-US" sz="2062" b="true">
                <a:solidFill>
                  <a:srgbClr val="F0FCFF"/>
                </a:solidFill>
                <a:latin typeface="Arimo Bold"/>
                <a:ea typeface="Arimo Bold"/>
                <a:cs typeface="Arimo Bold"/>
                <a:sym typeface="Arimo Bold"/>
              </a:rPr>
              <a:t>1. The Human Factor (Increased Exposure)</a:t>
            </a:r>
          </a:p>
        </p:txBody>
      </p:sp>
      <p:sp>
        <p:nvSpPr>
          <p:cNvPr name="TextBox 25" id="25"/>
          <p:cNvSpPr txBox="true"/>
          <p:nvPr/>
        </p:nvSpPr>
        <p:spPr>
          <a:xfrm rot="0">
            <a:off x="1012431" y="6549971"/>
            <a:ext cx="4215155" cy="1091203"/>
          </a:xfrm>
          <a:prstGeom prst="rect">
            <a:avLst/>
          </a:prstGeom>
        </p:spPr>
        <p:txBody>
          <a:bodyPr anchor="t" rtlCol="false" tIns="0" lIns="0" bIns="0" rIns="0">
            <a:spAutoFit/>
          </a:bodyPr>
          <a:lstStyle/>
          <a:p>
            <a:pPr algn="l" marL="273348" indent="-136674" lvl="1">
              <a:lnSpc>
                <a:spcPts val="2562"/>
              </a:lnSpc>
              <a:buFont typeface="Arial"/>
              <a:buChar char="•"/>
            </a:pPr>
            <a:r>
              <a:rPr lang="en-US" sz="1812">
                <a:solidFill>
                  <a:srgbClr val="E0E4E6"/>
                </a:solidFill>
                <a:latin typeface="Barlow"/>
                <a:ea typeface="Barlow"/>
                <a:cs typeface="Barlow"/>
                <a:sym typeface="Barlow"/>
              </a:rPr>
              <a:t>Post-1960s boom in surfing, scuba diving, and beach tourism</a:t>
            </a:r>
          </a:p>
          <a:p>
            <a:pPr algn="l" marL="273348" indent="-136674" lvl="1">
              <a:lnSpc>
                <a:spcPts val="2562"/>
              </a:lnSpc>
              <a:buFont typeface="Arial"/>
              <a:buChar char="•"/>
            </a:pPr>
            <a:r>
              <a:rPr lang="en-US" sz="1812">
                <a:solidFill>
                  <a:srgbClr val="E0E4E6"/>
                </a:solidFill>
                <a:latin typeface="Barlow"/>
                <a:ea typeface="Barlow"/>
                <a:cs typeface="Barlow"/>
                <a:sym typeface="Barlow"/>
              </a:rPr>
              <a:t>More humans in the water = more encounters (Not more aggressive sharks)</a:t>
            </a:r>
          </a:p>
        </p:txBody>
      </p:sp>
      <p:sp>
        <p:nvSpPr>
          <p:cNvPr name="TextBox 26" id="26"/>
          <p:cNvSpPr txBox="true"/>
          <p:nvPr/>
        </p:nvSpPr>
        <p:spPr>
          <a:xfrm rot="0">
            <a:off x="7244258" y="6191345"/>
            <a:ext cx="6600296" cy="331787"/>
          </a:xfrm>
          <a:prstGeom prst="rect">
            <a:avLst/>
          </a:prstGeom>
        </p:spPr>
        <p:txBody>
          <a:bodyPr anchor="t" rtlCol="false" tIns="0" lIns="0" bIns="0" rIns="0">
            <a:spAutoFit/>
          </a:bodyPr>
          <a:lstStyle/>
          <a:p>
            <a:pPr algn="l">
              <a:lnSpc>
                <a:spcPts val="2562"/>
              </a:lnSpc>
            </a:pPr>
            <a:r>
              <a:rPr lang="en-US" sz="2062" b="true">
                <a:solidFill>
                  <a:srgbClr val="F0FCFF"/>
                </a:solidFill>
                <a:latin typeface="Arimo Bold"/>
                <a:ea typeface="Arimo Bold"/>
                <a:cs typeface="Arimo Bold"/>
                <a:sym typeface="Arimo Bold"/>
              </a:rPr>
              <a:t>2. The Medical Factor (Improved Outcomes)</a:t>
            </a:r>
          </a:p>
        </p:txBody>
      </p:sp>
      <p:sp>
        <p:nvSpPr>
          <p:cNvPr name="TextBox 27" id="27"/>
          <p:cNvSpPr txBox="true"/>
          <p:nvPr/>
        </p:nvSpPr>
        <p:spPr>
          <a:xfrm rot="0">
            <a:off x="7244258" y="6676977"/>
            <a:ext cx="4215155" cy="760809"/>
          </a:xfrm>
          <a:prstGeom prst="rect">
            <a:avLst/>
          </a:prstGeom>
        </p:spPr>
        <p:txBody>
          <a:bodyPr anchor="t" rtlCol="false" tIns="0" lIns="0" bIns="0" rIns="0">
            <a:spAutoFit/>
          </a:bodyPr>
          <a:lstStyle/>
          <a:p>
            <a:pPr algn="l" marL="273348" indent="-136674" lvl="1">
              <a:lnSpc>
                <a:spcPts val="2562"/>
              </a:lnSpc>
              <a:buFont typeface="Arial"/>
              <a:buChar char="•"/>
            </a:pPr>
            <a:r>
              <a:rPr lang="en-US" sz="1812">
                <a:solidFill>
                  <a:srgbClr val="E0E4E6"/>
                </a:solidFill>
                <a:latin typeface="Barlow"/>
                <a:ea typeface="Barlow"/>
                <a:cs typeface="Barlow"/>
                <a:sym typeface="Barlow"/>
              </a:rPr>
              <a:t>Modern emergency response, trauma surgery, and antibiotics</a:t>
            </a:r>
          </a:p>
          <a:p>
            <a:pPr algn="l" marL="273348" indent="-136674" lvl="1">
              <a:lnSpc>
                <a:spcPts val="2562"/>
              </a:lnSpc>
              <a:buFont typeface="Arial"/>
              <a:buChar char="•"/>
            </a:pPr>
            <a:r>
              <a:rPr lang="en-US" sz="1812">
                <a:solidFill>
                  <a:srgbClr val="E0E4E6"/>
                </a:solidFill>
                <a:latin typeface="Barlow"/>
                <a:ea typeface="Barlow"/>
                <a:cs typeface="Barlow"/>
                <a:sym typeface="Barlow"/>
              </a:rPr>
              <a:t>Fast helicopter evacuations from remote beaches</a:t>
            </a:r>
          </a:p>
        </p:txBody>
      </p:sp>
      <p:sp>
        <p:nvSpPr>
          <p:cNvPr name="TextBox 28" id="28"/>
          <p:cNvSpPr txBox="true"/>
          <p:nvPr/>
        </p:nvSpPr>
        <p:spPr>
          <a:xfrm rot="0">
            <a:off x="1102595" y="8919543"/>
            <a:ext cx="15073027" cy="655637"/>
          </a:xfrm>
          <a:prstGeom prst="rect">
            <a:avLst/>
          </a:prstGeom>
        </p:spPr>
        <p:txBody>
          <a:bodyPr anchor="t" rtlCol="false" tIns="0" lIns="0" bIns="0" rIns="0">
            <a:spAutoFit/>
          </a:bodyPr>
          <a:lstStyle/>
          <a:p>
            <a:pPr algn="l">
              <a:lnSpc>
                <a:spcPts val="2562"/>
              </a:lnSpc>
            </a:pPr>
            <a:r>
              <a:rPr lang="en-US" sz="2499" b="true">
                <a:solidFill>
                  <a:srgbClr val="FFFFFF"/>
                </a:solidFill>
                <a:latin typeface="Barlow Bold"/>
                <a:ea typeface="Barlow Bold"/>
                <a:cs typeface="Barlow Bold"/>
                <a:sym typeface="Barlow Bold"/>
              </a:rPr>
              <a:t>Key Takeaway:</a:t>
            </a:r>
            <a:r>
              <a:rPr lang="en-US" sz="2499">
                <a:solidFill>
                  <a:srgbClr val="FFFFFF"/>
                </a:solidFill>
                <a:latin typeface="Barlow"/>
                <a:ea typeface="Barlow"/>
                <a:cs typeface="Barlow"/>
                <a:sym typeface="Barlow"/>
              </a:rPr>
              <a:t> Sharks aren't attacking more because they are more dangerous; we are simply sharing their habitat more often , but our ability to save lives has outpaced the risk.</a:t>
            </a:r>
          </a:p>
        </p:txBody>
      </p:sp>
      <p:grpSp>
        <p:nvGrpSpPr>
          <p:cNvPr name="Group 29" id="29"/>
          <p:cNvGrpSpPr/>
          <p:nvPr/>
        </p:nvGrpSpPr>
        <p:grpSpPr>
          <a:xfrm rot="0">
            <a:off x="837009" y="8955376"/>
            <a:ext cx="160334" cy="235896"/>
            <a:chOff x="0" y="0"/>
            <a:chExt cx="213779" cy="314528"/>
          </a:xfrm>
        </p:grpSpPr>
        <p:sp>
          <p:nvSpPr>
            <p:cNvPr name="Freeform 30" id="30" descr="preencoded.png"/>
            <p:cNvSpPr/>
            <p:nvPr/>
          </p:nvSpPr>
          <p:spPr>
            <a:xfrm flipH="false" flipV="false" rot="0">
              <a:off x="0" y="0"/>
              <a:ext cx="213741" cy="314579"/>
            </a:xfrm>
            <a:custGeom>
              <a:avLst/>
              <a:gdLst/>
              <a:ahLst/>
              <a:cxnLst/>
              <a:rect r="r" b="b" t="t" l="l"/>
              <a:pathLst>
                <a:path h="314579" w="213741">
                  <a:moveTo>
                    <a:pt x="0" y="0"/>
                  </a:moveTo>
                  <a:lnTo>
                    <a:pt x="213741" y="0"/>
                  </a:lnTo>
                  <a:lnTo>
                    <a:pt x="213741" y="314579"/>
                  </a:lnTo>
                  <a:lnTo>
                    <a:pt x="0" y="314579"/>
                  </a:lnTo>
                  <a:lnTo>
                    <a:pt x="0" y="0"/>
                  </a:lnTo>
                  <a:close/>
                </a:path>
              </a:pathLst>
            </a:custGeom>
            <a:blipFill>
              <a:blip r:embed="rId7"/>
              <a:stretch>
                <a:fillRect l="-41224" t="0" r="-41241" b="16"/>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4762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grpSp>
        <p:nvGrpSpPr>
          <p:cNvPr name="Group 6" id="6"/>
          <p:cNvGrpSpPr/>
          <p:nvPr/>
        </p:nvGrpSpPr>
        <p:grpSpPr>
          <a:xfrm rot="0">
            <a:off x="8842310" y="1129170"/>
            <a:ext cx="9436165" cy="9030833"/>
            <a:chOff x="0" y="0"/>
            <a:chExt cx="17151030" cy="16414306"/>
          </a:xfrm>
        </p:grpSpPr>
        <p:sp>
          <p:nvSpPr>
            <p:cNvPr name="Freeform 7" id="7"/>
            <p:cNvSpPr/>
            <p:nvPr/>
          </p:nvSpPr>
          <p:spPr>
            <a:xfrm flipH="false" flipV="false" rot="0">
              <a:off x="0" y="0"/>
              <a:ext cx="17151080" cy="16414344"/>
            </a:xfrm>
            <a:custGeom>
              <a:avLst/>
              <a:gdLst/>
              <a:ahLst/>
              <a:cxnLst/>
              <a:rect r="r" b="b" t="t" l="l"/>
              <a:pathLst>
                <a:path h="16414344" w="17151080">
                  <a:moveTo>
                    <a:pt x="0" y="0"/>
                  </a:moveTo>
                  <a:lnTo>
                    <a:pt x="17151080" y="0"/>
                  </a:lnTo>
                  <a:lnTo>
                    <a:pt x="17151080" y="16414344"/>
                  </a:lnTo>
                  <a:lnTo>
                    <a:pt x="0" y="16414344"/>
                  </a:lnTo>
                  <a:lnTo>
                    <a:pt x="0" y="0"/>
                  </a:lnTo>
                  <a:close/>
                </a:path>
              </a:pathLst>
            </a:custGeom>
            <a:blipFill>
              <a:blip r:embed="rId4"/>
              <a:stretch>
                <a:fillRect l="0" t="-1529" r="0" b="-1529"/>
              </a:stretch>
            </a:blipFill>
          </p:spPr>
        </p:sp>
      </p:grpSp>
      <p:sp>
        <p:nvSpPr>
          <p:cNvPr name="TextBox 8" id="8"/>
          <p:cNvSpPr txBox="true"/>
          <p:nvPr/>
        </p:nvSpPr>
        <p:spPr>
          <a:xfrm rot="0">
            <a:off x="481091" y="456590"/>
            <a:ext cx="10129599" cy="533400"/>
          </a:xfrm>
          <a:prstGeom prst="rect">
            <a:avLst/>
          </a:prstGeom>
        </p:spPr>
        <p:txBody>
          <a:bodyPr anchor="t" rtlCol="false" tIns="0" lIns="0" bIns="0" rIns="0">
            <a:spAutoFit/>
          </a:bodyPr>
          <a:lstStyle/>
          <a:p>
            <a:pPr algn="l">
              <a:lnSpc>
                <a:spcPts val="4200"/>
              </a:lnSpc>
            </a:pPr>
            <a:r>
              <a:rPr lang="en-US" sz="3500">
                <a:solidFill>
                  <a:srgbClr val="FFFFFF"/>
                </a:solidFill>
                <a:latin typeface="Distillery Strong"/>
                <a:ea typeface="Distillery Strong"/>
                <a:cs typeface="Distillery Strong"/>
                <a:sym typeface="Distillery Strong"/>
              </a:rPr>
              <a:t>Graphical Representation of the Attacks</a:t>
            </a:r>
          </a:p>
        </p:txBody>
      </p:sp>
      <p:sp>
        <p:nvSpPr>
          <p:cNvPr name="TextBox 9" id="9"/>
          <p:cNvSpPr txBox="true"/>
          <p:nvPr/>
        </p:nvSpPr>
        <p:spPr>
          <a:xfrm rot="0">
            <a:off x="481091" y="2511137"/>
            <a:ext cx="8059251" cy="6423707"/>
          </a:xfrm>
          <a:prstGeom prst="rect">
            <a:avLst/>
          </a:prstGeom>
        </p:spPr>
        <p:txBody>
          <a:bodyPr anchor="t" rtlCol="false" tIns="0" lIns="0" bIns="0" rIns="0">
            <a:spAutoFit/>
          </a:bodyPr>
          <a:lstStyle/>
          <a:p>
            <a:pPr algn="ctr">
              <a:lnSpc>
                <a:spcPts val="4750"/>
              </a:lnSpc>
              <a:spcBef>
                <a:spcPct val="0"/>
              </a:spcBef>
            </a:pPr>
            <a:r>
              <a:rPr lang="en-US" sz="3492">
                <a:solidFill>
                  <a:srgbClr val="FFFFFF"/>
                </a:solidFill>
                <a:latin typeface="Norwester"/>
                <a:ea typeface="Norwester"/>
                <a:cs typeface="Norwester"/>
                <a:sym typeface="Norwester"/>
              </a:rPr>
              <a:t>THE CORE FINDING: More Encounters, </a:t>
            </a:r>
          </a:p>
          <a:p>
            <a:pPr algn="ctr">
              <a:lnSpc>
                <a:spcPts val="4750"/>
              </a:lnSpc>
              <a:spcBef>
                <a:spcPct val="0"/>
              </a:spcBef>
            </a:pPr>
            <a:r>
              <a:rPr lang="en-US" sz="3492">
                <a:solidFill>
                  <a:srgbClr val="FFFFFF"/>
                </a:solidFill>
                <a:latin typeface="Norwester"/>
                <a:ea typeface="Norwester"/>
                <a:cs typeface="Norwester"/>
                <a:sym typeface="Norwester"/>
              </a:rPr>
              <a:t>Fewer Deaths</a:t>
            </a:r>
          </a:p>
          <a:p>
            <a:pPr algn="l" marL="580783" indent="-290391" lvl="1">
              <a:lnSpc>
                <a:spcPts val="3658"/>
              </a:lnSpc>
              <a:buAutoNum type="arabicPeriod" startAt="1"/>
            </a:pPr>
            <a:r>
              <a:rPr lang="en-US" b="true" sz="2690">
                <a:solidFill>
                  <a:srgbClr val="FFFFFF"/>
                </a:solidFill>
                <a:latin typeface="Bodoni FLF Bold"/>
                <a:ea typeface="Bodoni FLF Bold"/>
                <a:cs typeface="Bodoni FLF Bold"/>
                <a:sym typeface="Bodoni FLF Bold"/>
              </a:rPr>
              <a:t>Non-Fatal Attacks (Blue Line): Exponential Rise </a:t>
            </a:r>
          </a:p>
          <a:p>
            <a:pPr algn="l" marL="580783" indent="-290391" lvl="1">
              <a:lnSpc>
                <a:spcPts val="3658"/>
              </a:lnSpc>
              <a:buFont typeface="Arial"/>
              <a:buChar char="•"/>
            </a:pPr>
            <a:r>
              <a:rPr lang="en-US" sz="2690">
                <a:solidFill>
                  <a:srgbClr val="FFFFFF"/>
                </a:solidFill>
                <a:latin typeface="Bodoni FLF"/>
                <a:ea typeface="Bodoni FLF"/>
                <a:cs typeface="Bodoni FLF"/>
                <a:sym typeface="Bodoni FLF"/>
              </a:rPr>
              <a:t>Significant surge starting around 1960.</a:t>
            </a:r>
          </a:p>
          <a:p>
            <a:pPr algn="l">
              <a:lnSpc>
                <a:spcPts val="1537"/>
              </a:lnSpc>
            </a:pPr>
          </a:p>
          <a:p>
            <a:pPr algn="l" marL="580783" indent="-290391" lvl="1">
              <a:lnSpc>
                <a:spcPts val="3658"/>
              </a:lnSpc>
              <a:buAutoNum type="arabicPeriod" startAt="1"/>
            </a:pPr>
            <a:r>
              <a:rPr lang="en-US" b="true" sz="2690">
                <a:solidFill>
                  <a:srgbClr val="FFFFFF"/>
                </a:solidFill>
                <a:latin typeface="Bodoni FLF Bold"/>
                <a:ea typeface="Bodoni FLF Bold"/>
                <a:cs typeface="Bodoni FLF Bold"/>
                <a:sym typeface="Bodoni FLF Bold"/>
              </a:rPr>
              <a:t>Fatal Attacks (Red Line): Stable/Flat</a:t>
            </a:r>
          </a:p>
          <a:p>
            <a:pPr algn="l" marL="580783" indent="-290391" lvl="1">
              <a:lnSpc>
                <a:spcPts val="3658"/>
              </a:lnSpc>
              <a:buFont typeface="Arial"/>
              <a:buChar char="•"/>
            </a:pPr>
            <a:r>
              <a:rPr lang="en-US" sz="2690">
                <a:solidFill>
                  <a:srgbClr val="FFFFFF"/>
                </a:solidFill>
                <a:latin typeface="Bodoni FLF"/>
                <a:ea typeface="Bodoni FLF"/>
                <a:cs typeface="Bodoni FLF"/>
                <a:sym typeface="Bodoni FLF"/>
              </a:rPr>
              <a:t>Despite the massive increase in total encounters, the number of deaths has remained relatively constant over 117 years.</a:t>
            </a:r>
          </a:p>
          <a:p>
            <a:pPr algn="l" marL="580783" indent="-290391" lvl="1">
              <a:lnSpc>
                <a:spcPts val="3658"/>
              </a:lnSpc>
              <a:buAutoNum type="arabicPeriod" startAt="1"/>
            </a:pPr>
            <a:r>
              <a:rPr lang="en-US" b="true" sz="2690">
                <a:solidFill>
                  <a:srgbClr val="FFFFFF"/>
                </a:solidFill>
                <a:latin typeface="Bodoni FLF Bold"/>
                <a:ea typeface="Bodoni FLF Bold"/>
                <a:cs typeface="Bodoni FLF Bold"/>
                <a:sym typeface="Bodoni FLF Bold"/>
              </a:rPr>
              <a:t>Fatality Rate (Dashed Black Line): Sharp Decline</a:t>
            </a:r>
          </a:p>
          <a:p>
            <a:pPr algn="l" marL="580783" indent="-290391" lvl="1">
              <a:lnSpc>
                <a:spcPts val="3658"/>
              </a:lnSpc>
              <a:buFont typeface="Arial"/>
              <a:buChar char="•"/>
            </a:pPr>
            <a:r>
              <a:rPr lang="en-US" sz="2690">
                <a:solidFill>
                  <a:srgbClr val="FFFFFF"/>
                </a:solidFill>
                <a:latin typeface="Bodoni FLF"/>
                <a:ea typeface="Bodoni FLF"/>
                <a:cs typeface="Bodoni FLF"/>
                <a:sym typeface="Bodoni FLF"/>
              </a:rPr>
              <a:t>The percentage of attacks that result in death has dropped dramatically from early 1900 highs to modern lows.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grpSp>
        <p:nvGrpSpPr>
          <p:cNvPr name="Group 6" id="6"/>
          <p:cNvGrpSpPr/>
          <p:nvPr/>
        </p:nvGrpSpPr>
        <p:grpSpPr>
          <a:xfrm rot="0">
            <a:off x="1087041" y="6734023"/>
            <a:ext cx="5301701" cy="2477395"/>
            <a:chOff x="0" y="0"/>
            <a:chExt cx="7068934" cy="3303194"/>
          </a:xfrm>
        </p:grpSpPr>
        <p:sp>
          <p:nvSpPr>
            <p:cNvPr name="Freeform 7" id="7"/>
            <p:cNvSpPr/>
            <p:nvPr/>
          </p:nvSpPr>
          <p:spPr>
            <a:xfrm flipH="false" flipV="false" rot="0">
              <a:off x="19050" y="19050"/>
              <a:ext cx="7030847" cy="3265043"/>
            </a:xfrm>
            <a:custGeom>
              <a:avLst/>
              <a:gdLst/>
              <a:ahLst/>
              <a:cxnLst/>
              <a:rect r="r" b="b" t="t" l="l"/>
              <a:pathLst>
                <a:path h="3265043" w="7030847">
                  <a:moveTo>
                    <a:pt x="0" y="409067"/>
                  </a:moveTo>
                  <a:cubicBezTo>
                    <a:pt x="0" y="183134"/>
                    <a:pt x="184277" y="0"/>
                    <a:pt x="411607" y="0"/>
                  </a:cubicBezTo>
                  <a:lnTo>
                    <a:pt x="6619240" y="0"/>
                  </a:lnTo>
                  <a:cubicBezTo>
                    <a:pt x="6846570" y="0"/>
                    <a:pt x="7030847" y="183134"/>
                    <a:pt x="7030847" y="409067"/>
                  </a:cubicBezTo>
                  <a:lnTo>
                    <a:pt x="7030847" y="2855976"/>
                  </a:lnTo>
                  <a:cubicBezTo>
                    <a:pt x="7030847" y="3081909"/>
                    <a:pt x="6846570" y="3265043"/>
                    <a:pt x="6619240" y="3265043"/>
                  </a:cubicBezTo>
                  <a:lnTo>
                    <a:pt x="411607" y="3265043"/>
                  </a:lnTo>
                  <a:cubicBezTo>
                    <a:pt x="184277" y="3265043"/>
                    <a:pt x="0" y="3081909"/>
                    <a:pt x="0" y="2855976"/>
                  </a:cubicBezTo>
                  <a:close/>
                </a:path>
              </a:pathLst>
            </a:custGeom>
            <a:solidFill>
              <a:srgbClr val="0A081B">
                <a:alpha val="56078"/>
              </a:srgbClr>
            </a:solidFill>
          </p:spPr>
        </p:sp>
        <p:sp>
          <p:nvSpPr>
            <p:cNvPr name="Freeform 8" id="8"/>
            <p:cNvSpPr/>
            <p:nvPr/>
          </p:nvSpPr>
          <p:spPr>
            <a:xfrm flipH="false" flipV="false" rot="0">
              <a:off x="0" y="0"/>
              <a:ext cx="7068947" cy="3303143"/>
            </a:xfrm>
            <a:custGeom>
              <a:avLst/>
              <a:gdLst/>
              <a:ahLst/>
              <a:cxnLst/>
              <a:rect r="r" b="b" t="t" l="l"/>
              <a:pathLst>
                <a:path h="3303143" w="7068947">
                  <a:moveTo>
                    <a:pt x="0" y="428117"/>
                  </a:moveTo>
                  <a:cubicBezTo>
                    <a:pt x="0" y="191643"/>
                    <a:pt x="192913" y="0"/>
                    <a:pt x="430657" y="0"/>
                  </a:cubicBezTo>
                  <a:lnTo>
                    <a:pt x="6638290" y="0"/>
                  </a:lnTo>
                  <a:lnTo>
                    <a:pt x="6638290" y="19050"/>
                  </a:lnTo>
                  <a:lnTo>
                    <a:pt x="6638290" y="0"/>
                  </a:lnTo>
                  <a:cubicBezTo>
                    <a:pt x="6876034" y="0"/>
                    <a:pt x="7068947" y="191643"/>
                    <a:pt x="7068947" y="428117"/>
                  </a:cubicBezTo>
                  <a:lnTo>
                    <a:pt x="7049897" y="428117"/>
                  </a:lnTo>
                  <a:lnTo>
                    <a:pt x="7068947" y="428117"/>
                  </a:lnTo>
                  <a:lnTo>
                    <a:pt x="7068947" y="2875026"/>
                  </a:lnTo>
                  <a:lnTo>
                    <a:pt x="7049897" y="2875026"/>
                  </a:lnTo>
                  <a:lnTo>
                    <a:pt x="7068947" y="2875026"/>
                  </a:lnTo>
                  <a:cubicBezTo>
                    <a:pt x="7068947" y="3111627"/>
                    <a:pt x="6876034" y="3303143"/>
                    <a:pt x="6638290" y="3303143"/>
                  </a:cubicBezTo>
                  <a:lnTo>
                    <a:pt x="6638290" y="3284093"/>
                  </a:lnTo>
                  <a:lnTo>
                    <a:pt x="6638290" y="3303143"/>
                  </a:lnTo>
                  <a:lnTo>
                    <a:pt x="430657" y="3303143"/>
                  </a:lnTo>
                  <a:lnTo>
                    <a:pt x="430657" y="3284093"/>
                  </a:lnTo>
                  <a:lnTo>
                    <a:pt x="430657" y="3303143"/>
                  </a:lnTo>
                  <a:cubicBezTo>
                    <a:pt x="192913" y="3303143"/>
                    <a:pt x="0" y="3111627"/>
                    <a:pt x="0" y="2875026"/>
                  </a:cubicBezTo>
                  <a:lnTo>
                    <a:pt x="0" y="428117"/>
                  </a:lnTo>
                  <a:lnTo>
                    <a:pt x="19050" y="428117"/>
                  </a:lnTo>
                  <a:lnTo>
                    <a:pt x="0" y="428117"/>
                  </a:lnTo>
                  <a:moveTo>
                    <a:pt x="38100" y="428117"/>
                  </a:moveTo>
                  <a:lnTo>
                    <a:pt x="38100" y="2875026"/>
                  </a:lnTo>
                  <a:lnTo>
                    <a:pt x="19050" y="2875026"/>
                  </a:lnTo>
                  <a:lnTo>
                    <a:pt x="38100" y="2875026"/>
                  </a:lnTo>
                  <a:cubicBezTo>
                    <a:pt x="38100" y="3090291"/>
                    <a:pt x="213741" y="3265043"/>
                    <a:pt x="430657" y="3265043"/>
                  </a:cubicBezTo>
                  <a:lnTo>
                    <a:pt x="6638290" y="3265043"/>
                  </a:lnTo>
                  <a:cubicBezTo>
                    <a:pt x="6855206" y="3265043"/>
                    <a:pt x="7030847" y="3090291"/>
                    <a:pt x="7030847" y="2875026"/>
                  </a:cubicBezTo>
                  <a:lnTo>
                    <a:pt x="7030847" y="428117"/>
                  </a:lnTo>
                  <a:cubicBezTo>
                    <a:pt x="7030847" y="212852"/>
                    <a:pt x="6855206" y="38100"/>
                    <a:pt x="6638290" y="38100"/>
                  </a:cubicBezTo>
                  <a:lnTo>
                    <a:pt x="430657" y="38100"/>
                  </a:lnTo>
                  <a:lnTo>
                    <a:pt x="430657" y="19050"/>
                  </a:lnTo>
                  <a:lnTo>
                    <a:pt x="430657" y="38100"/>
                  </a:lnTo>
                  <a:cubicBezTo>
                    <a:pt x="213741" y="38100"/>
                    <a:pt x="38100" y="212852"/>
                    <a:pt x="38100" y="428117"/>
                  </a:cubicBezTo>
                  <a:close/>
                </a:path>
              </a:pathLst>
            </a:custGeom>
            <a:solidFill>
              <a:srgbClr val="16FFBB"/>
            </a:solidFill>
          </p:spPr>
        </p:sp>
      </p:grpSp>
      <p:grpSp>
        <p:nvGrpSpPr>
          <p:cNvPr name="Group 9" id="9"/>
          <p:cNvGrpSpPr/>
          <p:nvPr/>
        </p:nvGrpSpPr>
        <p:grpSpPr>
          <a:xfrm rot="0">
            <a:off x="6493078" y="6734023"/>
            <a:ext cx="5301701" cy="2477395"/>
            <a:chOff x="0" y="0"/>
            <a:chExt cx="7068934" cy="3303194"/>
          </a:xfrm>
        </p:grpSpPr>
        <p:sp>
          <p:nvSpPr>
            <p:cNvPr name="Freeform 10" id="10"/>
            <p:cNvSpPr/>
            <p:nvPr/>
          </p:nvSpPr>
          <p:spPr>
            <a:xfrm flipH="false" flipV="false" rot="0">
              <a:off x="19050" y="19050"/>
              <a:ext cx="7030847" cy="3265043"/>
            </a:xfrm>
            <a:custGeom>
              <a:avLst/>
              <a:gdLst/>
              <a:ahLst/>
              <a:cxnLst/>
              <a:rect r="r" b="b" t="t" l="l"/>
              <a:pathLst>
                <a:path h="3265043" w="7030847">
                  <a:moveTo>
                    <a:pt x="0" y="409067"/>
                  </a:moveTo>
                  <a:cubicBezTo>
                    <a:pt x="0" y="183134"/>
                    <a:pt x="184277" y="0"/>
                    <a:pt x="411607" y="0"/>
                  </a:cubicBezTo>
                  <a:lnTo>
                    <a:pt x="6619240" y="0"/>
                  </a:lnTo>
                  <a:cubicBezTo>
                    <a:pt x="6846570" y="0"/>
                    <a:pt x="7030847" y="183134"/>
                    <a:pt x="7030847" y="409067"/>
                  </a:cubicBezTo>
                  <a:lnTo>
                    <a:pt x="7030847" y="2855976"/>
                  </a:lnTo>
                  <a:cubicBezTo>
                    <a:pt x="7030847" y="3081909"/>
                    <a:pt x="6846570" y="3265043"/>
                    <a:pt x="6619240" y="3265043"/>
                  </a:cubicBezTo>
                  <a:lnTo>
                    <a:pt x="411607" y="3265043"/>
                  </a:lnTo>
                  <a:cubicBezTo>
                    <a:pt x="184277" y="3265043"/>
                    <a:pt x="0" y="3081909"/>
                    <a:pt x="0" y="2855976"/>
                  </a:cubicBezTo>
                  <a:close/>
                </a:path>
              </a:pathLst>
            </a:custGeom>
            <a:solidFill>
              <a:srgbClr val="0A081B">
                <a:alpha val="56078"/>
              </a:srgbClr>
            </a:solidFill>
          </p:spPr>
        </p:sp>
        <p:sp>
          <p:nvSpPr>
            <p:cNvPr name="Freeform 11" id="11"/>
            <p:cNvSpPr/>
            <p:nvPr/>
          </p:nvSpPr>
          <p:spPr>
            <a:xfrm flipH="false" flipV="false" rot="0">
              <a:off x="0" y="0"/>
              <a:ext cx="7068947" cy="3303143"/>
            </a:xfrm>
            <a:custGeom>
              <a:avLst/>
              <a:gdLst/>
              <a:ahLst/>
              <a:cxnLst/>
              <a:rect r="r" b="b" t="t" l="l"/>
              <a:pathLst>
                <a:path h="3303143" w="7068947">
                  <a:moveTo>
                    <a:pt x="0" y="428117"/>
                  </a:moveTo>
                  <a:cubicBezTo>
                    <a:pt x="0" y="191643"/>
                    <a:pt x="192913" y="0"/>
                    <a:pt x="430657" y="0"/>
                  </a:cubicBezTo>
                  <a:lnTo>
                    <a:pt x="6638290" y="0"/>
                  </a:lnTo>
                  <a:lnTo>
                    <a:pt x="6638290" y="19050"/>
                  </a:lnTo>
                  <a:lnTo>
                    <a:pt x="6638290" y="0"/>
                  </a:lnTo>
                  <a:cubicBezTo>
                    <a:pt x="6876034" y="0"/>
                    <a:pt x="7068947" y="191643"/>
                    <a:pt x="7068947" y="428117"/>
                  </a:cubicBezTo>
                  <a:lnTo>
                    <a:pt x="7049897" y="428117"/>
                  </a:lnTo>
                  <a:lnTo>
                    <a:pt x="7068947" y="428117"/>
                  </a:lnTo>
                  <a:lnTo>
                    <a:pt x="7068947" y="2875026"/>
                  </a:lnTo>
                  <a:lnTo>
                    <a:pt x="7049897" y="2875026"/>
                  </a:lnTo>
                  <a:lnTo>
                    <a:pt x="7068947" y="2875026"/>
                  </a:lnTo>
                  <a:cubicBezTo>
                    <a:pt x="7068947" y="3111627"/>
                    <a:pt x="6876034" y="3303143"/>
                    <a:pt x="6638290" y="3303143"/>
                  </a:cubicBezTo>
                  <a:lnTo>
                    <a:pt x="6638290" y="3284093"/>
                  </a:lnTo>
                  <a:lnTo>
                    <a:pt x="6638290" y="3303143"/>
                  </a:lnTo>
                  <a:lnTo>
                    <a:pt x="430657" y="3303143"/>
                  </a:lnTo>
                  <a:lnTo>
                    <a:pt x="430657" y="3284093"/>
                  </a:lnTo>
                  <a:lnTo>
                    <a:pt x="430657" y="3303143"/>
                  </a:lnTo>
                  <a:cubicBezTo>
                    <a:pt x="192913" y="3303143"/>
                    <a:pt x="0" y="3111627"/>
                    <a:pt x="0" y="2875026"/>
                  </a:cubicBezTo>
                  <a:lnTo>
                    <a:pt x="0" y="428117"/>
                  </a:lnTo>
                  <a:lnTo>
                    <a:pt x="19050" y="428117"/>
                  </a:lnTo>
                  <a:lnTo>
                    <a:pt x="0" y="428117"/>
                  </a:lnTo>
                  <a:moveTo>
                    <a:pt x="38100" y="428117"/>
                  </a:moveTo>
                  <a:lnTo>
                    <a:pt x="38100" y="2875026"/>
                  </a:lnTo>
                  <a:lnTo>
                    <a:pt x="19050" y="2875026"/>
                  </a:lnTo>
                  <a:lnTo>
                    <a:pt x="38100" y="2875026"/>
                  </a:lnTo>
                  <a:cubicBezTo>
                    <a:pt x="38100" y="3090291"/>
                    <a:pt x="213741" y="3265043"/>
                    <a:pt x="430657" y="3265043"/>
                  </a:cubicBezTo>
                  <a:lnTo>
                    <a:pt x="6638290" y="3265043"/>
                  </a:lnTo>
                  <a:cubicBezTo>
                    <a:pt x="6855206" y="3265043"/>
                    <a:pt x="7030847" y="3090291"/>
                    <a:pt x="7030847" y="2875026"/>
                  </a:cubicBezTo>
                  <a:lnTo>
                    <a:pt x="7030847" y="428117"/>
                  </a:lnTo>
                  <a:cubicBezTo>
                    <a:pt x="7030847" y="212852"/>
                    <a:pt x="6855206" y="38100"/>
                    <a:pt x="6638290" y="38100"/>
                  </a:cubicBezTo>
                  <a:lnTo>
                    <a:pt x="430657" y="38100"/>
                  </a:lnTo>
                  <a:lnTo>
                    <a:pt x="430657" y="19050"/>
                  </a:lnTo>
                  <a:lnTo>
                    <a:pt x="430657" y="38100"/>
                  </a:lnTo>
                  <a:cubicBezTo>
                    <a:pt x="213741" y="38100"/>
                    <a:pt x="38100" y="212852"/>
                    <a:pt x="38100" y="428117"/>
                  </a:cubicBezTo>
                  <a:close/>
                </a:path>
              </a:pathLst>
            </a:custGeom>
            <a:solidFill>
              <a:srgbClr val="29DDDA"/>
            </a:solidFill>
          </p:spPr>
        </p:sp>
      </p:grpSp>
      <p:grpSp>
        <p:nvGrpSpPr>
          <p:cNvPr name="Group 12" id="12"/>
          <p:cNvGrpSpPr/>
          <p:nvPr/>
        </p:nvGrpSpPr>
        <p:grpSpPr>
          <a:xfrm rot="0">
            <a:off x="11899106" y="6734023"/>
            <a:ext cx="5301853" cy="2477395"/>
            <a:chOff x="0" y="0"/>
            <a:chExt cx="7069138" cy="3303194"/>
          </a:xfrm>
        </p:grpSpPr>
        <p:sp>
          <p:nvSpPr>
            <p:cNvPr name="Freeform 13" id="13"/>
            <p:cNvSpPr/>
            <p:nvPr/>
          </p:nvSpPr>
          <p:spPr>
            <a:xfrm flipH="false" flipV="false" rot="0">
              <a:off x="19050" y="19050"/>
              <a:ext cx="7030974" cy="3265043"/>
            </a:xfrm>
            <a:custGeom>
              <a:avLst/>
              <a:gdLst/>
              <a:ahLst/>
              <a:cxnLst/>
              <a:rect r="r" b="b" t="t" l="l"/>
              <a:pathLst>
                <a:path h="3265043" w="7030974">
                  <a:moveTo>
                    <a:pt x="0" y="409067"/>
                  </a:moveTo>
                  <a:cubicBezTo>
                    <a:pt x="0" y="183134"/>
                    <a:pt x="184277" y="0"/>
                    <a:pt x="411607" y="0"/>
                  </a:cubicBezTo>
                  <a:lnTo>
                    <a:pt x="6619367" y="0"/>
                  </a:lnTo>
                  <a:cubicBezTo>
                    <a:pt x="6846697" y="0"/>
                    <a:pt x="7030974" y="183134"/>
                    <a:pt x="7030974" y="409067"/>
                  </a:cubicBezTo>
                  <a:lnTo>
                    <a:pt x="7030974" y="2855976"/>
                  </a:lnTo>
                  <a:cubicBezTo>
                    <a:pt x="7030974" y="3081909"/>
                    <a:pt x="6846697" y="3265043"/>
                    <a:pt x="6619367" y="3265043"/>
                  </a:cubicBezTo>
                  <a:lnTo>
                    <a:pt x="411607" y="3265043"/>
                  </a:lnTo>
                  <a:cubicBezTo>
                    <a:pt x="184277" y="3265043"/>
                    <a:pt x="0" y="3081909"/>
                    <a:pt x="0" y="2855976"/>
                  </a:cubicBezTo>
                  <a:close/>
                </a:path>
              </a:pathLst>
            </a:custGeom>
            <a:solidFill>
              <a:srgbClr val="0A081B">
                <a:alpha val="56078"/>
              </a:srgbClr>
            </a:solidFill>
          </p:spPr>
        </p:sp>
        <p:sp>
          <p:nvSpPr>
            <p:cNvPr name="Freeform 14" id="14"/>
            <p:cNvSpPr/>
            <p:nvPr/>
          </p:nvSpPr>
          <p:spPr>
            <a:xfrm flipH="false" flipV="false" rot="0">
              <a:off x="0" y="0"/>
              <a:ext cx="7069074" cy="3303143"/>
            </a:xfrm>
            <a:custGeom>
              <a:avLst/>
              <a:gdLst/>
              <a:ahLst/>
              <a:cxnLst/>
              <a:rect r="r" b="b" t="t" l="l"/>
              <a:pathLst>
                <a:path h="3303143" w="7069074">
                  <a:moveTo>
                    <a:pt x="0" y="428117"/>
                  </a:moveTo>
                  <a:cubicBezTo>
                    <a:pt x="0" y="191643"/>
                    <a:pt x="192913" y="0"/>
                    <a:pt x="430657" y="0"/>
                  </a:cubicBezTo>
                  <a:lnTo>
                    <a:pt x="6638417" y="0"/>
                  </a:lnTo>
                  <a:lnTo>
                    <a:pt x="6638417" y="19050"/>
                  </a:lnTo>
                  <a:lnTo>
                    <a:pt x="6638417" y="0"/>
                  </a:lnTo>
                  <a:cubicBezTo>
                    <a:pt x="6876161" y="0"/>
                    <a:pt x="7069074" y="191643"/>
                    <a:pt x="7069074" y="428117"/>
                  </a:cubicBezTo>
                  <a:lnTo>
                    <a:pt x="7050024" y="428117"/>
                  </a:lnTo>
                  <a:lnTo>
                    <a:pt x="7069074" y="428117"/>
                  </a:lnTo>
                  <a:lnTo>
                    <a:pt x="7069074" y="2875026"/>
                  </a:lnTo>
                  <a:lnTo>
                    <a:pt x="7050024" y="2875026"/>
                  </a:lnTo>
                  <a:lnTo>
                    <a:pt x="7069074" y="2875026"/>
                  </a:lnTo>
                  <a:cubicBezTo>
                    <a:pt x="7069074" y="3111627"/>
                    <a:pt x="6876161" y="3303143"/>
                    <a:pt x="6638417" y="3303143"/>
                  </a:cubicBezTo>
                  <a:lnTo>
                    <a:pt x="6638417" y="3284093"/>
                  </a:lnTo>
                  <a:lnTo>
                    <a:pt x="6638417" y="3303143"/>
                  </a:lnTo>
                  <a:lnTo>
                    <a:pt x="430657" y="3303143"/>
                  </a:lnTo>
                  <a:lnTo>
                    <a:pt x="430657" y="3284093"/>
                  </a:lnTo>
                  <a:lnTo>
                    <a:pt x="430657" y="3303143"/>
                  </a:lnTo>
                  <a:cubicBezTo>
                    <a:pt x="192913" y="3303143"/>
                    <a:pt x="0" y="3111627"/>
                    <a:pt x="0" y="2875026"/>
                  </a:cubicBezTo>
                  <a:lnTo>
                    <a:pt x="0" y="428117"/>
                  </a:lnTo>
                  <a:lnTo>
                    <a:pt x="19050" y="428117"/>
                  </a:lnTo>
                  <a:lnTo>
                    <a:pt x="0" y="428117"/>
                  </a:lnTo>
                  <a:moveTo>
                    <a:pt x="38100" y="428117"/>
                  </a:moveTo>
                  <a:lnTo>
                    <a:pt x="38100" y="2875026"/>
                  </a:lnTo>
                  <a:lnTo>
                    <a:pt x="19050" y="2875026"/>
                  </a:lnTo>
                  <a:lnTo>
                    <a:pt x="38100" y="2875026"/>
                  </a:lnTo>
                  <a:cubicBezTo>
                    <a:pt x="38100" y="3090291"/>
                    <a:pt x="213741" y="3265043"/>
                    <a:pt x="430657" y="3265043"/>
                  </a:cubicBezTo>
                  <a:lnTo>
                    <a:pt x="6638417" y="3265043"/>
                  </a:lnTo>
                  <a:cubicBezTo>
                    <a:pt x="6855333" y="3265043"/>
                    <a:pt x="7030974" y="3090291"/>
                    <a:pt x="7030974" y="2875026"/>
                  </a:cubicBezTo>
                  <a:lnTo>
                    <a:pt x="7030974" y="428117"/>
                  </a:lnTo>
                  <a:cubicBezTo>
                    <a:pt x="7031101" y="212852"/>
                    <a:pt x="6855333" y="38100"/>
                    <a:pt x="6638417" y="38100"/>
                  </a:cubicBezTo>
                  <a:lnTo>
                    <a:pt x="430657" y="38100"/>
                  </a:lnTo>
                  <a:lnTo>
                    <a:pt x="430657" y="19050"/>
                  </a:lnTo>
                  <a:lnTo>
                    <a:pt x="430657" y="38100"/>
                  </a:lnTo>
                  <a:cubicBezTo>
                    <a:pt x="213741" y="38100"/>
                    <a:pt x="38100" y="212852"/>
                    <a:pt x="38100" y="428117"/>
                  </a:cubicBezTo>
                  <a:close/>
                </a:path>
              </a:pathLst>
            </a:custGeom>
            <a:solidFill>
              <a:srgbClr val="37A7E7"/>
            </a:solidFill>
          </p:spPr>
        </p:sp>
      </p:grpSp>
      <p:sp>
        <p:nvSpPr>
          <p:cNvPr name="Freeform 15" id="15"/>
          <p:cNvSpPr/>
          <p:nvPr/>
        </p:nvSpPr>
        <p:spPr>
          <a:xfrm flipH="false" flipV="false" rot="0">
            <a:off x="1028700" y="2741982"/>
            <a:ext cx="16482663" cy="3502566"/>
          </a:xfrm>
          <a:custGeom>
            <a:avLst/>
            <a:gdLst/>
            <a:ahLst/>
            <a:cxnLst/>
            <a:rect r="r" b="b" t="t" l="l"/>
            <a:pathLst>
              <a:path h="3502566" w="16482663">
                <a:moveTo>
                  <a:pt x="0" y="0"/>
                </a:moveTo>
                <a:lnTo>
                  <a:pt x="16482663" y="0"/>
                </a:lnTo>
                <a:lnTo>
                  <a:pt x="16482663" y="3502566"/>
                </a:lnTo>
                <a:lnTo>
                  <a:pt x="0" y="3502566"/>
                </a:lnTo>
                <a:lnTo>
                  <a:pt x="0" y="0"/>
                </a:lnTo>
                <a:close/>
              </a:path>
            </a:pathLst>
          </a:custGeom>
          <a:blipFill>
            <a:blip r:embed="rId4"/>
            <a:stretch>
              <a:fillRect l="0" t="0" r="0" b="0"/>
            </a:stretch>
          </a:blipFill>
        </p:spPr>
      </p:sp>
      <p:sp>
        <p:nvSpPr>
          <p:cNvPr name="TextBox 16" id="16"/>
          <p:cNvSpPr txBox="true"/>
          <p:nvPr/>
        </p:nvSpPr>
        <p:spPr>
          <a:xfrm rot="0">
            <a:off x="1101328" y="1051770"/>
            <a:ext cx="7833417" cy="579438"/>
          </a:xfrm>
          <a:prstGeom prst="rect">
            <a:avLst/>
          </a:prstGeom>
        </p:spPr>
        <p:txBody>
          <a:bodyPr anchor="t" rtlCol="false" tIns="0" lIns="0" bIns="0" rIns="0">
            <a:spAutoFit/>
          </a:bodyPr>
          <a:lstStyle/>
          <a:p>
            <a:pPr algn="l">
              <a:lnSpc>
                <a:spcPts val="4437"/>
              </a:lnSpc>
            </a:pPr>
            <a:r>
              <a:rPr lang="en-US" sz="3562" b="true">
                <a:solidFill>
                  <a:srgbClr val="F0FCFF"/>
                </a:solidFill>
                <a:latin typeface="Arimo Bold"/>
                <a:ea typeface="Arimo Bold"/>
                <a:cs typeface="Arimo Bold"/>
                <a:sym typeface="Arimo Bold"/>
              </a:rPr>
              <a:t>Which Sharks Attack?</a:t>
            </a:r>
          </a:p>
        </p:txBody>
      </p:sp>
      <p:sp>
        <p:nvSpPr>
          <p:cNvPr name="TextBox 17" id="17"/>
          <p:cNvSpPr txBox="true"/>
          <p:nvPr/>
        </p:nvSpPr>
        <p:spPr>
          <a:xfrm rot="0">
            <a:off x="1101328" y="1672981"/>
            <a:ext cx="7833417" cy="461962"/>
          </a:xfrm>
          <a:prstGeom prst="rect">
            <a:avLst/>
          </a:prstGeom>
        </p:spPr>
        <p:txBody>
          <a:bodyPr anchor="t" rtlCol="false" tIns="0" lIns="0" bIns="0" rIns="0">
            <a:spAutoFit/>
          </a:bodyPr>
          <a:lstStyle/>
          <a:p>
            <a:pPr algn="l">
              <a:lnSpc>
                <a:spcPts val="3562"/>
              </a:lnSpc>
            </a:pPr>
            <a:r>
              <a:rPr lang="en-US" sz="2812" b="true">
                <a:solidFill>
                  <a:srgbClr val="F0FCFF"/>
                </a:solidFill>
                <a:latin typeface="Arimo Bold"/>
                <a:ea typeface="Arimo Bold"/>
                <a:cs typeface="Arimo Bold"/>
                <a:sym typeface="Arimo Bold"/>
              </a:rPr>
              <a:t>The Big Three &amp; The Unknown</a:t>
            </a:r>
          </a:p>
        </p:txBody>
      </p:sp>
      <p:sp>
        <p:nvSpPr>
          <p:cNvPr name="TextBox 18" id="18"/>
          <p:cNvSpPr txBox="true"/>
          <p:nvPr/>
        </p:nvSpPr>
        <p:spPr>
          <a:xfrm rot="0">
            <a:off x="1101328" y="2199827"/>
            <a:ext cx="8042596" cy="342900"/>
          </a:xfrm>
          <a:prstGeom prst="rect">
            <a:avLst/>
          </a:prstGeom>
        </p:spPr>
        <p:txBody>
          <a:bodyPr anchor="t" rtlCol="false" tIns="0" lIns="0" bIns="0" rIns="0">
            <a:spAutoFit/>
          </a:bodyPr>
          <a:lstStyle/>
          <a:p>
            <a:pPr algn="l">
              <a:lnSpc>
                <a:spcPts val="2625"/>
              </a:lnSpc>
            </a:pPr>
            <a:r>
              <a:rPr lang="en-US" sz="2125" b="true">
                <a:solidFill>
                  <a:srgbClr val="F0FCFF"/>
                </a:solidFill>
                <a:latin typeface="Arimo Bold"/>
                <a:ea typeface="Arimo Bold"/>
                <a:cs typeface="Arimo Bold"/>
                <a:sym typeface="Arimo Bold"/>
              </a:rPr>
              <a:t>Top Identified Species vs. The Mystery of the 67%</a:t>
            </a:r>
          </a:p>
        </p:txBody>
      </p:sp>
      <p:sp>
        <p:nvSpPr>
          <p:cNvPr name="TextBox 19" id="19"/>
          <p:cNvSpPr txBox="true"/>
          <p:nvPr/>
        </p:nvSpPr>
        <p:spPr>
          <a:xfrm rot="0">
            <a:off x="1101328" y="6188869"/>
            <a:ext cx="2727427" cy="360016"/>
          </a:xfrm>
          <a:prstGeom prst="rect">
            <a:avLst/>
          </a:prstGeom>
        </p:spPr>
        <p:txBody>
          <a:bodyPr anchor="t" rtlCol="false" tIns="0" lIns="0" bIns="0" rIns="0">
            <a:spAutoFit/>
          </a:bodyPr>
          <a:lstStyle/>
          <a:p>
            <a:pPr algn="l">
              <a:lnSpc>
                <a:spcPts val="2625"/>
              </a:lnSpc>
            </a:pPr>
            <a:r>
              <a:rPr lang="en-US" sz="2125" b="true">
                <a:solidFill>
                  <a:srgbClr val="F0FCFF"/>
                </a:solidFill>
                <a:latin typeface="Arimo Bold"/>
                <a:ea typeface="Arimo Bold"/>
                <a:cs typeface="Arimo Bold"/>
                <a:sym typeface="Arimo Bold"/>
              </a:rPr>
              <a:t>Key Analysis Points</a:t>
            </a:r>
          </a:p>
        </p:txBody>
      </p:sp>
      <p:sp>
        <p:nvSpPr>
          <p:cNvPr name="TextBox 20" id="20"/>
          <p:cNvSpPr txBox="true"/>
          <p:nvPr/>
        </p:nvSpPr>
        <p:spPr>
          <a:xfrm rot="0">
            <a:off x="1334395" y="6952802"/>
            <a:ext cx="4002281" cy="293687"/>
          </a:xfrm>
          <a:prstGeom prst="rect">
            <a:avLst/>
          </a:prstGeom>
        </p:spPr>
        <p:txBody>
          <a:bodyPr anchor="t" rtlCol="false" tIns="0" lIns="0" bIns="0" rIns="0">
            <a:spAutoFit/>
          </a:bodyPr>
          <a:lstStyle/>
          <a:p>
            <a:pPr algn="l">
              <a:lnSpc>
                <a:spcPts val="2187"/>
              </a:lnSpc>
            </a:pPr>
            <a:r>
              <a:rPr lang="en-US" sz="1750" b="true">
                <a:solidFill>
                  <a:srgbClr val="E0E4E6"/>
                </a:solidFill>
                <a:latin typeface="Arimo Bold"/>
                <a:ea typeface="Arimo Bold"/>
                <a:cs typeface="Arimo Bold"/>
                <a:sym typeface="Arimo Bold"/>
              </a:rPr>
              <a:t>The 67% Identification Gap</a:t>
            </a:r>
          </a:p>
        </p:txBody>
      </p:sp>
      <p:sp>
        <p:nvSpPr>
          <p:cNvPr name="TextBox 21" id="21"/>
          <p:cNvSpPr txBox="true"/>
          <p:nvPr/>
        </p:nvSpPr>
        <p:spPr>
          <a:xfrm rot="0">
            <a:off x="1334395" y="7316543"/>
            <a:ext cx="4807001" cy="1107872"/>
          </a:xfrm>
          <a:prstGeom prst="rect">
            <a:avLst/>
          </a:prstGeom>
        </p:spPr>
        <p:txBody>
          <a:bodyPr anchor="t" rtlCol="false" tIns="0" lIns="0" bIns="0" rIns="0">
            <a:spAutoFit/>
          </a:bodyPr>
          <a:lstStyle/>
          <a:p>
            <a:pPr algn="l">
              <a:lnSpc>
                <a:spcPts val="2125"/>
              </a:lnSpc>
            </a:pPr>
            <a:r>
              <a:rPr lang="en-US" sz="1562">
                <a:solidFill>
                  <a:srgbClr val="E0E4E6"/>
                </a:solidFill>
                <a:latin typeface="Barlow"/>
                <a:ea typeface="Barlow"/>
                <a:cs typeface="Barlow"/>
                <a:sym typeface="Barlow"/>
              </a:rPr>
              <a:t>Most shark encounters happen in seconds. Water turbidity, adrenaline, and low visibility mean that 2 out of 3 sharks remain unidentified, making total "known" species data a sample rather than a complete picture.</a:t>
            </a:r>
          </a:p>
        </p:txBody>
      </p:sp>
      <p:sp>
        <p:nvSpPr>
          <p:cNvPr name="TextBox 22" id="22"/>
          <p:cNvSpPr txBox="true"/>
          <p:nvPr/>
        </p:nvSpPr>
        <p:spPr>
          <a:xfrm rot="0">
            <a:off x="6740423" y="6952802"/>
            <a:ext cx="3819311" cy="293687"/>
          </a:xfrm>
          <a:prstGeom prst="rect">
            <a:avLst/>
          </a:prstGeom>
        </p:spPr>
        <p:txBody>
          <a:bodyPr anchor="t" rtlCol="false" tIns="0" lIns="0" bIns="0" rIns="0">
            <a:spAutoFit/>
          </a:bodyPr>
          <a:lstStyle/>
          <a:p>
            <a:pPr algn="l">
              <a:lnSpc>
                <a:spcPts val="2187"/>
              </a:lnSpc>
            </a:pPr>
            <a:r>
              <a:rPr lang="en-US" sz="1750" b="true">
                <a:solidFill>
                  <a:srgbClr val="E0E4E6"/>
                </a:solidFill>
                <a:latin typeface="Arimo Bold"/>
                <a:ea typeface="Arimo Bold"/>
                <a:cs typeface="Arimo Bold"/>
                <a:sym typeface="Arimo Bold"/>
              </a:rPr>
              <a:t>Frequency vs. Lethality</a:t>
            </a:r>
          </a:p>
        </p:txBody>
      </p:sp>
      <p:sp>
        <p:nvSpPr>
          <p:cNvPr name="TextBox 23" id="23"/>
          <p:cNvSpPr txBox="true"/>
          <p:nvPr/>
        </p:nvSpPr>
        <p:spPr>
          <a:xfrm rot="0">
            <a:off x="6740423" y="7316543"/>
            <a:ext cx="4807001" cy="1647530"/>
          </a:xfrm>
          <a:prstGeom prst="rect">
            <a:avLst/>
          </a:prstGeom>
        </p:spPr>
        <p:txBody>
          <a:bodyPr anchor="t" rtlCol="false" tIns="0" lIns="0" bIns="0" rIns="0">
            <a:spAutoFit/>
          </a:bodyPr>
          <a:lstStyle/>
          <a:p>
            <a:pPr algn="l">
              <a:lnSpc>
                <a:spcPts val="2125"/>
              </a:lnSpc>
            </a:pPr>
            <a:r>
              <a:rPr lang="en-US" sz="1562">
                <a:solidFill>
                  <a:srgbClr val="E0E4E6"/>
                </a:solidFill>
                <a:latin typeface="Barlow"/>
                <a:ea typeface="Barlow"/>
                <a:cs typeface="Barlow"/>
                <a:sym typeface="Barlow"/>
              </a:rPr>
              <a:t>The White Shark leads in total attack volume (629), but Tiger and Bull sharks often record higher fatality rates per encounter. This suggests that while Great Whites are more commonly encountered, Tiger and Bull sharks may be more dangerous when an interaction occurs.</a:t>
            </a:r>
          </a:p>
        </p:txBody>
      </p:sp>
      <p:sp>
        <p:nvSpPr>
          <p:cNvPr name="TextBox 24" id="24"/>
          <p:cNvSpPr txBox="true"/>
          <p:nvPr/>
        </p:nvSpPr>
        <p:spPr>
          <a:xfrm rot="0">
            <a:off x="12146461" y="6952802"/>
            <a:ext cx="2272751" cy="312534"/>
          </a:xfrm>
          <a:prstGeom prst="rect">
            <a:avLst/>
          </a:prstGeom>
        </p:spPr>
        <p:txBody>
          <a:bodyPr anchor="t" rtlCol="false" tIns="0" lIns="0" bIns="0" rIns="0">
            <a:spAutoFit/>
          </a:bodyPr>
          <a:lstStyle/>
          <a:p>
            <a:pPr algn="l">
              <a:lnSpc>
                <a:spcPts val="2187"/>
              </a:lnSpc>
            </a:pPr>
            <a:r>
              <a:rPr lang="en-US" sz="1750" b="true">
                <a:solidFill>
                  <a:srgbClr val="E0E4E6"/>
                </a:solidFill>
                <a:latin typeface="Arimo Bold"/>
                <a:ea typeface="Arimo Bold"/>
                <a:cs typeface="Arimo Bold"/>
                <a:sym typeface="Arimo Bold"/>
              </a:rPr>
              <a:t>Regional Specialists</a:t>
            </a:r>
          </a:p>
        </p:txBody>
      </p:sp>
      <p:sp>
        <p:nvSpPr>
          <p:cNvPr name="TextBox 25" id="25"/>
          <p:cNvSpPr txBox="true"/>
          <p:nvPr/>
        </p:nvSpPr>
        <p:spPr>
          <a:xfrm rot="0">
            <a:off x="12146461" y="7316543"/>
            <a:ext cx="4807153" cy="1107872"/>
          </a:xfrm>
          <a:prstGeom prst="rect">
            <a:avLst/>
          </a:prstGeom>
        </p:spPr>
        <p:txBody>
          <a:bodyPr anchor="t" rtlCol="false" tIns="0" lIns="0" bIns="0" rIns="0">
            <a:spAutoFit/>
          </a:bodyPr>
          <a:lstStyle/>
          <a:p>
            <a:pPr algn="l">
              <a:lnSpc>
                <a:spcPts val="2125"/>
              </a:lnSpc>
            </a:pPr>
            <a:r>
              <a:rPr lang="en-US" sz="1562">
                <a:solidFill>
                  <a:srgbClr val="E0E4E6"/>
                </a:solidFill>
                <a:latin typeface="Barlow"/>
                <a:ea typeface="Barlow"/>
                <a:cs typeface="Barlow"/>
                <a:sym typeface="Barlow"/>
              </a:rPr>
              <a:t>White sharks dominate incidents in California, South Africa, and Australia, while Tiger and Bull sharks represent the primary threat in tropical estuaries and murky coastal waters.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1101328" y="869747"/>
            <a:ext cx="14713099" cy="627063"/>
          </a:xfrm>
          <a:prstGeom prst="rect">
            <a:avLst/>
          </a:prstGeom>
        </p:spPr>
        <p:txBody>
          <a:bodyPr anchor="t" rtlCol="false" tIns="0" lIns="0" bIns="0" rIns="0">
            <a:spAutoFit/>
          </a:bodyPr>
          <a:lstStyle/>
          <a:p>
            <a:pPr algn="l">
              <a:lnSpc>
                <a:spcPts val="4812"/>
              </a:lnSpc>
            </a:pPr>
            <a:r>
              <a:rPr lang="en-US" sz="3812" b="true">
                <a:solidFill>
                  <a:srgbClr val="F0FCFF"/>
                </a:solidFill>
                <a:latin typeface="Arimo Bold"/>
                <a:ea typeface="Arimo Bold"/>
                <a:cs typeface="Arimo Bold"/>
                <a:sym typeface="Arimo Bold"/>
              </a:rPr>
              <a:t>Your Activity Determines Your Risk</a:t>
            </a:r>
          </a:p>
        </p:txBody>
      </p:sp>
      <p:sp>
        <p:nvSpPr>
          <p:cNvPr name="TextBox 7" id="7"/>
          <p:cNvSpPr txBox="true"/>
          <p:nvPr/>
        </p:nvSpPr>
        <p:spPr>
          <a:xfrm rot="0">
            <a:off x="1101328" y="1552727"/>
            <a:ext cx="14713099" cy="496888"/>
          </a:xfrm>
          <a:prstGeom prst="rect">
            <a:avLst/>
          </a:prstGeom>
        </p:spPr>
        <p:txBody>
          <a:bodyPr anchor="t" rtlCol="false" tIns="0" lIns="0" bIns="0" rIns="0">
            <a:spAutoFit/>
          </a:bodyPr>
          <a:lstStyle/>
          <a:p>
            <a:pPr algn="l">
              <a:lnSpc>
                <a:spcPts val="3812"/>
              </a:lnSpc>
            </a:pPr>
            <a:r>
              <a:rPr lang="en-US" sz="3062" b="true">
                <a:solidFill>
                  <a:srgbClr val="F0FCFF"/>
                </a:solidFill>
                <a:latin typeface="Arimo Bold"/>
                <a:ea typeface="Arimo Bold"/>
                <a:cs typeface="Arimo Bold"/>
                <a:sym typeface="Arimo Bold"/>
              </a:rPr>
              <a:t>Frequency vs. Severity | Why Behavior Matters More Than Species</a:t>
            </a:r>
          </a:p>
        </p:txBody>
      </p:sp>
      <p:grpSp>
        <p:nvGrpSpPr>
          <p:cNvPr name="Group 8" id="8"/>
          <p:cNvGrpSpPr/>
          <p:nvPr/>
        </p:nvGrpSpPr>
        <p:grpSpPr>
          <a:xfrm rot="0">
            <a:off x="1096566" y="2306688"/>
            <a:ext cx="16094869" cy="3048591"/>
            <a:chOff x="0" y="0"/>
            <a:chExt cx="21459825" cy="4064787"/>
          </a:xfrm>
        </p:grpSpPr>
        <p:sp>
          <p:nvSpPr>
            <p:cNvPr name="Freeform 9" id="9"/>
            <p:cNvSpPr/>
            <p:nvPr/>
          </p:nvSpPr>
          <p:spPr>
            <a:xfrm flipH="false" flipV="false" rot="0">
              <a:off x="0" y="0"/>
              <a:ext cx="21459825" cy="4064762"/>
            </a:xfrm>
            <a:custGeom>
              <a:avLst/>
              <a:gdLst/>
              <a:ahLst/>
              <a:cxnLst/>
              <a:rect r="r" b="b" t="t" l="l"/>
              <a:pathLst>
                <a:path h="4064762" w="21459825">
                  <a:moveTo>
                    <a:pt x="0" y="446913"/>
                  </a:moveTo>
                  <a:cubicBezTo>
                    <a:pt x="0" y="200025"/>
                    <a:pt x="200660" y="0"/>
                    <a:pt x="448056" y="0"/>
                  </a:cubicBezTo>
                  <a:lnTo>
                    <a:pt x="21011769" y="0"/>
                  </a:lnTo>
                  <a:lnTo>
                    <a:pt x="21011769" y="6350"/>
                  </a:lnTo>
                  <a:lnTo>
                    <a:pt x="21011769" y="0"/>
                  </a:lnTo>
                  <a:cubicBezTo>
                    <a:pt x="21259164" y="0"/>
                    <a:pt x="21459825" y="200025"/>
                    <a:pt x="21459825" y="446913"/>
                  </a:cubicBezTo>
                  <a:lnTo>
                    <a:pt x="21453475" y="446913"/>
                  </a:lnTo>
                  <a:lnTo>
                    <a:pt x="21459825" y="446913"/>
                  </a:lnTo>
                  <a:lnTo>
                    <a:pt x="21459825" y="3617849"/>
                  </a:lnTo>
                  <a:lnTo>
                    <a:pt x="21453475" y="3617849"/>
                  </a:lnTo>
                  <a:lnTo>
                    <a:pt x="21459825" y="3617849"/>
                  </a:lnTo>
                  <a:cubicBezTo>
                    <a:pt x="21459825" y="3864737"/>
                    <a:pt x="21259164" y="4064762"/>
                    <a:pt x="21011769" y="4064762"/>
                  </a:cubicBezTo>
                  <a:lnTo>
                    <a:pt x="21011769" y="4058412"/>
                  </a:lnTo>
                  <a:lnTo>
                    <a:pt x="21011769" y="4064762"/>
                  </a:lnTo>
                  <a:lnTo>
                    <a:pt x="448056" y="4064762"/>
                  </a:lnTo>
                  <a:lnTo>
                    <a:pt x="448056" y="4058412"/>
                  </a:lnTo>
                  <a:lnTo>
                    <a:pt x="448056" y="4064762"/>
                  </a:lnTo>
                  <a:cubicBezTo>
                    <a:pt x="200660" y="4064762"/>
                    <a:pt x="0" y="3864737"/>
                    <a:pt x="0" y="3617849"/>
                  </a:cubicBezTo>
                  <a:lnTo>
                    <a:pt x="0" y="446913"/>
                  </a:lnTo>
                  <a:lnTo>
                    <a:pt x="6350" y="446913"/>
                  </a:lnTo>
                  <a:lnTo>
                    <a:pt x="0" y="446913"/>
                  </a:lnTo>
                  <a:moveTo>
                    <a:pt x="12700" y="446913"/>
                  </a:moveTo>
                  <a:lnTo>
                    <a:pt x="12700" y="3617849"/>
                  </a:lnTo>
                  <a:lnTo>
                    <a:pt x="6350" y="3617849"/>
                  </a:lnTo>
                  <a:lnTo>
                    <a:pt x="12700" y="3617849"/>
                  </a:lnTo>
                  <a:cubicBezTo>
                    <a:pt x="12700" y="3857625"/>
                    <a:pt x="207645" y="4052062"/>
                    <a:pt x="448056" y="4052062"/>
                  </a:cubicBezTo>
                  <a:lnTo>
                    <a:pt x="21011769" y="4052062"/>
                  </a:lnTo>
                  <a:cubicBezTo>
                    <a:pt x="21252180" y="4052062"/>
                    <a:pt x="21447125" y="3857625"/>
                    <a:pt x="21447125" y="3617849"/>
                  </a:cubicBezTo>
                  <a:lnTo>
                    <a:pt x="21447125" y="446913"/>
                  </a:lnTo>
                  <a:cubicBezTo>
                    <a:pt x="21447125" y="207137"/>
                    <a:pt x="21252180" y="12700"/>
                    <a:pt x="21011769" y="12700"/>
                  </a:cubicBezTo>
                  <a:lnTo>
                    <a:pt x="448056" y="12700"/>
                  </a:lnTo>
                  <a:lnTo>
                    <a:pt x="448056" y="6350"/>
                  </a:lnTo>
                  <a:lnTo>
                    <a:pt x="448056" y="12700"/>
                  </a:lnTo>
                  <a:cubicBezTo>
                    <a:pt x="207645" y="12700"/>
                    <a:pt x="12700" y="207137"/>
                    <a:pt x="12700" y="446913"/>
                  </a:cubicBezTo>
                  <a:close/>
                </a:path>
              </a:pathLst>
            </a:custGeom>
            <a:solidFill>
              <a:srgbClr val="FFFFFF">
                <a:alpha val="5490"/>
              </a:srgbClr>
            </a:solidFill>
          </p:spPr>
        </p:sp>
      </p:grpSp>
      <p:grpSp>
        <p:nvGrpSpPr>
          <p:cNvPr name="Group 10" id="10"/>
          <p:cNvGrpSpPr/>
          <p:nvPr/>
        </p:nvGrpSpPr>
        <p:grpSpPr>
          <a:xfrm rot="0">
            <a:off x="1110853" y="2320976"/>
            <a:ext cx="16066294" cy="503339"/>
            <a:chOff x="0" y="0"/>
            <a:chExt cx="21421725" cy="671119"/>
          </a:xfrm>
        </p:grpSpPr>
        <p:sp>
          <p:nvSpPr>
            <p:cNvPr name="Freeform 11" id="11"/>
            <p:cNvSpPr/>
            <p:nvPr/>
          </p:nvSpPr>
          <p:spPr>
            <a:xfrm flipH="false" flipV="false" rot="0">
              <a:off x="0" y="0"/>
              <a:ext cx="21421725" cy="671068"/>
            </a:xfrm>
            <a:custGeom>
              <a:avLst/>
              <a:gdLst/>
              <a:ahLst/>
              <a:cxnLst/>
              <a:rect r="r" b="b" t="t" l="l"/>
              <a:pathLst>
                <a:path h="671068" w="21421725">
                  <a:moveTo>
                    <a:pt x="0" y="0"/>
                  </a:moveTo>
                  <a:lnTo>
                    <a:pt x="21421725" y="0"/>
                  </a:lnTo>
                  <a:lnTo>
                    <a:pt x="21421725" y="671068"/>
                  </a:lnTo>
                  <a:lnTo>
                    <a:pt x="0" y="671068"/>
                  </a:lnTo>
                  <a:close/>
                </a:path>
              </a:pathLst>
            </a:custGeom>
            <a:solidFill>
              <a:srgbClr val="FFFFFF">
                <a:alpha val="0"/>
              </a:srgbClr>
            </a:solidFill>
          </p:spPr>
        </p:sp>
      </p:grpSp>
      <p:sp>
        <p:nvSpPr>
          <p:cNvPr name="TextBox 12" id="12"/>
          <p:cNvSpPr txBox="true"/>
          <p:nvPr/>
        </p:nvSpPr>
        <p:spPr>
          <a:xfrm rot="0">
            <a:off x="1331414" y="2384822"/>
            <a:ext cx="2767908" cy="337547"/>
          </a:xfrm>
          <a:prstGeom prst="rect">
            <a:avLst/>
          </a:prstGeom>
        </p:spPr>
        <p:txBody>
          <a:bodyPr anchor="t" rtlCol="false" tIns="0" lIns="0" bIns="0" rIns="0">
            <a:spAutoFit/>
          </a:bodyPr>
          <a:lstStyle/>
          <a:p>
            <a:pPr algn="l">
              <a:lnSpc>
                <a:spcPts val="2312"/>
              </a:lnSpc>
            </a:pPr>
            <a:r>
              <a:rPr lang="en-US" sz="1687" b="true">
                <a:solidFill>
                  <a:srgbClr val="E0E4E6"/>
                </a:solidFill>
                <a:latin typeface="Barlow Bold"/>
                <a:ea typeface="Barlow Bold"/>
                <a:cs typeface="Barlow Bold"/>
                <a:sym typeface="Barlow Bold"/>
              </a:rPr>
              <a:t>Activity</a:t>
            </a:r>
          </a:p>
        </p:txBody>
      </p:sp>
      <p:sp>
        <p:nvSpPr>
          <p:cNvPr name="TextBox 13" id="13"/>
          <p:cNvSpPr txBox="true"/>
          <p:nvPr/>
        </p:nvSpPr>
        <p:spPr>
          <a:xfrm rot="0">
            <a:off x="4549378" y="2384822"/>
            <a:ext cx="2763145" cy="337547"/>
          </a:xfrm>
          <a:prstGeom prst="rect">
            <a:avLst/>
          </a:prstGeom>
        </p:spPr>
        <p:txBody>
          <a:bodyPr anchor="t" rtlCol="false" tIns="0" lIns="0" bIns="0" rIns="0">
            <a:spAutoFit/>
          </a:bodyPr>
          <a:lstStyle/>
          <a:p>
            <a:pPr algn="l">
              <a:lnSpc>
                <a:spcPts val="2312"/>
              </a:lnSpc>
            </a:pPr>
            <a:r>
              <a:rPr lang="en-US" sz="1687" b="true">
                <a:solidFill>
                  <a:srgbClr val="E0E4E6"/>
                </a:solidFill>
                <a:latin typeface="Barlow Bold"/>
                <a:ea typeface="Barlow Bold"/>
                <a:cs typeface="Barlow Bold"/>
                <a:sym typeface="Barlow Bold"/>
              </a:rPr>
              <a:t>Frequency</a:t>
            </a:r>
          </a:p>
        </p:txBody>
      </p:sp>
      <p:sp>
        <p:nvSpPr>
          <p:cNvPr name="TextBox 14" id="14"/>
          <p:cNvSpPr txBox="true"/>
          <p:nvPr/>
        </p:nvSpPr>
        <p:spPr>
          <a:xfrm rot="0">
            <a:off x="7762580" y="2384822"/>
            <a:ext cx="2763145" cy="337547"/>
          </a:xfrm>
          <a:prstGeom prst="rect">
            <a:avLst/>
          </a:prstGeom>
        </p:spPr>
        <p:txBody>
          <a:bodyPr anchor="t" rtlCol="false" tIns="0" lIns="0" bIns="0" rIns="0">
            <a:spAutoFit/>
          </a:bodyPr>
          <a:lstStyle/>
          <a:p>
            <a:pPr algn="l">
              <a:lnSpc>
                <a:spcPts val="2312"/>
              </a:lnSpc>
            </a:pPr>
            <a:r>
              <a:rPr lang="en-US" sz="1687" b="true">
                <a:solidFill>
                  <a:srgbClr val="E0E4E6"/>
                </a:solidFill>
                <a:latin typeface="Barlow Bold"/>
                <a:ea typeface="Barlow Bold"/>
                <a:cs typeface="Barlow Bold"/>
                <a:sym typeface="Barlow Bold"/>
              </a:rPr>
              <a:t>Fatality Rate</a:t>
            </a:r>
          </a:p>
        </p:txBody>
      </p:sp>
      <p:sp>
        <p:nvSpPr>
          <p:cNvPr name="TextBox 15" id="15"/>
          <p:cNvSpPr txBox="true"/>
          <p:nvPr/>
        </p:nvSpPr>
        <p:spPr>
          <a:xfrm rot="0">
            <a:off x="10975772" y="2384822"/>
            <a:ext cx="5981109" cy="337547"/>
          </a:xfrm>
          <a:prstGeom prst="rect">
            <a:avLst/>
          </a:prstGeom>
        </p:spPr>
        <p:txBody>
          <a:bodyPr anchor="t" rtlCol="false" tIns="0" lIns="0" bIns="0" rIns="0">
            <a:spAutoFit/>
          </a:bodyPr>
          <a:lstStyle/>
          <a:p>
            <a:pPr algn="l">
              <a:lnSpc>
                <a:spcPts val="2312"/>
              </a:lnSpc>
            </a:pPr>
            <a:r>
              <a:rPr lang="en-US" sz="1687" b="true">
                <a:solidFill>
                  <a:srgbClr val="E0E4E6"/>
                </a:solidFill>
                <a:latin typeface="Barlow Bold"/>
                <a:ea typeface="Barlow Bold"/>
                <a:cs typeface="Barlow Bold"/>
                <a:sym typeface="Barlow Bold"/>
              </a:rPr>
              <a:t>Risk Profile</a:t>
            </a:r>
          </a:p>
        </p:txBody>
      </p:sp>
      <p:grpSp>
        <p:nvGrpSpPr>
          <p:cNvPr name="Group 16" id="16"/>
          <p:cNvGrpSpPr/>
          <p:nvPr/>
        </p:nvGrpSpPr>
        <p:grpSpPr>
          <a:xfrm rot="0">
            <a:off x="1110853" y="2824315"/>
            <a:ext cx="16066294" cy="503339"/>
            <a:chOff x="0" y="0"/>
            <a:chExt cx="21421725" cy="671119"/>
          </a:xfrm>
        </p:grpSpPr>
        <p:sp>
          <p:nvSpPr>
            <p:cNvPr name="Freeform 17" id="17"/>
            <p:cNvSpPr/>
            <p:nvPr/>
          </p:nvSpPr>
          <p:spPr>
            <a:xfrm flipH="false" flipV="false" rot="0">
              <a:off x="0" y="0"/>
              <a:ext cx="21421725" cy="671068"/>
            </a:xfrm>
            <a:custGeom>
              <a:avLst/>
              <a:gdLst/>
              <a:ahLst/>
              <a:cxnLst/>
              <a:rect r="r" b="b" t="t" l="l"/>
              <a:pathLst>
                <a:path h="671068" w="21421725">
                  <a:moveTo>
                    <a:pt x="0" y="0"/>
                  </a:moveTo>
                  <a:lnTo>
                    <a:pt x="21421725" y="0"/>
                  </a:lnTo>
                  <a:lnTo>
                    <a:pt x="21421725" y="671068"/>
                  </a:lnTo>
                  <a:lnTo>
                    <a:pt x="0" y="671068"/>
                  </a:lnTo>
                  <a:close/>
                </a:path>
              </a:pathLst>
            </a:custGeom>
            <a:solidFill>
              <a:srgbClr val="000000">
                <a:alpha val="0"/>
              </a:srgbClr>
            </a:solidFill>
          </p:spPr>
        </p:sp>
      </p:grpSp>
      <p:sp>
        <p:nvSpPr>
          <p:cNvPr name="TextBox 18" id="18"/>
          <p:cNvSpPr txBox="true"/>
          <p:nvPr/>
        </p:nvSpPr>
        <p:spPr>
          <a:xfrm rot="0">
            <a:off x="1331414" y="2888161"/>
            <a:ext cx="2767908"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Surfing</a:t>
            </a:r>
          </a:p>
        </p:txBody>
      </p:sp>
      <p:sp>
        <p:nvSpPr>
          <p:cNvPr name="TextBox 19" id="19"/>
          <p:cNvSpPr txBox="true"/>
          <p:nvPr/>
        </p:nvSpPr>
        <p:spPr>
          <a:xfrm rot="0">
            <a:off x="4549378" y="2888161"/>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Highest</a:t>
            </a:r>
          </a:p>
        </p:txBody>
      </p:sp>
      <p:sp>
        <p:nvSpPr>
          <p:cNvPr name="TextBox 20" id="20"/>
          <p:cNvSpPr txBox="true"/>
          <p:nvPr/>
        </p:nvSpPr>
        <p:spPr>
          <a:xfrm rot="0">
            <a:off x="7762580" y="2888161"/>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12-15% (Low)</a:t>
            </a:r>
          </a:p>
        </p:txBody>
      </p:sp>
      <p:sp>
        <p:nvSpPr>
          <p:cNvPr name="TextBox 21" id="21"/>
          <p:cNvSpPr txBox="true"/>
          <p:nvPr/>
        </p:nvSpPr>
        <p:spPr>
          <a:xfrm rot="0">
            <a:off x="10975772" y="2888161"/>
            <a:ext cx="5981109"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High Exposure / High Survival</a:t>
            </a:r>
          </a:p>
        </p:txBody>
      </p:sp>
      <p:grpSp>
        <p:nvGrpSpPr>
          <p:cNvPr name="Group 22" id="22"/>
          <p:cNvGrpSpPr/>
          <p:nvPr/>
        </p:nvGrpSpPr>
        <p:grpSpPr>
          <a:xfrm rot="0">
            <a:off x="1110853" y="3327644"/>
            <a:ext cx="16066294" cy="503339"/>
            <a:chOff x="0" y="0"/>
            <a:chExt cx="21421725" cy="671119"/>
          </a:xfrm>
        </p:grpSpPr>
        <p:sp>
          <p:nvSpPr>
            <p:cNvPr name="Freeform 23" id="23"/>
            <p:cNvSpPr/>
            <p:nvPr/>
          </p:nvSpPr>
          <p:spPr>
            <a:xfrm flipH="false" flipV="false" rot="0">
              <a:off x="0" y="0"/>
              <a:ext cx="21421725" cy="671068"/>
            </a:xfrm>
            <a:custGeom>
              <a:avLst/>
              <a:gdLst/>
              <a:ahLst/>
              <a:cxnLst/>
              <a:rect r="r" b="b" t="t" l="l"/>
              <a:pathLst>
                <a:path h="671068" w="21421725">
                  <a:moveTo>
                    <a:pt x="0" y="0"/>
                  </a:moveTo>
                  <a:lnTo>
                    <a:pt x="21421725" y="0"/>
                  </a:lnTo>
                  <a:lnTo>
                    <a:pt x="21421725" y="671068"/>
                  </a:lnTo>
                  <a:lnTo>
                    <a:pt x="0" y="671068"/>
                  </a:lnTo>
                  <a:close/>
                </a:path>
              </a:pathLst>
            </a:custGeom>
            <a:solidFill>
              <a:srgbClr val="FFFFFF">
                <a:alpha val="0"/>
              </a:srgbClr>
            </a:solidFill>
          </p:spPr>
        </p:sp>
      </p:grpSp>
      <p:sp>
        <p:nvSpPr>
          <p:cNvPr name="TextBox 24" id="24"/>
          <p:cNvSpPr txBox="true"/>
          <p:nvPr/>
        </p:nvSpPr>
        <p:spPr>
          <a:xfrm rot="0">
            <a:off x="1331414" y="3391491"/>
            <a:ext cx="2767908"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Swimming</a:t>
            </a:r>
          </a:p>
        </p:txBody>
      </p:sp>
      <p:sp>
        <p:nvSpPr>
          <p:cNvPr name="TextBox 25" id="25"/>
          <p:cNvSpPr txBox="true"/>
          <p:nvPr/>
        </p:nvSpPr>
        <p:spPr>
          <a:xfrm rot="0">
            <a:off x="4549378" y="3391491"/>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High</a:t>
            </a:r>
          </a:p>
        </p:txBody>
      </p:sp>
      <p:sp>
        <p:nvSpPr>
          <p:cNvPr name="TextBox 26" id="26"/>
          <p:cNvSpPr txBox="true"/>
          <p:nvPr/>
        </p:nvSpPr>
        <p:spPr>
          <a:xfrm rot="0">
            <a:off x="7762580" y="3391491"/>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25-30% (Med)</a:t>
            </a:r>
          </a:p>
        </p:txBody>
      </p:sp>
      <p:sp>
        <p:nvSpPr>
          <p:cNvPr name="TextBox 27" id="27"/>
          <p:cNvSpPr txBox="true"/>
          <p:nvPr/>
        </p:nvSpPr>
        <p:spPr>
          <a:xfrm rot="0">
            <a:off x="10975772" y="3391491"/>
            <a:ext cx="5981109"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High Exposure / Moderate Risk</a:t>
            </a:r>
          </a:p>
        </p:txBody>
      </p:sp>
      <p:grpSp>
        <p:nvGrpSpPr>
          <p:cNvPr name="Group 28" id="28"/>
          <p:cNvGrpSpPr/>
          <p:nvPr/>
        </p:nvGrpSpPr>
        <p:grpSpPr>
          <a:xfrm rot="0">
            <a:off x="1110853" y="3830984"/>
            <a:ext cx="16066294" cy="503339"/>
            <a:chOff x="0" y="0"/>
            <a:chExt cx="21421725" cy="671119"/>
          </a:xfrm>
        </p:grpSpPr>
        <p:sp>
          <p:nvSpPr>
            <p:cNvPr name="Freeform 29" id="29"/>
            <p:cNvSpPr/>
            <p:nvPr/>
          </p:nvSpPr>
          <p:spPr>
            <a:xfrm flipH="false" flipV="false" rot="0">
              <a:off x="0" y="0"/>
              <a:ext cx="21421725" cy="671068"/>
            </a:xfrm>
            <a:custGeom>
              <a:avLst/>
              <a:gdLst/>
              <a:ahLst/>
              <a:cxnLst/>
              <a:rect r="r" b="b" t="t" l="l"/>
              <a:pathLst>
                <a:path h="671068" w="21421725">
                  <a:moveTo>
                    <a:pt x="0" y="0"/>
                  </a:moveTo>
                  <a:lnTo>
                    <a:pt x="21421725" y="0"/>
                  </a:lnTo>
                  <a:lnTo>
                    <a:pt x="21421725" y="671068"/>
                  </a:lnTo>
                  <a:lnTo>
                    <a:pt x="0" y="671068"/>
                  </a:lnTo>
                  <a:close/>
                </a:path>
              </a:pathLst>
            </a:custGeom>
            <a:solidFill>
              <a:srgbClr val="000000">
                <a:alpha val="0"/>
              </a:srgbClr>
            </a:solidFill>
          </p:spPr>
        </p:sp>
      </p:grpSp>
      <p:sp>
        <p:nvSpPr>
          <p:cNvPr name="TextBox 30" id="30"/>
          <p:cNvSpPr txBox="true"/>
          <p:nvPr/>
        </p:nvSpPr>
        <p:spPr>
          <a:xfrm rot="0">
            <a:off x="1331414" y="3894830"/>
            <a:ext cx="2767908"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Fishing</a:t>
            </a:r>
          </a:p>
        </p:txBody>
      </p:sp>
      <p:sp>
        <p:nvSpPr>
          <p:cNvPr name="TextBox 31" id="31"/>
          <p:cNvSpPr txBox="true"/>
          <p:nvPr/>
        </p:nvSpPr>
        <p:spPr>
          <a:xfrm rot="0">
            <a:off x="4549378" y="3894830"/>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Medium</a:t>
            </a:r>
          </a:p>
        </p:txBody>
      </p:sp>
      <p:sp>
        <p:nvSpPr>
          <p:cNvPr name="TextBox 32" id="32"/>
          <p:cNvSpPr txBox="true"/>
          <p:nvPr/>
        </p:nvSpPr>
        <p:spPr>
          <a:xfrm rot="0">
            <a:off x="7762580" y="3894830"/>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30-35% (High)</a:t>
            </a:r>
          </a:p>
        </p:txBody>
      </p:sp>
      <p:sp>
        <p:nvSpPr>
          <p:cNvPr name="TextBox 33" id="33"/>
          <p:cNvSpPr txBox="true"/>
          <p:nvPr/>
        </p:nvSpPr>
        <p:spPr>
          <a:xfrm rot="0">
            <a:off x="10975772" y="3894830"/>
            <a:ext cx="5981109"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Remote Locations / High Danger</a:t>
            </a:r>
          </a:p>
        </p:txBody>
      </p:sp>
      <p:grpSp>
        <p:nvGrpSpPr>
          <p:cNvPr name="Group 34" id="34"/>
          <p:cNvGrpSpPr/>
          <p:nvPr/>
        </p:nvGrpSpPr>
        <p:grpSpPr>
          <a:xfrm rot="0">
            <a:off x="1110853" y="4334323"/>
            <a:ext cx="16066294" cy="503339"/>
            <a:chOff x="0" y="0"/>
            <a:chExt cx="21421725" cy="671119"/>
          </a:xfrm>
        </p:grpSpPr>
        <p:sp>
          <p:nvSpPr>
            <p:cNvPr name="Freeform 35" id="35"/>
            <p:cNvSpPr/>
            <p:nvPr/>
          </p:nvSpPr>
          <p:spPr>
            <a:xfrm flipH="false" flipV="false" rot="0">
              <a:off x="0" y="0"/>
              <a:ext cx="21421725" cy="671068"/>
            </a:xfrm>
            <a:custGeom>
              <a:avLst/>
              <a:gdLst/>
              <a:ahLst/>
              <a:cxnLst/>
              <a:rect r="r" b="b" t="t" l="l"/>
              <a:pathLst>
                <a:path h="671068" w="21421725">
                  <a:moveTo>
                    <a:pt x="0" y="0"/>
                  </a:moveTo>
                  <a:lnTo>
                    <a:pt x="21421725" y="0"/>
                  </a:lnTo>
                  <a:lnTo>
                    <a:pt x="21421725" y="671068"/>
                  </a:lnTo>
                  <a:lnTo>
                    <a:pt x="0" y="671068"/>
                  </a:lnTo>
                  <a:close/>
                </a:path>
              </a:pathLst>
            </a:custGeom>
            <a:solidFill>
              <a:srgbClr val="FFFFFF">
                <a:alpha val="0"/>
              </a:srgbClr>
            </a:solidFill>
          </p:spPr>
        </p:sp>
      </p:grpSp>
      <p:sp>
        <p:nvSpPr>
          <p:cNvPr name="TextBox 36" id="36"/>
          <p:cNvSpPr txBox="true"/>
          <p:nvPr/>
        </p:nvSpPr>
        <p:spPr>
          <a:xfrm rot="0">
            <a:off x="1331414" y="4398169"/>
            <a:ext cx="2767908"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Boating</a:t>
            </a:r>
          </a:p>
        </p:txBody>
      </p:sp>
      <p:sp>
        <p:nvSpPr>
          <p:cNvPr name="TextBox 37" id="37"/>
          <p:cNvSpPr txBox="true"/>
          <p:nvPr/>
        </p:nvSpPr>
        <p:spPr>
          <a:xfrm rot="0">
            <a:off x="4549378" y="4398169"/>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Low</a:t>
            </a:r>
          </a:p>
        </p:txBody>
      </p:sp>
      <p:sp>
        <p:nvSpPr>
          <p:cNvPr name="TextBox 38" id="38"/>
          <p:cNvSpPr txBox="true"/>
          <p:nvPr/>
        </p:nvSpPr>
        <p:spPr>
          <a:xfrm rot="0">
            <a:off x="7762580" y="4398169"/>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40-50% (High)</a:t>
            </a:r>
          </a:p>
        </p:txBody>
      </p:sp>
      <p:sp>
        <p:nvSpPr>
          <p:cNvPr name="TextBox 39" id="39"/>
          <p:cNvSpPr txBox="true"/>
          <p:nvPr/>
        </p:nvSpPr>
        <p:spPr>
          <a:xfrm rot="0">
            <a:off x="10975772" y="4398169"/>
            <a:ext cx="5981109"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Compound Risk (Drowning + Attack)</a:t>
            </a:r>
          </a:p>
        </p:txBody>
      </p:sp>
      <p:grpSp>
        <p:nvGrpSpPr>
          <p:cNvPr name="Group 40" id="40"/>
          <p:cNvGrpSpPr/>
          <p:nvPr/>
        </p:nvGrpSpPr>
        <p:grpSpPr>
          <a:xfrm rot="0">
            <a:off x="1110853" y="4837662"/>
            <a:ext cx="16066294" cy="503339"/>
            <a:chOff x="0" y="0"/>
            <a:chExt cx="21421725" cy="671119"/>
          </a:xfrm>
        </p:grpSpPr>
        <p:sp>
          <p:nvSpPr>
            <p:cNvPr name="Freeform 41" id="41"/>
            <p:cNvSpPr/>
            <p:nvPr/>
          </p:nvSpPr>
          <p:spPr>
            <a:xfrm flipH="false" flipV="false" rot="0">
              <a:off x="0" y="0"/>
              <a:ext cx="21421725" cy="671068"/>
            </a:xfrm>
            <a:custGeom>
              <a:avLst/>
              <a:gdLst/>
              <a:ahLst/>
              <a:cxnLst/>
              <a:rect r="r" b="b" t="t" l="l"/>
              <a:pathLst>
                <a:path h="671068" w="21421725">
                  <a:moveTo>
                    <a:pt x="0" y="0"/>
                  </a:moveTo>
                  <a:lnTo>
                    <a:pt x="21421725" y="0"/>
                  </a:lnTo>
                  <a:lnTo>
                    <a:pt x="21421725" y="671068"/>
                  </a:lnTo>
                  <a:lnTo>
                    <a:pt x="0" y="671068"/>
                  </a:lnTo>
                  <a:close/>
                </a:path>
              </a:pathLst>
            </a:custGeom>
            <a:solidFill>
              <a:srgbClr val="000000">
                <a:alpha val="0"/>
              </a:srgbClr>
            </a:solidFill>
          </p:spPr>
        </p:sp>
      </p:grpSp>
      <p:sp>
        <p:nvSpPr>
          <p:cNvPr name="TextBox 42" id="42"/>
          <p:cNvSpPr txBox="true"/>
          <p:nvPr/>
        </p:nvSpPr>
        <p:spPr>
          <a:xfrm rot="0">
            <a:off x="1331414" y="4901508"/>
            <a:ext cx="2767908"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Disaster</a:t>
            </a:r>
          </a:p>
        </p:txBody>
      </p:sp>
      <p:sp>
        <p:nvSpPr>
          <p:cNvPr name="TextBox 43" id="43"/>
          <p:cNvSpPr txBox="true"/>
          <p:nvPr/>
        </p:nvSpPr>
        <p:spPr>
          <a:xfrm rot="0">
            <a:off x="4549378" y="4901508"/>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Extreme</a:t>
            </a:r>
          </a:p>
        </p:txBody>
      </p:sp>
      <p:sp>
        <p:nvSpPr>
          <p:cNvPr name="TextBox 44" id="44"/>
          <p:cNvSpPr txBox="true"/>
          <p:nvPr/>
        </p:nvSpPr>
        <p:spPr>
          <a:xfrm rot="0">
            <a:off x="7762580" y="4901508"/>
            <a:ext cx="2763145"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90-100% (Max)</a:t>
            </a:r>
          </a:p>
        </p:txBody>
      </p:sp>
      <p:sp>
        <p:nvSpPr>
          <p:cNvPr name="TextBox 45" id="45"/>
          <p:cNvSpPr txBox="true"/>
          <p:nvPr/>
        </p:nvSpPr>
        <p:spPr>
          <a:xfrm rot="0">
            <a:off x="10975772" y="4901508"/>
            <a:ext cx="5981109" cy="337547"/>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Shipwrecks / Universal Fatality</a:t>
            </a:r>
          </a:p>
        </p:txBody>
      </p:sp>
      <p:sp>
        <p:nvSpPr>
          <p:cNvPr name="TextBox 46" id="46"/>
          <p:cNvSpPr txBox="true"/>
          <p:nvPr/>
        </p:nvSpPr>
        <p:spPr>
          <a:xfrm rot="0">
            <a:off x="1101328" y="5553227"/>
            <a:ext cx="2937119" cy="395735"/>
          </a:xfrm>
          <a:prstGeom prst="rect">
            <a:avLst/>
          </a:prstGeom>
        </p:spPr>
        <p:txBody>
          <a:bodyPr anchor="t" rtlCol="false" tIns="0" lIns="0" bIns="0" rIns="0">
            <a:spAutoFit/>
          </a:bodyPr>
          <a:lstStyle/>
          <a:p>
            <a:pPr algn="l">
              <a:lnSpc>
                <a:spcPts val="2875"/>
              </a:lnSpc>
            </a:pPr>
            <a:r>
              <a:rPr lang="en-US" sz="2312" b="true">
                <a:solidFill>
                  <a:srgbClr val="F0FCFF"/>
                </a:solidFill>
                <a:latin typeface="Arimo Bold"/>
                <a:ea typeface="Arimo Bold"/>
                <a:cs typeface="Arimo Bold"/>
                <a:sym typeface="Arimo Bold"/>
              </a:rPr>
              <a:t>Critical Insights</a:t>
            </a:r>
          </a:p>
        </p:txBody>
      </p:sp>
      <p:grpSp>
        <p:nvGrpSpPr>
          <p:cNvPr name="Group 47" id="47"/>
          <p:cNvGrpSpPr/>
          <p:nvPr/>
        </p:nvGrpSpPr>
        <p:grpSpPr>
          <a:xfrm rot="0">
            <a:off x="1091803" y="6170714"/>
            <a:ext cx="5278041" cy="3208287"/>
            <a:chOff x="0" y="0"/>
            <a:chExt cx="7037388" cy="4277716"/>
          </a:xfrm>
        </p:grpSpPr>
        <p:sp>
          <p:nvSpPr>
            <p:cNvPr name="Freeform 48" id="48"/>
            <p:cNvSpPr/>
            <p:nvPr/>
          </p:nvSpPr>
          <p:spPr>
            <a:xfrm flipH="false" flipV="false" rot="0">
              <a:off x="12700" y="12700"/>
              <a:ext cx="7011924" cy="4252341"/>
            </a:xfrm>
            <a:custGeom>
              <a:avLst/>
              <a:gdLst/>
              <a:ahLst/>
              <a:cxnLst/>
              <a:rect r="r" b="b" t="t" l="l"/>
              <a:pathLst>
                <a:path h="4252341" w="7011924">
                  <a:moveTo>
                    <a:pt x="0" y="440563"/>
                  </a:moveTo>
                  <a:cubicBezTo>
                    <a:pt x="0" y="197231"/>
                    <a:pt x="197739" y="0"/>
                    <a:pt x="441579" y="0"/>
                  </a:cubicBezTo>
                  <a:lnTo>
                    <a:pt x="6570345" y="0"/>
                  </a:lnTo>
                  <a:cubicBezTo>
                    <a:pt x="6814185" y="0"/>
                    <a:pt x="7011924" y="197231"/>
                    <a:pt x="7011924" y="440563"/>
                  </a:cubicBezTo>
                  <a:lnTo>
                    <a:pt x="7011924" y="3811778"/>
                  </a:lnTo>
                  <a:cubicBezTo>
                    <a:pt x="7011924" y="4055110"/>
                    <a:pt x="6814185" y="4252341"/>
                    <a:pt x="6570345" y="4252341"/>
                  </a:cubicBezTo>
                  <a:lnTo>
                    <a:pt x="441579" y="4252341"/>
                  </a:lnTo>
                  <a:cubicBezTo>
                    <a:pt x="197739" y="4252341"/>
                    <a:pt x="0" y="4055110"/>
                    <a:pt x="0" y="3811778"/>
                  </a:cubicBezTo>
                  <a:close/>
                </a:path>
              </a:pathLst>
            </a:custGeom>
            <a:solidFill>
              <a:srgbClr val="0A081B"/>
            </a:solidFill>
          </p:spPr>
        </p:sp>
        <p:sp>
          <p:nvSpPr>
            <p:cNvPr name="Freeform 49" id="49"/>
            <p:cNvSpPr/>
            <p:nvPr/>
          </p:nvSpPr>
          <p:spPr>
            <a:xfrm flipH="false" flipV="false" rot="0">
              <a:off x="0" y="0"/>
              <a:ext cx="7037324" cy="4277741"/>
            </a:xfrm>
            <a:custGeom>
              <a:avLst/>
              <a:gdLst/>
              <a:ahLst/>
              <a:cxnLst/>
              <a:rect r="r" b="b" t="t" l="l"/>
              <a:pathLst>
                <a:path h="4277741" w="7037324">
                  <a:moveTo>
                    <a:pt x="0" y="453263"/>
                  </a:moveTo>
                  <a:cubicBezTo>
                    <a:pt x="0" y="202946"/>
                    <a:pt x="203454" y="0"/>
                    <a:pt x="454279" y="0"/>
                  </a:cubicBezTo>
                  <a:lnTo>
                    <a:pt x="6583045" y="0"/>
                  </a:lnTo>
                  <a:lnTo>
                    <a:pt x="6583045" y="12700"/>
                  </a:lnTo>
                  <a:lnTo>
                    <a:pt x="6583045" y="0"/>
                  </a:lnTo>
                  <a:cubicBezTo>
                    <a:pt x="6833870" y="0"/>
                    <a:pt x="7037324" y="202946"/>
                    <a:pt x="7037324" y="453263"/>
                  </a:cubicBezTo>
                  <a:lnTo>
                    <a:pt x="7024624" y="453263"/>
                  </a:lnTo>
                  <a:lnTo>
                    <a:pt x="7037324" y="453263"/>
                  </a:lnTo>
                  <a:lnTo>
                    <a:pt x="7037324" y="3824478"/>
                  </a:lnTo>
                  <a:lnTo>
                    <a:pt x="7024624" y="3824478"/>
                  </a:lnTo>
                  <a:lnTo>
                    <a:pt x="7037324" y="3824478"/>
                  </a:lnTo>
                  <a:cubicBezTo>
                    <a:pt x="7037324" y="4074795"/>
                    <a:pt x="6833870" y="4277741"/>
                    <a:pt x="6583045" y="4277741"/>
                  </a:cubicBezTo>
                  <a:lnTo>
                    <a:pt x="6583045" y="4265041"/>
                  </a:lnTo>
                  <a:lnTo>
                    <a:pt x="6583045" y="4277741"/>
                  </a:lnTo>
                  <a:lnTo>
                    <a:pt x="454279" y="4277741"/>
                  </a:lnTo>
                  <a:lnTo>
                    <a:pt x="454279" y="4265041"/>
                  </a:lnTo>
                  <a:lnTo>
                    <a:pt x="454279" y="4277741"/>
                  </a:lnTo>
                  <a:cubicBezTo>
                    <a:pt x="203454" y="4277741"/>
                    <a:pt x="0" y="4074795"/>
                    <a:pt x="0" y="3824478"/>
                  </a:cubicBezTo>
                  <a:lnTo>
                    <a:pt x="0" y="453263"/>
                  </a:lnTo>
                  <a:lnTo>
                    <a:pt x="12700" y="453263"/>
                  </a:lnTo>
                  <a:lnTo>
                    <a:pt x="0" y="453263"/>
                  </a:lnTo>
                  <a:moveTo>
                    <a:pt x="25400" y="453263"/>
                  </a:moveTo>
                  <a:lnTo>
                    <a:pt x="25400" y="3824478"/>
                  </a:lnTo>
                  <a:lnTo>
                    <a:pt x="12700" y="3824478"/>
                  </a:lnTo>
                  <a:lnTo>
                    <a:pt x="25400" y="3824478"/>
                  </a:lnTo>
                  <a:cubicBezTo>
                    <a:pt x="25400" y="4060825"/>
                    <a:pt x="217424" y="4252341"/>
                    <a:pt x="454279" y="4252341"/>
                  </a:cubicBezTo>
                  <a:lnTo>
                    <a:pt x="6583045" y="4252341"/>
                  </a:lnTo>
                  <a:cubicBezTo>
                    <a:pt x="6819900" y="4252341"/>
                    <a:pt x="7011924" y="4060698"/>
                    <a:pt x="7011924" y="3824478"/>
                  </a:cubicBezTo>
                  <a:lnTo>
                    <a:pt x="7011924" y="453263"/>
                  </a:lnTo>
                  <a:cubicBezTo>
                    <a:pt x="7012051" y="217043"/>
                    <a:pt x="6820027" y="25400"/>
                    <a:pt x="6583045" y="25400"/>
                  </a:cubicBezTo>
                  <a:lnTo>
                    <a:pt x="454279" y="25400"/>
                  </a:lnTo>
                  <a:lnTo>
                    <a:pt x="454279" y="12700"/>
                  </a:lnTo>
                  <a:lnTo>
                    <a:pt x="454279" y="25400"/>
                  </a:lnTo>
                  <a:cubicBezTo>
                    <a:pt x="217424" y="25400"/>
                    <a:pt x="25400" y="217043"/>
                    <a:pt x="25400" y="453263"/>
                  </a:cubicBezTo>
                  <a:close/>
                </a:path>
              </a:pathLst>
            </a:custGeom>
            <a:solidFill>
              <a:srgbClr val="16FFBB"/>
            </a:solidFill>
          </p:spPr>
        </p:sp>
      </p:grpSp>
      <p:grpSp>
        <p:nvGrpSpPr>
          <p:cNvPr name="Group 50" id="50"/>
          <p:cNvGrpSpPr/>
          <p:nvPr/>
        </p:nvGrpSpPr>
        <p:grpSpPr>
          <a:xfrm rot="0">
            <a:off x="1340644" y="6419555"/>
            <a:ext cx="660797" cy="660797"/>
            <a:chOff x="0" y="0"/>
            <a:chExt cx="881062" cy="881062"/>
          </a:xfrm>
        </p:grpSpPr>
        <p:sp>
          <p:nvSpPr>
            <p:cNvPr name="Freeform 51" id="51"/>
            <p:cNvSpPr/>
            <p:nvPr/>
          </p:nvSpPr>
          <p:spPr>
            <a:xfrm flipH="false" flipV="false" rot="0">
              <a:off x="0" y="0"/>
              <a:ext cx="881126" cy="881126"/>
            </a:xfrm>
            <a:custGeom>
              <a:avLst/>
              <a:gdLst/>
              <a:ahLst/>
              <a:cxnLst/>
              <a:rect r="r" b="b" t="t" l="l"/>
              <a:pathLst>
                <a:path h="881126" w="881126">
                  <a:moveTo>
                    <a:pt x="0" y="440563"/>
                  </a:moveTo>
                  <a:cubicBezTo>
                    <a:pt x="0" y="197231"/>
                    <a:pt x="197231" y="0"/>
                    <a:pt x="440563" y="0"/>
                  </a:cubicBezTo>
                  <a:cubicBezTo>
                    <a:pt x="683895" y="0"/>
                    <a:pt x="881126" y="197231"/>
                    <a:pt x="881126" y="440563"/>
                  </a:cubicBezTo>
                  <a:cubicBezTo>
                    <a:pt x="881126" y="683895"/>
                    <a:pt x="683768" y="881126"/>
                    <a:pt x="440563" y="881126"/>
                  </a:cubicBezTo>
                  <a:cubicBezTo>
                    <a:pt x="197358" y="881126"/>
                    <a:pt x="0" y="683768"/>
                    <a:pt x="0" y="440563"/>
                  </a:cubicBezTo>
                  <a:close/>
                </a:path>
              </a:pathLst>
            </a:custGeom>
            <a:solidFill>
              <a:srgbClr val="16FFBB"/>
            </a:solidFill>
          </p:spPr>
        </p:sp>
      </p:grpSp>
      <p:sp>
        <p:nvSpPr>
          <p:cNvPr name="Freeform 52" id="52" descr="preencoded.png"/>
          <p:cNvSpPr/>
          <p:nvPr/>
        </p:nvSpPr>
        <p:spPr>
          <a:xfrm flipH="false" flipV="false" rot="0">
            <a:off x="1522362" y="6601120"/>
            <a:ext cx="297361" cy="297361"/>
          </a:xfrm>
          <a:custGeom>
            <a:avLst/>
            <a:gdLst/>
            <a:ahLst/>
            <a:cxnLst/>
            <a:rect r="r" b="b" t="t" l="l"/>
            <a:pathLst>
              <a:path h="297361" w="297361">
                <a:moveTo>
                  <a:pt x="0" y="0"/>
                </a:moveTo>
                <a:lnTo>
                  <a:pt x="297361" y="0"/>
                </a:lnTo>
                <a:lnTo>
                  <a:pt x="297361" y="297361"/>
                </a:lnTo>
                <a:lnTo>
                  <a:pt x="0" y="297361"/>
                </a:lnTo>
                <a:lnTo>
                  <a:pt x="0" y="0"/>
                </a:lnTo>
                <a:close/>
              </a:path>
            </a:pathLst>
          </a:custGeom>
          <a:blipFill>
            <a:blip r:embed="rId4">
              <a:extLst>
                <a:ext uri="{96DAC541-7B7A-43D3-8B79-37D633B846F1}">
                  <asvg:svgBlip xmlns:asvg="http://schemas.microsoft.com/office/drawing/2016/SVG/main" r:embed="rId5"/>
                </a:ext>
              </a:extLst>
            </a:blip>
            <a:stretch>
              <a:fillRect l="0" t="-64063" r="0" b="-64060"/>
            </a:stretch>
          </a:blipFill>
        </p:spPr>
      </p:sp>
      <p:sp>
        <p:nvSpPr>
          <p:cNvPr name="TextBox 53" id="53"/>
          <p:cNvSpPr txBox="true"/>
          <p:nvPr/>
        </p:nvSpPr>
        <p:spPr>
          <a:xfrm rot="0">
            <a:off x="1340644" y="7196433"/>
            <a:ext cx="2447630" cy="344091"/>
          </a:xfrm>
          <a:prstGeom prst="rect">
            <a:avLst/>
          </a:prstGeom>
        </p:spPr>
        <p:txBody>
          <a:bodyPr anchor="t" rtlCol="false" tIns="0" lIns="0" bIns="0" rIns="0">
            <a:spAutoFit/>
          </a:bodyPr>
          <a:lstStyle/>
          <a:p>
            <a:pPr algn="l">
              <a:lnSpc>
                <a:spcPts val="2375"/>
              </a:lnSpc>
            </a:pPr>
            <a:r>
              <a:rPr lang="en-US" sz="1874" b="true">
                <a:solidFill>
                  <a:srgbClr val="E0E4E6"/>
                </a:solidFill>
                <a:latin typeface="Arimo Bold"/>
                <a:ea typeface="Arimo Bold"/>
                <a:cs typeface="Arimo Bold"/>
                <a:sym typeface="Arimo Bold"/>
              </a:rPr>
              <a:t>The Surfer Paradox</a:t>
            </a:r>
          </a:p>
        </p:txBody>
      </p:sp>
      <p:sp>
        <p:nvSpPr>
          <p:cNvPr name="TextBox 54" id="54"/>
          <p:cNvSpPr txBox="true"/>
          <p:nvPr/>
        </p:nvSpPr>
        <p:spPr>
          <a:xfrm rot="0">
            <a:off x="1340644" y="7594844"/>
            <a:ext cx="4780359" cy="1235869"/>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Surfing has the highest number of attacks but the best survival rate. This is due to surfers usually being in groups, in daylight, and having boards that provide buoyancy/protection after a bite.</a:t>
            </a:r>
          </a:p>
        </p:txBody>
      </p:sp>
      <p:grpSp>
        <p:nvGrpSpPr>
          <p:cNvPr name="Group 55" id="55"/>
          <p:cNvGrpSpPr/>
          <p:nvPr/>
        </p:nvGrpSpPr>
        <p:grpSpPr>
          <a:xfrm rot="0">
            <a:off x="6504984" y="6170714"/>
            <a:ext cx="5278041" cy="3208287"/>
            <a:chOff x="0" y="0"/>
            <a:chExt cx="7037388" cy="4277716"/>
          </a:xfrm>
        </p:grpSpPr>
        <p:sp>
          <p:nvSpPr>
            <p:cNvPr name="Freeform 56" id="56"/>
            <p:cNvSpPr/>
            <p:nvPr/>
          </p:nvSpPr>
          <p:spPr>
            <a:xfrm flipH="false" flipV="false" rot="0">
              <a:off x="12700" y="12700"/>
              <a:ext cx="7011924" cy="4252341"/>
            </a:xfrm>
            <a:custGeom>
              <a:avLst/>
              <a:gdLst/>
              <a:ahLst/>
              <a:cxnLst/>
              <a:rect r="r" b="b" t="t" l="l"/>
              <a:pathLst>
                <a:path h="4252341" w="7011924">
                  <a:moveTo>
                    <a:pt x="0" y="440563"/>
                  </a:moveTo>
                  <a:cubicBezTo>
                    <a:pt x="0" y="197231"/>
                    <a:pt x="197739" y="0"/>
                    <a:pt x="441579" y="0"/>
                  </a:cubicBezTo>
                  <a:lnTo>
                    <a:pt x="6570345" y="0"/>
                  </a:lnTo>
                  <a:cubicBezTo>
                    <a:pt x="6814185" y="0"/>
                    <a:pt x="7011924" y="197231"/>
                    <a:pt x="7011924" y="440563"/>
                  </a:cubicBezTo>
                  <a:lnTo>
                    <a:pt x="7011924" y="3811778"/>
                  </a:lnTo>
                  <a:cubicBezTo>
                    <a:pt x="7011924" y="4055110"/>
                    <a:pt x="6814185" y="4252341"/>
                    <a:pt x="6570345" y="4252341"/>
                  </a:cubicBezTo>
                  <a:lnTo>
                    <a:pt x="441579" y="4252341"/>
                  </a:lnTo>
                  <a:cubicBezTo>
                    <a:pt x="197739" y="4252341"/>
                    <a:pt x="0" y="4055110"/>
                    <a:pt x="0" y="3811778"/>
                  </a:cubicBezTo>
                  <a:close/>
                </a:path>
              </a:pathLst>
            </a:custGeom>
            <a:solidFill>
              <a:srgbClr val="0A081B"/>
            </a:solidFill>
          </p:spPr>
        </p:sp>
        <p:sp>
          <p:nvSpPr>
            <p:cNvPr name="Freeform 57" id="57"/>
            <p:cNvSpPr/>
            <p:nvPr/>
          </p:nvSpPr>
          <p:spPr>
            <a:xfrm flipH="false" flipV="false" rot="0">
              <a:off x="0" y="0"/>
              <a:ext cx="7037324" cy="4277741"/>
            </a:xfrm>
            <a:custGeom>
              <a:avLst/>
              <a:gdLst/>
              <a:ahLst/>
              <a:cxnLst/>
              <a:rect r="r" b="b" t="t" l="l"/>
              <a:pathLst>
                <a:path h="4277741" w="7037324">
                  <a:moveTo>
                    <a:pt x="0" y="453263"/>
                  </a:moveTo>
                  <a:cubicBezTo>
                    <a:pt x="0" y="202946"/>
                    <a:pt x="203454" y="0"/>
                    <a:pt x="454279" y="0"/>
                  </a:cubicBezTo>
                  <a:lnTo>
                    <a:pt x="6583045" y="0"/>
                  </a:lnTo>
                  <a:lnTo>
                    <a:pt x="6583045" y="12700"/>
                  </a:lnTo>
                  <a:lnTo>
                    <a:pt x="6583045" y="0"/>
                  </a:lnTo>
                  <a:cubicBezTo>
                    <a:pt x="6833870" y="0"/>
                    <a:pt x="7037324" y="202946"/>
                    <a:pt x="7037324" y="453263"/>
                  </a:cubicBezTo>
                  <a:lnTo>
                    <a:pt x="7024624" y="453263"/>
                  </a:lnTo>
                  <a:lnTo>
                    <a:pt x="7037324" y="453263"/>
                  </a:lnTo>
                  <a:lnTo>
                    <a:pt x="7037324" y="3824478"/>
                  </a:lnTo>
                  <a:lnTo>
                    <a:pt x="7024624" y="3824478"/>
                  </a:lnTo>
                  <a:lnTo>
                    <a:pt x="7037324" y="3824478"/>
                  </a:lnTo>
                  <a:cubicBezTo>
                    <a:pt x="7037324" y="4074795"/>
                    <a:pt x="6833870" y="4277741"/>
                    <a:pt x="6583045" y="4277741"/>
                  </a:cubicBezTo>
                  <a:lnTo>
                    <a:pt x="6583045" y="4265041"/>
                  </a:lnTo>
                  <a:lnTo>
                    <a:pt x="6583045" y="4277741"/>
                  </a:lnTo>
                  <a:lnTo>
                    <a:pt x="454279" y="4277741"/>
                  </a:lnTo>
                  <a:lnTo>
                    <a:pt x="454279" y="4265041"/>
                  </a:lnTo>
                  <a:lnTo>
                    <a:pt x="454279" y="4277741"/>
                  </a:lnTo>
                  <a:cubicBezTo>
                    <a:pt x="203454" y="4277741"/>
                    <a:pt x="0" y="4074795"/>
                    <a:pt x="0" y="3824478"/>
                  </a:cubicBezTo>
                  <a:lnTo>
                    <a:pt x="0" y="453263"/>
                  </a:lnTo>
                  <a:lnTo>
                    <a:pt x="12700" y="453263"/>
                  </a:lnTo>
                  <a:lnTo>
                    <a:pt x="0" y="453263"/>
                  </a:lnTo>
                  <a:moveTo>
                    <a:pt x="25400" y="453263"/>
                  </a:moveTo>
                  <a:lnTo>
                    <a:pt x="25400" y="3824478"/>
                  </a:lnTo>
                  <a:lnTo>
                    <a:pt x="12700" y="3824478"/>
                  </a:lnTo>
                  <a:lnTo>
                    <a:pt x="25400" y="3824478"/>
                  </a:lnTo>
                  <a:cubicBezTo>
                    <a:pt x="25400" y="4060825"/>
                    <a:pt x="217424" y="4252341"/>
                    <a:pt x="454279" y="4252341"/>
                  </a:cubicBezTo>
                  <a:lnTo>
                    <a:pt x="6583045" y="4252341"/>
                  </a:lnTo>
                  <a:cubicBezTo>
                    <a:pt x="6819900" y="4252341"/>
                    <a:pt x="7011924" y="4060698"/>
                    <a:pt x="7011924" y="3824478"/>
                  </a:cubicBezTo>
                  <a:lnTo>
                    <a:pt x="7011924" y="453263"/>
                  </a:lnTo>
                  <a:cubicBezTo>
                    <a:pt x="7012051" y="217043"/>
                    <a:pt x="6820027" y="25400"/>
                    <a:pt x="6583045" y="25400"/>
                  </a:cubicBezTo>
                  <a:lnTo>
                    <a:pt x="454279" y="25400"/>
                  </a:lnTo>
                  <a:lnTo>
                    <a:pt x="454279" y="12700"/>
                  </a:lnTo>
                  <a:lnTo>
                    <a:pt x="454279" y="25400"/>
                  </a:lnTo>
                  <a:cubicBezTo>
                    <a:pt x="217424" y="25400"/>
                    <a:pt x="25400" y="217043"/>
                    <a:pt x="25400" y="453263"/>
                  </a:cubicBezTo>
                  <a:close/>
                </a:path>
              </a:pathLst>
            </a:custGeom>
            <a:solidFill>
              <a:srgbClr val="29DDDA"/>
            </a:solidFill>
          </p:spPr>
        </p:sp>
      </p:grpSp>
      <p:grpSp>
        <p:nvGrpSpPr>
          <p:cNvPr name="Group 58" id="58"/>
          <p:cNvGrpSpPr/>
          <p:nvPr/>
        </p:nvGrpSpPr>
        <p:grpSpPr>
          <a:xfrm rot="0">
            <a:off x="6753816" y="6419555"/>
            <a:ext cx="660797" cy="660797"/>
            <a:chOff x="0" y="0"/>
            <a:chExt cx="881062" cy="881062"/>
          </a:xfrm>
        </p:grpSpPr>
        <p:sp>
          <p:nvSpPr>
            <p:cNvPr name="Freeform 59" id="59"/>
            <p:cNvSpPr/>
            <p:nvPr/>
          </p:nvSpPr>
          <p:spPr>
            <a:xfrm flipH="false" flipV="false" rot="0">
              <a:off x="0" y="0"/>
              <a:ext cx="881126" cy="881126"/>
            </a:xfrm>
            <a:custGeom>
              <a:avLst/>
              <a:gdLst/>
              <a:ahLst/>
              <a:cxnLst/>
              <a:rect r="r" b="b" t="t" l="l"/>
              <a:pathLst>
                <a:path h="881126" w="881126">
                  <a:moveTo>
                    <a:pt x="0" y="440563"/>
                  </a:moveTo>
                  <a:cubicBezTo>
                    <a:pt x="0" y="197231"/>
                    <a:pt x="197231" y="0"/>
                    <a:pt x="440563" y="0"/>
                  </a:cubicBezTo>
                  <a:cubicBezTo>
                    <a:pt x="683895" y="0"/>
                    <a:pt x="881126" y="197231"/>
                    <a:pt x="881126" y="440563"/>
                  </a:cubicBezTo>
                  <a:cubicBezTo>
                    <a:pt x="881126" y="683895"/>
                    <a:pt x="683768" y="881126"/>
                    <a:pt x="440563" y="881126"/>
                  </a:cubicBezTo>
                  <a:cubicBezTo>
                    <a:pt x="197358" y="881126"/>
                    <a:pt x="0" y="683768"/>
                    <a:pt x="0" y="440563"/>
                  </a:cubicBezTo>
                  <a:close/>
                </a:path>
              </a:pathLst>
            </a:custGeom>
            <a:solidFill>
              <a:srgbClr val="29DDDA"/>
            </a:solidFill>
          </p:spPr>
        </p:sp>
      </p:grpSp>
      <p:sp>
        <p:nvSpPr>
          <p:cNvPr name="Freeform 60" id="60" descr="preencoded.png"/>
          <p:cNvSpPr/>
          <p:nvPr/>
        </p:nvSpPr>
        <p:spPr>
          <a:xfrm flipH="false" flipV="false" rot="0">
            <a:off x="6935543" y="6601120"/>
            <a:ext cx="297361" cy="297361"/>
          </a:xfrm>
          <a:custGeom>
            <a:avLst/>
            <a:gdLst/>
            <a:ahLst/>
            <a:cxnLst/>
            <a:rect r="r" b="b" t="t" l="l"/>
            <a:pathLst>
              <a:path h="297361" w="297361">
                <a:moveTo>
                  <a:pt x="0" y="0"/>
                </a:moveTo>
                <a:lnTo>
                  <a:pt x="297361" y="0"/>
                </a:lnTo>
                <a:lnTo>
                  <a:pt x="297361" y="297361"/>
                </a:lnTo>
                <a:lnTo>
                  <a:pt x="0" y="297361"/>
                </a:lnTo>
                <a:lnTo>
                  <a:pt x="0" y="0"/>
                </a:lnTo>
                <a:close/>
              </a:path>
            </a:pathLst>
          </a:custGeom>
          <a:blipFill>
            <a:blip r:embed="rId6">
              <a:extLst>
                <a:ext uri="{96DAC541-7B7A-43D3-8B79-37D633B846F1}">
                  <asvg:svgBlip xmlns:asvg="http://schemas.microsoft.com/office/drawing/2016/SVG/main" r:embed="rId7"/>
                </a:ext>
              </a:extLst>
            </a:blip>
            <a:stretch>
              <a:fillRect l="0" t="-12498" r="0" b="-12498"/>
            </a:stretch>
          </a:blipFill>
        </p:spPr>
      </p:sp>
      <p:sp>
        <p:nvSpPr>
          <p:cNvPr name="TextBox 61" id="61"/>
          <p:cNvSpPr txBox="true"/>
          <p:nvPr/>
        </p:nvSpPr>
        <p:spPr>
          <a:xfrm rot="0">
            <a:off x="6753816" y="7196433"/>
            <a:ext cx="2447630" cy="344091"/>
          </a:xfrm>
          <a:prstGeom prst="rect">
            <a:avLst/>
          </a:prstGeom>
        </p:spPr>
        <p:txBody>
          <a:bodyPr anchor="t" rtlCol="false" tIns="0" lIns="0" bIns="0" rIns="0">
            <a:spAutoFit/>
          </a:bodyPr>
          <a:lstStyle/>
          <a:p>
            <a:pPr algn="l">
              <a:lnSpc>
                <a:spcPts val="2375"/>
              </a:lnSpc>
            </a:pPr>
            <a:r>
              <a:rPr lang="en-US" sz="1874" b="true">
                <a:solidFill>
                  <a:srgbClr val="E0E4E6"/>
                </a:solidFill>
                <a:latin typeface="Arimo Bold"/>
                <a:ea typeface="Arimo Bold"/>
                <a:cs typeface="Arimo Bold"/>
                <a:sym typeface="Arimo Bold"/>
              </a:rPr>
              <a:t>Context is King</a:t>
            </a:r>
          </a:p>
        </p:txBody>
      </p:sp>
      <p:sp>
        <p:nvSpPr>
          <p:cNvPr name="TextBox 62" id="62"/>
          <p:cNvSpPr txBox="true"/>
          <p:nvPr/>
        </p:nvSpPr>
        <p:spPr>
          <a:xfrm rot="0">
            <a:off x="6753816" y="7594844"/>
            <a:ext cx="4780359" cy="1235869"/>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Swimming and Fishing carry higher risks because victims are often more isolated, deeper in the water column, and further from immediate medical help compared to beach-front surfers.</a:t>
            </a:r>
          </a:p>
        </p:txBody>
      </p:sp>
      <p:grpSp>
        <p:nvGrpSpPr>
          <p:cNvPr name="Group 63" id="63"/>
          <p:cNvGrpSpPr/>
          <p:nvPr/>
        </p:nvGrpSpPr>
        <p:grpSpPr>
          <a:xfrm rot="0">
            <a:off x="11918156" y="6170714"/>
            <a:ext cx="5278041" cy="3208287"/>
            <a:chOff x="0" y="0"/>
            <a:chExt cx="7037388" cy="4277716"/>
          </a:xfrm>
        </p:grpSpPr>
        <p:sp>
          <p:nvSpPr>
            <p:cNvPr name="Freeform 64" id="64"/>
            <p:cNvSpPr/>
            <p:nvPr/>
          </p:nvSpPr>
          <p:spPr>
            <a:xfrm flipH="false" flipV="false" rot="0">
              <a:off x="12700" y="12700"/>
              <a:ext cx="7011924" cy="4252341"/>
            </a:xfrm>
            <a:custGeom>
              <a:avLst/>
              <a:gdLst/>
              <a:ahLst/>
              <a:cxnLst/>
              <a:rect r="r" b="b" t="t" l="l"/>
              <a:pathLst>
                <a:path h="4252341" w="7011924">
                  <a:moveTo>
                    <a:pt x="0" y="440563"/>
                  </a:moveTo>
                  <a:cubicBezTo>
                    <a:pt x="0" y="197231"/>
                    <a:pt x="197739" y="0"/>
                    <a:pt x="441579" y="0"/>
                  </a:cubicBezTo>
                  <a:lnTo>
                    <a:pt x="6570345" y="0"/>
                  </a:lnTo>
                  <a:cubicBezTo>
                    <a:pt x="6814185" y="0"/>
                    <a:pt x="7011924" y="197231"/>
                    <a:pt x="7011924" y="440563"/>
                  </a:cubicBezTo>
                  <a:lnTo>
                    <a:pt x="7011924" y="3811778"/>
                  </a:lnTo>
                  <a:cubicBezTo>
                    <a:pt x="7011924" y="4055110"/>
                    <a:pt x="6814185" y="4252341"/>
                    <a:pt x="6570345" y="4252341"/>
                  </a:cubicBezTo>
                  <a:lnTo>
                    <a:pt x="441579" y="4252341"/>
                  </a:lnTo>
                  <a:cubicBezTo>
                    <a:pt x="197739" y="4252341"/>
                    <a:pt x="0" y="4055110"/>
                    <a:pt x="0" y="3811778"/>
                  </a:cubicBezTo>
                  <a:close/>
                </a:path>
              </a:pathLst>
            </a:custGeom>
            <a:solidFill>
              <a:srgbClr val="0A081B"/>
            </a:solidFill>
          </p:spPr>
        </p:sp>
        <p:sp>
          <p:nvSpPr>
            <p:cNvPr name="Freeform 65" id="65"/>
            <p:cNvSpPr/>
            <p:nvPr/>
          </p:nvSpPr>
          <p:spPr>
            <a:xfrm flipH="false" flipV="false" rot="0">
              <a:off x="0" y="0"/>
              <a:ext cx="7037324" cy="4277741"/>
            </a:xfrm>
            <a:custGeom>
              <a:avLst/>
              <a:gdLst/>
              <a:ahLst/>
              <a:cxnLst/>
              <a:rect r="r" b="b" t="t" l="l"/>
              <a:pathLst>
                <a:path h="4277741" w="7037324">
                  <a:moveTo>
                    <a:pt x="0" y="453263"/>
                  </a:moveTo>
                  <a:cubicBezTo>
                    <a:pt x="0" y="202946"/>
                    <a:pt x="203454" y="0"/>
                    <a:pt x="454279" y="0"/>
                  </a:cubicBezTo>
                  <a:lnTo>
                    <a:pt x="6583045" y="0"/>
                  </a:lnTo>
                  <a:lnTo>
                    <a:pt x="6583045" y="12700"/>
                  </a:lnTo>
                  <a:lnTo>
                    <a:pt x="6583045" y="0"/>
                  </a:lnTo>
                  <a:cubicBezTo>
                    <a:pt x="6833870" y="0"/>
                    <a:pt x="7037324" y="202946"/>
                    <a:pt x="7037324" y="453263"/>
                  </a:cubicBezTo>
                  <a:lnTo>
                    <a:pt x="7024624" y="453263"/>
                  </a:lnTo>
                  <a:lnTo>
                    <a:pt x="7037324" y="453263"/>
                  </a:lnTo>
                  <a:lnTo>
                    <a:pt x="7037324" y="3824478"/>
                  </a:lnTo>
                  <a:lnTo>
                    <a:pt x="7024624" y="3824478"/>
                  </a:lnTo>
                  <a:lnTo>
                    <a:pt x="7037324" y="3824478"/>
                  </a:lnTo>
                  <a:cubicBezTo>
                    <a:pt x="7037324" y="4074795"/>
                    <a:pt x="6833870" y="4277741"/>
                    <a:pt x="6583045" y="4277741"/>
                  </a:cubicBezTo>
                  <a:lnTo>
                    <a:pt x="6583045" y="4265041"/>
                  </a:lnTo>
                  <a:lnTo>
                    <a:pt x="6583045" y="4277741"/>
                  </a:lnTo>
                  <a:lnTo>
                    <a:pt x="454279" y="4277741"/>
                  </a:lnTo>
                  <a:lnTo>
                    <a:pt x="454279" y="4265041"/>
                  </a:lnTo>
                  <a:lnTo>
                    <a:pt x="454279" y="4277741"/>
                  </a:lnTo>
                  <a:cubicBezTo>
                    <a:pt x="203454" y="4277741"/>
                    <a:pt x="0" y="4074795"/>
                    <a:pt x="0" y="3824478"/>
                  </a:cubicBezTo>
                  <a:lnTo>
                    <a:pt x="0" y="453263"/>
                  </a:lnTo>
                  <a:lnTo>
                    <a:pt x="12700" y="453263"/>
                  </a:lnTo>
                  <a:lnTo>
                    <a:pt x="0" y="453263"/>
                  </a:lnTo>
                  <a:moveTo>
                    <a:pt x="25400" y="453263"/>
                  </a:moveTo>
                  <a:lnTo>
                    <a:pt x="25400" y="3824478"/>
                  </a:lnTo>
                  <a:lnTo>
                    <a:pt x="12700" y="3824478"/>
                  </a:lnTo>
                  <a:lnTo>
                    <a:pt x="25400" y="3824478"/>
                  </a:lnTo>
                  <a:cubicBezTo>
                    <a:pt x="25400" y="4060825"/>
                    <a:pt x="217424" y="4252341"/>
                    <a:pt x="454279" y="4252341"/>
                  </a:cubicBezTo>
                  <a:lnTo>
                    <a:pt x="6583045" y="4252341"/>
                  </a:lnTo>
                  <a:cubicBezTo>
                    <a:pt x="6819900" y="4252341"/>
                    <a:pt x="7011924" y="4060698"/>
                    <a:pt x="7011924" y="3824478"/>
                  </a:cubicBezTo>
                  <a:lnTo>
                    <a:pt x="7011924" y="453263"/>
                  </a:lnTo>
                  <a:cubicBezTo>
                    <a:pt x="7012051" y="217043"/>
                    <a:pt x="6820027" y="25400"/>
                    <a:pt x="6583045" y="25400"/>
                  </a:cubicBezTo>
                  <a:lnTo>
                    <a:pt x="454279" y="25400"/>
                  </a:lnTo>
                  <a:lnTo>
                    <a:pt x="454279" y="12700"/>
                  </a:lnTo>
                  <a:lnTo>
                    <a:pt x="454279" y="25400"/>
                  </a:lnTo>
                  <a:cubicBezTo>
                    <a:pt x="217424" y="25400"/>
                    <a:pt x="25400" y="217043"/>
                    <a:pt x="25400" y="453263"/>
                  </a:cubicBezTo>
                  <a:close/>
                </a:path>
              </a:pathLst>
            </a:custGeom>
            <a:solidFill>
              <a:srgbClr val="37A7E7"/>
            </a:solidFill>
          </p:spPr>
        </p:sp>
      </p:grpSp>
      <p:grpSp>
        <p:nvGrpSpPr>
          <p:cNvPr name="Group 66" id="66"/>
          <p:cNvGrpSpPr/>
          <p:nvPr/>
        </p:nvGrpSpPr>
        <p:grpSpPr>
          <a:xfrm rot="0">
            <a:off x="12166997" y="6419555"/>
            <a:ext cx="660797" cy="660797"/>
            <a:chOff x="0" y="0"/>
            <a:chExt cx="881062" cy="881062"/>
          </a:xfrm>
        </p:grpSpPr>
        <p:sp>
          <p:nvSpPr>
            <p:cNvPr name="Freeform 67" id="67"/>
            <p:cNvSpPr/>
            <p:nvPr/>
          </p:nvSpPr>
          <p:spPr>
            <a:xfrm flipH="false" flipV="false" rot="0">
              <a:off x="0" y="0"/>
              <a:ext cx="881126" cy="881126"/>
            </a:xfrm>
            <a:custGeom>
              <a:avLst/>
              <a:gdLst/>
              <a:ahLst/>
              <a:cxnLst/>
              <a:rect r="r" b="b" t="t" l="l"/>
              <a:pathLst>
                <a:path h="881126" w="881126">
                  <a:moveTo>
                    <a:pt x="0" y="440563"/>
                  </a:moveTo>
                  <a:cubicBezTo>
                    <a:pt x="0" y="197231"/>
                    <a:pt x="197231" y="0"/>
                    <a:pt x="440563" y="0"/>
                  </a:cubicBezTo>
                  <a:cubicBezTo>
                    <a:pt x="683895" y="0"/>
                    <a:pt x="881126" y="197231"/>
                    <a:pt x="881126" y="440563"/>
                  </a:cubicBezTo>
                  <a:cubicBezTo>
                    <a:pt x="881126" y="683895"/>
                    <a:pt x="683768" y="881126"/>
                    <a:pt x="440563" y="881126"/>
                  </a:cubicBezTo>
                  <a:cubicBezTo>
                    <a:pt x="197358" y="881126"/>
                    <a:pt x="0" y="683768"/>
                    <a:pt x="0" y="440563"/>
                  </a:cubicBezTo>
                  <a:close/>
                </a:path>
              </a:pathLst>
            </a:custGeom>
            <a:solidFill>
              <a:srgbClr val="37A7E7"/>
            </a:solidFill>
          </p:spPr>
        </p:sp>
      </p:grpSp>
      <p:sp>
        <p:nvSpPr>
          <p:cNvPr name="Freeform 68" id="68" descr="preencoded.png"/>
          <p:cNvSpPr/>
          <p:nvPr/>
        </p:nvSpPr>
        <p:spPr>
          <a:xfrm flipH="false" flipV="false" rot="0">
            <a:off x="12348715" y="6601120"/>
            <a:ext cx="297361" cy="297361"/>
          </a:xfrm>
          <a:custGeom>
            <a:avLst/>
            <a:gdLst/>
            <a:ahLst/>
            <a:cxnLst/>
            <a:rect r="r" b="b" t="t" l="l"/>
            <a:pathLst>
              <a:path h="297361" w="297361">
                <a:moveTo>
                  <a:pt x="0" y="0"/>
                </a:moveTo>
                <a:lnTo>
                  <a:pt x="297361" y="0"/>
                </a:lnTo>
                <a:lnTo>
                  <a:pt x="297361" y="297361"/>
                </a:lnTo>
                <a:lnTo>
                  <a:pt x="0" y="297361"/>
                </a:lnTo>
                <a:lnTo>
                  <a:pt x="0" y="0"/>
                </a:lnTo>
                <a:close/>
              </a:path>
            </a:pathLst>
          </a:custGeom>
          <a:blipFill>
            <a:blip r:embed="rId8">
              <a:extLst>
                <a:ext uri="{96DAC541-7B7A-43D3-8B79-37D633B846F1}">
                  <asvg:svgBlip xmlns:asvg="http://schemas.microsoft.com/office/drawing/2016/SVG/main" r:embed="rId9"/>
                </a:ext>
              </a:extLst>
            </a:blip>
            <a:stretch>
              <a:fillRect l="-4686" t="0" r="-4689" b="0"/>
            </a:stretch>
          </a:blipFill>
        </p:spPr>
      </p:sp>
      <p:sp>
        <p:nvSpPr>
          <p:cNvPr name="TextBox 69" id="69"/>
          <p:cNvSpPr txBox="true"/>
          <p:nvPr/>
        </p:nvSpPr>
        <p:spPr>
          <a:xfrm rot="0">
            <a:off x="12166997" y="7196433"/>
            <a:ext cx="2447630" cy="344091"/>
          </a:xfrm>
          <a:prstGeom prst="rect">
            <a:avLst/>
          </a:prstGeom>
        </p:spPr>
        <p:txBody>
          <a:bodyPr anchor="t" rtlCol="false" tIns="0" lIns="0" bIns="0" rIns="0">
            <a:spAutoFit/>
          </a:bodyPr>
          <a:lstStyle/>
          <a:p>
            <a:pPr algn="l">
              <a:lnSpc>
                <a:spcPts val="2375"/>
              </a:lnSpc>
            </a:pPr>
            <a:r>
              <a:rPr lang="en-US" sz="1874" b="true">
                <a:solidFill>
                  <a:srgbClr val="E0E4E6"/>
                </a:solidFill>
                <a:latin typeface="Arimo Bold"/>
                <a:ea typeface="Arimo Bold"/>
                <a:cs typeface="Arimo Bold"/>
                <a:sym typeface="Arimo Bold"/>
              </a:rPr>
              <a:t>Fatal Combination</a:t>
            </a:r>
          </a:p>
        </p:txBody>
      </p:sp>
      <p:sp>
        <p:nvSpPr>
          <p:cNvPr name="TextBox 70" id="70"/>
          <p:cNvSpPr txBox="true"/>
          <p:nvPr/>
        </p:nvSpPr>
        <p:spPr>
          <a:xfrm rot="0">
            <a:off x="12166997" y="7594844"/>
            <a:ext cx="4780359" cy="1535316"/>
          </a:xfrm>
          <a:prstGeom prst="rect">
            <a:avLst/>
          </a:prstGeom>
        </p:spPr>
        <p:txBody>
          <a:bodyPr anchor="t" rtlCol="false" tIns="0" lIns="0" bIns="0" rIns="0">
            <a:spAutoFit/>
          </a:bodyPr>
          <a:lstStyle/>
          <a:p>
            <a:pPr algn="l">
              <a:lnSpc>
                <a:spcPts val="2312"/>
              </a:lnSpc>
            </a:pPr>
            <a:r>
              <a:rPr lang="en-US" sz="1687">
                <a:solidFill>
                  <a:srgbClr val="E0E4E6"/>
                </a:solidFill>
                <a:latin typeface="Barlow"/>
                <a:ea typeface="Barlow"/>
                <a:cs typeface="Barlow"/>
                <a:sym typeface="Barlow"/>
              </a:rPr>
              <a:t>The 90%+ fatality rate for "Disaster" (shipwrecks/crashes) proves that environmental vulnerability and lack of rescue infrastructure determine death more than the shark's behavior itself.</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10800000">
            <a:off x="-6611934" y="7242815"/>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Freeform 6" id="6"/>
          <p:cNvSpPr/>
          <p:nvPr/>
        </p:nvSpPr>
        <p:spPr>
          <a:xfrm flipH="false" flipV="false" rot="0">
            <a:off x="9662490" y="1181100"/>
            <a:ext cx="8241568" cy="5599517"/>
          </a:xfrm>
          <a:custGeom>
            <a:avLst/>
            <a:gdLst/>
            <a:ahLst/>
            <a:cxnLst/>
            <a:rect r="r" b="b" t="t" l="l"/>
            <a:pathLst>
              <a:path h="5599517" w="8241568">
                <a:moveTo>
                  <a:pt x="0" y="0"/>
                </a:moveTo>
                <a:lnTo>
                  <a:pt x="8241568" y="0"/>
                </a:lnTo>
                <a:lnTo>
                  <a:pt x="8241568" y="5599517"/>
                </a:lnTo>
                <a:lnTo>
                  <a:pt x="0" y="5599517"/>
                </a:lnTo>
                <a:lnTo>
                  <a:pt x="0" y="0"/>
                </a:lnTo>
                <a:close/>
              </a:path>
            </a:pathLst>
          </a:custGeom>
          <a:blipFill>
            <a:blip r:embed="rId4"/>
            <a:stretch>
              <a:fillRect l="0" t="0" r="0" b="-982"/>
            </a:stretch>
          </a:blipFill>
        </p:spPr>
      </p:sp>
      <p:sp>
        <p:nvSpPr>
          <p:cNvPr name="Freeform 7" id="7"/>
          <p:cNvSpPr/>
          <p:nvPr/>
        </p:nvSpPr>
        <p:spPr>
          <a:xfrm flipH="false" flipV="false" rot="0">
            <a:off x="723842" y="1181100"/>
            <a:ext cx="8219051" cy="5652140"/>
          </a:xfrm>
          <a:custGeom>
            <a:avLst/>
            <a:gdLst/>
            <a:ahLst/>
            <a:cxnLst/>
            <a:rect r="r" b="b" t="t" l="l"/>
            <a:pathLst>
              <a:path h="5652140" w="8219051">
                <a:moveTo>
                  <a:pt x="0" y="0"/>
                </a:moveTo>
                <a:lnTo>
                  <a:pt x="8219051" y="0"/>
                </a:lnTo>
                <a:lnTo>
                  <a:pt x="8219051" y="5652140"/>
                </a:lnTo>
                <a:lnTo>
                  <a:pt x="0" y="5652140"/>
                </a:lnTo>
                <a:lnTo>
                  <a:pt x="0" y="0"/>
                </a:lnTo>
                <a:close/>
              </a:path>
            </a:pathLst>
          </a:custGeom>
          <a:blipFill>
            <a:blip r:embed="rId5"/>
            <a:stretch>
              <a:fillRect l="0" t="0" r="0" b="0"/>
            </a:stretch>
          </a:blipFill>
        </p:spPr>
      </p:sp>
      <p:sp>
        <p:nvSpPr>
          <p:cNvPr name="TextBox 8" id="8"/>
          <p:cNvSpPr txBox="true"/>
          <p:nvPr/>
        </p:nvSpPr>
        <p:spPr>
          <a:xfrm rot="0">
            <a:off x="2704705" y="96516"/>
            <a:ext cx="12552575" cy="932184"/>
          </a:xfrm>
          <a:prstGeom prst="rect">
            <a:avLst/>
          </a:prstGeom>
        </p:spPr>
        <p:txBody>
          <a:bodyPr anchor="t" rtlCol="false" tIns="0" lIns="0" bIns="0" rIns="0">
            <a:spAutoFit/>
          </a:bodyPr>
          <a:lstStyle/>
          <a:p>
            <a:pPr algn="ctr">
              <a:lnSpc>
                <a:spcPts val="7599"/>
              </a:lnSpc>
              <a:spcBef>
                <a:spcPct val="0"/>
              </a:spcBef>
            </a:pPr>
            <a:r>
              <a:rPr lang="en-US" b="true" sz="5699" spc="1310">
                <a:solidFill>
                  <a:srgbClr val="FFFFFF"/>
                </a:solidFill>
                <a:latin typeface="Playfair Display Bold"/>
                <a:ea typeface="Playfair Display Bold"/>
                <a:cs typeface="Playfair Display Bold"/>
                <a:sym typeface="Playfair Display Bold"/>
              </a:rPr>
              <a:t>INCIDENTS &amp; CAUSE</a:t>
            </a:r>
          </a:p>
        </p:txBody>
      </p:sp>
      <p:sp>
        <p:nvSpPr>
          <p:cNvPr name="TextBox 9" id="9"/>
          <p:cNvSpPr txBox="true"/>
          <p:nvPr/>
        </p:nvSpPr>
        <p:spPr>
          <a:xfrm rot="0">
            <a:off x="265083" y="7271390"/>
            <a:ext cx="5277675" cy="2595129"/>
          </a:xfrm>
          <a:prstGeom prst="rect">
            <a:avLst/>
          </a:prstGeom>
        </p:spPr>
        <p:txBody>
          <a:bodyPr anchor="t" rtlCol="false" tIns="0" lIns="0" bIns="0" rIns="0">
            <a:spAutoFit/>
          </a:bodyPr>
          <a:lstStyle/>
          <a:p>
            <a:pPr algn="just">
              <a:lnSpc>
                <a:spcPts val="2045"/>
              </a:lnSpc>
            </a:pPr>
          </a:p>
          <a:p>
            <a:pPr algn="just">
              <a:lnSpc>
                <a:spcPts val="2045"/>
              </a:lnSpc>
            </a:pPr>
            <a:r>
              <a:rPr lang="en-US" b="true" sz="2045">
                <a:solidFill>
                  <a:srgbClr val="FFFFFF"/>
                </a:solidFill>
                <a:latin typeface="Arimo Bold"/>
                <a:ea typeface="Arimo Bold"/>
                <a:cs typeface="Arimo Bold"/>
                <a:sym typeface="Arimo Bold"/>
              </a:rPr>
              <a:t>1. TIME-TREND ANALYSIS</a:t>
            </a:r>
          </a:p>
          <a:p>
            <a:pPr algn="l" marL="441607" indent="-220803" lvl="1">
              <a:lnSpc>
                <a:spcPts val="2045"/>
              </a:lnSpc>
              <a:buFont typeface="Arial"/>
              <a:buChar char="•"/>
            </a:pPr>
            <a:r>
              <a:rPr lang="en-US" b="true" sz="2045">
                <a:solidFill>
                  <a:srgbClr val="FFFFFF"/>
                </a:solidFill>
                <a:latin typeface="Arimo Bold"/>
                <a:ea typeface="Arimo Bold"/>
                <a:cs typeface="Arimo Bold"/>
                <a:sym typeface="Arimo Bold"/>
              </a:rPr>
              <a:t>Growth: Exponential increase in recorded incidents post-1975.</a:t>
            </a:r>
          </a:p>
          <a:p>
            <a:pPr algn="l" marL="441607" indent="-220803" lvl="1">
              <a:lnSpc>
                <a:spcPts val="2045"/>
              </a:lnSpc>
              <a:buFont typeface="Arial"/>
              <a:buChar char="•"/>
            </a:pPr>
            <a:r>
              <a:rPr lang="en-US" b="true" sz="2045">
                <a:solidFill>
                  <a:srgbClr val="FFFFFF"/>
                </a:solidFill>
                <a:latin typeface="Arimo Bold"/>
                <a:ea typeface="Arimo Bold"/>
                <a:cs typeface="Arimo Bold"/>
                <a:sym typeface="Arimo Bold"/>
              </a:rPr>
              <a:t>Paradox: Higher incident counts reflect increased human ocean participation, not more aggressive sharks.</a:t>
            </a:r>
          </a:p>
          <a:p>
            <a:pPr algn="just">
              <a:lnSpc>
                <a:spcPts val="2045"/>
              </a:lnSpc>
            </a:pPr>
          </a:p>
          <a:p>
            <a:pPr algn="just">
              <a:lnSpc>
                <a:spcPts val="2045"/>
              </a:lnSpc>
            </a:pPr>
          </a:p>
        </p:txBody>
      </p:sp>
      <p:sp>
        <p:nvSpPr>
          <p:cNvPr name="TextBox 10" id="10"/>
          <p:cNvSpPr txBox="true"/>
          <p:nvPr/>
        </p:nvSpPr>
        <p:spPr>
          <a:xfrm rot="0">
            <a:off x="12315676" y="7112052"/>
            <a:ext cx="5185764" cy="1776016"/>
          </a:xfrm>
          <a:prstGeom prst="rect">
            <a:avLst/>
          </a:prstGeom>
        </p:spPr>
        <p:txBody>
          <a:bodyPr anchor="t" rtlCol="false" tIns="0" lIns="0" bIns="0" rIns="0">
            <a:spAutoFit/>
          </a:bodyPr>
          <a:lstStyle/>
          <a:p>
            <a:pPr algn="just">
              <a:lnSpc>
                <a:spcPts val="1996"/>
              </a:lnSpc>
            </a:pPr>
          </a:p>
          <a:p>
            <a:pPr algn="just">
              <a:lnSpc>
                <a:spcPts val="1996"/>
              </a:lnSpc>
            </a:pPr>
            <a:r>
              <a:rPr lang="en-US" b="true" sz="1996">
                <a:solidFill>
                  <a:srgbClr val="FFFFFF"/>
                </a:solidFill>
                <a:latin typeface="Arimo Bold"/>
                <a:ea typeface="Arimo Bold"/>
                <a:cs typeface="Arimo Bold"/>
                <a:sym typeface="Arimo Bold"/>
              </a:rPr>
              <a:t>3. THE FATALITY FORMULA</a:t>
            </a:r>
          </a:p>
          <a:p>
            <a:pPr algn="l" marL="431130" indent="-215565" lvl="1">
              <a:lnSpc>
                <a:spcPts val="1996"/>
              </a:lnSpc>
              <a:buFont typeface="Arial"/>
              <a:buChar char="•"/>
            </a:pPr>
            <a:r>
              <a:rPr lang="en-US" b="true" sz="1996">
                <a:solidFill>
                  <a:srgbClr val="FFFFFF"/>
                </a:solidFill>
                <a:latin typeface="Arimo Bold"/>
                <a:ea typeface="Arimo Bold"/>
                <a:cs typeface="Arimo Bold"/>
                <a:sym typeface="Arimo Bold"/>
              </a:rPr>
              <a:t>Risk = (Severity of Injury) / (Speed of Emergency Response)</a:t>
            </a:r>
          </a:p>
          <a:p>
            <a:pPr algn="l" marL="452720" indent="-226360" lvl="1">
              <a:lnSpc>
                <a:spcPts val="2096"/>
              </a:lnSpc>
              <a:buFont typeface="Arial"/>
              <a:buChar char="•"/>
            </a:pPr>
            <a:r>
              <a:rPr lang="en-US" b="true" sz="2096">
                <a:solidFill>
                  <a:srgbClr val="FFFFFF"/>
                </a:solidFill>
                <a:latin typeface="Arimo Bold"/>
                <a:ea typeface="Arimo Bold"/>
                <a:cs typeface="Arimo Bold"/>
                <a:sym typeface="Arimo Bold"/>
              </a:rPr>
              <a:t>Note: Proximity to medical aid is the primary driver of survival in modern records.</a:t>
            </a:r>
          </a:p>
        </p:txBody>
      </p:sp>
      <p:sp>
        <p:nvSpPr>
          <p:cNvPr name="TextBox 11" id="11"/>
          <p:cNvSpPr txBox="true"/>
          <p:nvPr/>
        </p:nvSpPr>
        <p:spPr>
          <a:xfrm rot="0">
            <a:off x="6098586" y="7271390"/>
            <a:ext cx="5998016" cy="2337954"/>
          </a:xfrm>
          <a:prstGeom prst="rect">
            <a:avLst/>
          </a:prstGeom>
        </p:spPr>
        <p:txBody>
          <a:bodyPr anchor="t" rtlCol="false" tIns="0" lIns="0" bIns="0" rIns="0">
            <a:spAutoFit/>
          </a:bodyPr>
          <a:lstStyle/>
          <a:p>
            <a:pPr algn="l">
              <a:lnSpc>
                <a:spcPts val="2045"/>
              </a:lnSpc>
            </a:pPr>
          </a:p>
          <a:p>
            <a:pPr algn="l">
              <a:lnSpc>
                <a:spcPts val="2045"/>
              </a:lnSpc>
            </a:pPr>
            <a:r>
              <a:rPr lang="en-US" b="true" sz="2045">
                <a:solidFill>
                  <a:srgbClr val="FFFFFF"/>
                </a:solidFill>
                <a:latin typeface="Arimo Bold"/>
                <a:ea typeface="Arimo Bold"/>
                <a:cs typeface="Arimo Bold"/>
                <a:sym typeface="Arimo Bold"/>
              </a:rPr>
              <a:t>2. ACTIVITY FATALITY RISK</a:t>
            </a:r>
          </a:p>
          <a:p>
            <a:pPr algn="l" marL="441607" indent="-220803" lvl="1">
              <a:lnSpc>
                <a:spcPts val="2045"/>
              </a:lnSpc>
              <a:buFont typeface="Arial"/>
              <a:buChar char="•"/>
            </a:pPr>
            <a:r>
              <a:rPr lang="en-US" b="true" sz="2045">
                <a:solidFill>
                  <a:srgbClr val="FFFFFF"/>
                </a:solidFill>
                <a:latin typeface="Arimo Bold"/>
                <a:ea typeface="Arimo Bold"/>
                <a:cs typeface="Arimo Bold"/>
                <a:sym typeface="Arimo Bold"/>
              </a:rPr>
              <a:t> Extreme Risk: "Disaster" (shipwrecks/air crashes) carries a ~75% fatality rate.</a:t>
            </a:r>
          </a:p>
          <a:p>
            <a:pPr algn="l" marL="441607" indent="-220803" lvl="1">
              <a:lnSpc>
                <a:spcPts val="2045"/>
              </a:lnSpc>
              <a:buFont typeface="Arial"/>
              <a:buChar char="•"/>
            </a:pPr>
            <a:r>
              <a:rPr lang="en-US" b="true" sz="2045">
                <a:solidFill>
                  <a:srgbClr val="FFFFFF"/>
                </a:solidFill>
                <a:latin typeface="Arimo Bold"/>
                <a:ea typeface="Arimo Bold"/>
                <a:cs typeface="Arimo Bold"/>
                <a:sym typeface="Arimo Bold"/>
              </a:rPr>
              <a:t>Mid-Range Risk: Boating and Swimming show moderate lethality (~35%).</a:t>
            </a:r>
          </a:p>
          <a:p>
            <a:pPr algn="l" marL="441607" indent="-220803" lvl="1">
              <a:lnSpc>
                <a:spcPts val="2045"/>
              </a:lnSpc>
              <a:buFont typeface="Arial"/>
              <a:buChar char="•"/>
            </a:pPr>
            <a:r>
              <a:rPr lang="en-US" b="true" sz="2045">
                <a:solidFill>
                  <a:srgbClr val="FFFFFF"/>
                </a:solidFill>
                <a:latin typeface="Arimo Bold"/>
                <a:ea typeface="Arimo Bold"/>
                <a:cs typeface="Arimo Bold"/>
                <a:sym typeface="Arimo Bold"/>
              </a:rPr>
              <a:t>Low Risk: Surfing, despite high exposure, has the lowest fatality risk (&lt;10%).</a:t>
            </a:r>
          </a:p>
          <a:p>
            <a:pPr algn="l">
              <a:lnSpc>
                <a:spcPts val="2045"/>
              </a:lnSpc>
            </a:pPr>
          </a:p>
        </p:txBody>
      </p:sp>
      <p:sp>
        <p:nvSpPr>
          <p:cNvPr name="AutoShape 12" id="12"/>
          <p:cNvSpPr/>
          <p:nvPr/>
        </p:nvSpPr>
        <p:spPr>
          <a:xfrm flipV="true">
            <a:off x="5818983" y="7073952"/>
            <a:ext cx="0" cy="3213048"/>
          </a:xfrm>
          <a:prstGeom prst="line">
            <a:avLst/>
          </a:prstGeom>
          <a:ln cap="flat" w="114300">
            <a:gradFill>
              <a:gsLst>
                <a:gs pos="0">
                  <a:srgbClr val="000000">
                    <a:alpha val="100000"/>
                  </a:srgbClr>
                </a:gs>
                <a:gs pos="100000">
                  <a:srgbClr val="3533CD">
                    <a:alpha val="100000"/>
                  </a:srgbClr>
                </a:gs>
              </a:gsLst>
              <a:lin ang="0"/>
            </a:gradFill>
            <a:prstDash val="solid"/>
            <a:headEnd type="none" len="sm" w="sm"/>
            <a:tailEnd type="none" len="sm" w="sm"/>
          </a:ln>
        </p:spPr>
      </p:sp>
      <p:sp>
        <p:nvSpPr>
          <p:cNvPr name="AutoShape 13" id="13"/>
          <p:cNvSpPr/>
          <p:nvPr/>
        </p:nvSpPr>
        <p:spPr>
          <a:xfrm flipV="true">
            <a:off x="11995871" y="6933017"/>
            <a:ext cx="0" cy="3086672"/>
          </a:xfrm>
          <a:prstGeom prst="line">
            <a:avLst/>
          </a:prstGeom>
          <a:ln cap="flat" w="114300">
            <a:gradFill>
              <a:gsLst>
                <a:gs pos="0">
                  <a:srgbClr val="000000">
                    <a:alpha val="100000"/>
                  </a:srgbClr>
                </a:gs>
                <a:gs pos="100000">
                  <a:srgbClr val="3533CD">
                    <a:alpha val="100000"/>
                  </a:srgbClr>
                </a:gs>
              </a:gsLst>
              <a:lin ang="0"/>
            </a:gra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grpSp>
        <p:nvGrpSpPr>
          <p:cNvPr name="Group 6" id="6"/>
          <p:cNvGrpSpPr/>
          <p:nvPr/>
        </p:nvGrpSpPr>
        <p:grpSpPr>
          <a:xfrm rot="0">
            <a:off x="1028700" y="7289885"/>
            <a:ext cx="15882790" cy="2225100"/>
            <a:chOff x="0" y="0"/>
            <a:chExt cx="21177053" cy="2966800"/>
          </a:xfrm>
        </p:grpSpPr>
        <p:sp>
          <p:nvSpPr>
            <p:cNvPr name="Freeform 7" id="7"/>
            <p:cNvSpPr/>
            <p:nvPr/>
          </p:nvSpPr>
          <p:spPr>
            <a:xfrm flipH="false" flipV="false" rot="0">
              <a:off x="38217" y="8808"/>
              <a:ext cx="21100427" cy="2949202"/>
            </a:xfrm>
            <a:custGeom>
              <a:avLst/>
              <a:gdLst/>
              <a:ahLst/>
              <a:cxnLst/>
              <a:rect r="r" b="b" t="t" l="l"/>
              <a:pathLst>
                <a:path h="2949202" w="21100427">
                  <a:moveTo>
                    <a:pt x="0" y="305551"/>
                  </a:moveTo>
                  <a:cubicBezTo>
                    <a:pt x="0" y="136789"/>
                    <a:pt x="595040" y="0"/>
                    <a:pt x="1328809" y="0"/>
                  </a:cubicBezTo>
                  <a:lnTo>
                    <a:pt x="19771619" y="0"/>
                  </a:lnTo>
                  <a:cubicBezTo>
                    <a:pt x="20505388" y="0"/>
                    <a:pt x="21100428" y="136789"/>
                    <a:pt x="21100428" y="305551"/>
                  </a:cubicBezTo>
                  <a:lnTo>
                    <a:pt x="21100428" y="2643650"/>
                  </a:lnTo>
                  <a:cubicBezTo>
                    <a:pt x="21100428" y="2812412"/>
                    <a:pt x="20505388" y="2949202"/>
                    <a:pt x="19771619" y="2949202"/>
                  </a:cubicBezTo>
                  <a:lnTo>
                    <a:pt x="1328809" y="2949202"/>
                  </a:lnTo>
                  <a:cubicBezTo>
                    <a:pt x="595040" y="2949201"/>
                    <a:pt x="0" y="2812412"/>
                    <a:pt x="0" y="2643650"/>
                  </a:cubicBezTo>
                  <a:close/>
                </a:path>
              </a:pathLst>
            </a:custGeom>
            <a:solidFill>
              <a:srgbClr val="0A081B"/>
            </a:solidFill>
          </p:spPr>
        </p:sp>
        <p:sp>
          <p:nvSpPr>
            <p:cNvPr name="Freeform 8" id="8"/>
            <p:cNvSpPr/>
            <p:nvPr/>
          </p:nvSpPr>
          <p:spPr>
            <a:xfrm flipH="false" flipV="false" rot="0">
              <a:off x="0" y="0"/>
              <a:ext cx="21176862" cy="2966825"/>
            </a:xfrm>
            <a:custGeom>
              <a:avLst/>
              <a:gdLst/>
              <a:ahLst/>
              <a:cxnLst/>
              <a:rect r="r" b="b" t="t" l="l"/>
              <a:pathLst>
                <a:path h="2966825" w="21176862">
                  <a:moveTo>
                    <a:pt x="0" y="314359"/>
                  </a:moveTo>
                  <a:cubicBezTo>
                    <a:pt x="0" y="140753"/>
                    <a:pt x="612238" y="0"/>
                    <a:pt x="1367026" y="0"/>
                  </a:cubicBezTo>
                  <a:lnTo>
                    <a:pt x="19809836" y="0"/>
                  </a:lnTo>
                  <a:lnTo>
                    <a:pt x="19809836" y="8808"/>
                  </a:lnTo>
                  <a:lnTo>
                    <a:pt x="19809836" y="0"/>
                  </a:lnTo>
                  <a:cubicBezTo>
                    <a:pt x="20564624" y="0"/>
                    <a:pt x="21176862" y="140753"/>
                    <a:pt x="21176862" y="314359"/>
                  </a:cubicBezTo>
                  <a:lnTo>
                    <a:pt x="21138645" y="314359"/>
                  </a:lnTo>
                  <a:lnTo>
                    <a:pt x="21176862" y="314359"/>
                  </a:lnTo>
                  <a:lnTo>
                    <a:pt x="21176862" y="2652458"/>
                  </a:lnTo>
                  <a:lnTo>
                    <a:pt x="21138645" y="2652458"/>
                  </a:lnTo>
                  <a:lnTo>
                    <a:pt x="21176862" y="2652458"/>
                  </a:lnTo>
                  <a:cubicBezTo>
                    <a:pt x="21176862" y="2826065"/>
                    <a:pt x="20564624" y="2966825"/>
                    <a:pt x="19809836" y="2966825"/>
                  </a:cubicBezTo>
                  <a:lnTo>
                    <a:pt x="19809836" y="2958010"/>
                  </a:lnTo>
                  <a:lnTo>
                    <a:pt x="19809836" y="2966825"/>
                  </a:lnTo>
                  <a:lnTo>
                    <a:pt x="1367026" y="2966825"/>
                  </a:lnTo>
                  <a:lnTo>
                    <a:pt x="1367026" y="2958010"/>
                  </a:lnTo>
                  <a:lnTo>
                    <a:pt x="1367026" y="2966825"/>
                  </a:lnTo>
                  <a:cubicBezTo>
                    <a:pt x="612238" y="2966825"/>
                    <a:pt x="0" y="2826065"/>
                    <a:pt x="0" y="2652458"/>
                  </a:cubicBezTo>
                  <a:lnTo>
                    <a:pt x="0" y="314359"/>
                  </a:lnTo>
                  <a:lnTo>
                    <a:pt x="38217" y="314359"/>
                  </a:lnTo>
                  <a:lnTo>
                    <a:pt x="0" y="314359"/>
                  </a:lnTo>
                  <a:moveTo>
                    <a:pt x="76434" y="314359"/>
                  </a:moveTo>
                  <a:lnTo>
                    <a:pt x="76434" y="2652458"/>
                  </a:lnTo>
                  <a:lnTo>
                    <a:pt x="38217" y="2652458"/>
                  </a:lnTo>
                  <a:lnTo>
                    <a:pt x="76434" y="2652458"/>
                  </a:lnTo>
                  <a:cubicBezTo>
                    <a:pt x="76434" y="2816376"/>
                    <a:pt x="654277" y="2949202"/>
                    <a:pt x="1367026" y="2949202"/>
                  </a:cubicBezTo>
                  <a:lnTo>
                    <a:pt x="19809836" y="2949202"/>
                  </a:lnTo>
                  <a:cubicBezTo>
                    <a:pt x="20522586" y="2949202"/>
                    <a:pt x="21100428" y="2816288"/>
                    <a:pt x="21100428" y="2652458"/>
                  </a:cubicBezTo>
                  <a:lnTo>
                    <a:pt x="21100428" y="314359"/>
                  </a:lnTo>
                  <a:cubicBezTo>
                    <a:pt x="21100810" y="150530"/>
                    <a:pt x="20522967" y="17616"/>
                    <a:pt x="19809836" y="17616"/>
                  </a:cubicBezTo>
                  <a:lnTo>
                    <a:pt x="1367026" y="17616"/>
                  </a:lnTo>
                  <a:lnTo>
                    <a:pt x="1367026" y="8808"/>
                  </a:lnTo>
                  <a:lnTo>
                    <a:pt x="1367026" y="17616"/>
                  </a:lnTo>
                  <a:cubicBezTo>
                    <a:pt x="654277" y="17616"/>
                    <a:pt x="76434" y="150530"/>
                    <a:pt x="76434" y="314359"/>
                  </a:cubicBezTo>
                  <a:close/>
                </a:path>
              </a:pathLst>
            </a:custGeom>
            <a:solidFill>
              <a:srgbClr val="16FFBB"/>
            </a:solidFill>
          </p:spPr>
        </p:sp>
      </p:grpSp>
      <p:sp>
        <p:nvSpPr>
          <p:cNvPr name="TextBox 9" id="9"/>
          <p:cNvSpPr txBox="true"/>
          <p:nvPr/>
        </p:nvSpPr>
        <p:spPr>
          <a:xfrm rot="0">
            <a:off x="4505633" y="586876"/>
            <a:ext cx="8383682" cy="1801689"/>
          </a:xfrm>
          <a:prstGeom prst="rect">
            <a:avLst/>
          </a:prstGeom>
        </p:spPr>
        <p:txBody>
          <a:bodyPr anchor="t" rtlCol="false" tIns="0" lIns="0" bIns="0" rIns="0">
            <a:spAutoFit/>
          </a:bodyPr>
          <a:lstStyle/>
          <a:p>
            <a:pPr algn="ctr">
              <a:lnSpc>
                <a:spcPts val="7144"/>
              </a:lnSpc>
            </a:pPr>
            <a:r>
              <a:rPr lang="en-US" sz="5359" b="true">
                <a:solidFill>
                  <a:srgbClr val="FFFFFF"/>
                </a:solidFill>
                <a:latin typeface="Arimo Bold"/>
                <a:ea typeface="Arimo Bold"/>
                <a:cs typeface="Arimo Bold"/>
                <a:sym typeface="Arimo Bold"/>
              </a:rPr>
              <a:t>Testing using Chi-Square </a:t>
            </a:r>
          </a:p>
          <a:p>
            <a:pPr algn="ctr">
              <a:lnSpc>
                <a:spcPts val="7146"/>
              </a:lnSpc>
              <a:spcBef>
                <a:spcPct val="0"/>
              </a:spcBef>
            </a:pPr>
          </a:p>
        </p:txBody>
      </p:sp>
      <p:grpSp>
        <p:nvGrpSpPr>
          <p:cNvPr name="Group 10" id="10"/>
          <p:cNvGrpSpPr/>
          <p:nvPr/>
        </p:nvGrpSpPr>
        <p:grpSpPr>
          <a:xfrm rot="0">
            <a:off x="1028700" y="4612549"/>
            <a:ext cx="15882790" cy="2225100"/>
            <a:chOff x="0" y="0"/>
            <a:chExt cx="21177053" cy="2966800"/>
          </a:xfrm>
        </p:grpSpPr>
        <p:sp>
          <p:nvSpPr>
            <p:cNvPr name="Freeform 11" id="11"/>
            <p:cNvSpPr/>
            <p:nvPr/>
          </p:nvSpPr>
          <p:spPr>
            <a:xfrm flipH="false" flipV="false" rot="0">
              <a:off x="38217" y="8808"/>
              <a:ext cx="21100427" cy="2949202"/>
            </a:xfrm>
            <a:custGeom>
              <a:avLst/>
              <a:gdLst/>
              <a:ahLst/>
              <a:cxnLst/>
              <a:rect r="r" b="b" t="t" l="l"/>
              <a:pathLst>
                <a:path h="2949202" w="21100427">
                  <a:moveTo>
                    <a:pt x="0" y="305551"/>
                  </a:moveTo>
                  <a:cubicBezTo>
                    <a:pt x="0" y="136789"/>
                    <a:pt x="595040" y="0"/>
                    <a:pt x="1328809" y="0"/>
                  </a:cubicBezTo>
                  <a:lnTo>
                    <a:pt x="19771619" y="0"/>
                  </a:lnTo>
                  <a:cubicBezTo>
                    <a:pt x="20505388" y="0"/>
                    <a:pt x="21100428" y="136789"/>
                    <a:pt x="21100428" y="305551"/>
                  </a:cubicBezTo>
                  <a:lnTo>
                    <a:pt x="21100428" y="2643650"/>
                  </a:lnTo>
                  <a:cubicBezTo>
                    <a:pt x="21100428" y="2812412"/>
                    <a:pt x="20505388" y="2949202"/>
                    <a:pt x="19771619" y="2949202"/>
                  </a:cubicBezTo>
                  <a:lnTo>
                    <a:pt x="1328809" y="2949202"/>
                  </a:lnTo>
                  <a:cubicBezTo>
                    <a:pt x="595040" y="2949201"/>
                    <a:pt x="0" y="2812412"/>
                    <a:pt x="0" y="2643650"/>
                  </a:cubicBezTo>
                  <a:close/>
                </a:path>
              </a:pathLst>
            </a:custGeom>
            <a:solidFill>
              <a:srgbClr val="0A081B"/>
            </a:solidFill>
          </p:spPr>
        </p:sp>
        <p:sp>
          <p:nvSpPr>
            <p:cNvPr name="Freeform 12" id="12"/>
            <p:cNvSpPr/>
            <p:nvPr/>
          </p:nvSpPr>
          <p:spPr>
            <a:xfrm flipH="false" flipV="false" rot="0">
              <a:off x="0" y="0"/>
              <a:ext cx="21176862" cy="2966825"/>
            </a:xfrm>
            <a:custGeom>
              <a:avLst/>
              <a:gdLst/>
              <a:ahLst/>
              <a:cxnLst/>
              <a:rect r="r" b="b" t="t" l="l"/>
              <a:pathLst>
                <a:path h="2966825" w="21176862">
                  <a:moveTo>
                    <a:pt x="0" y="314359"/>
                  </a:moveTo>
                  <a:cubicBezTo>
                    <a:pt x="0" y="140753"/>
                    <a:pt x="612238" y="0"/>
                    <a:pt x="1367026" y="0"/>
                  </a:cubicBezTo>
                  <a:lnTo>
                    <a:pt x="19809836" y="0"/>
                  </a:lnTo>
                  <a:lnTo>
                    <a:pt x="19809836" y="8808"/>
                  </a:lnTo>
                  <a:lnTo>
                    <a:pt x="19809836" y="0"/>
                  </a:lnTo>
                  <a:cubicBezTo>
                    <a:pt x="20564624" y="0"/>
                    <a:pt x="21176862" y="140753"/>
                    <a:pt x="21176862" y="314359"/>
                  </a:cubicBezTo>
                  <a:lnTo>
                    <a:pt x="21138645" y="314359"/>
                  </a:lnTo>
                  <a:lnTo>
                    <a:pt x="21176862" y="314359"/>
                  </a:lnTo>
                  <a:lnTo>
                    <a:pt x="21176862" y="2652458"/>
                  </a:lnTo>
                  <a:lnTo>
                    <a:pt x="21138645" y="2652458"/>
                  </a:lnTo>
                  <a:lnTo>
                    <a:pt x="21176862" y="2652458"/>
                  </a:lnTo>
                  <a:cubicBezTo>
                    <a:pt x="21176862" y="2826065"/>
                    <a:pt x="20564624" y="2966825"/>
                    <a:pt x="19809836" y="2966825"/>
                  </a:cubicBezTo>
                  <a:lnTo>
                    <a:pt x="19809836" y="2958010"/>
                  </a:lnTo>
                  <a:lnTo>
                    <a:pt x="19809836" y="2966825"/>
                  </a:lnTo>
                  <a:lnTo>
                    <a:pt x="1367026" y="2966825"/>
                  </a:lnTo>
                  <a:lnTo>
                    <a:pt x="1367026" y="2958010"/>
                  </a:lnTo>
                  <a:lnTo>
                    <a:pt x="1367026" y="2966825"/>
                  </a:lnTo>
                  <a:cubicBezTo>
                    <a:pt x="612238" y="2966825"/>
                    <a:pt x="0" y="2826065"/>
                    <a:pt x="0" y="2652458"/>
                  </a:cubicBezTo>
                  <a:lnTo>
                    <a:pt x="0" y="314359"/>
                  </a:lnTo>
                  <a:lnTo>
                    <a:pt x="38217" y="314359"/>
                  </a:lnTo>
                  <a:lnTo>
                    <a:pt x="0" y="314359"/>
                  </a:lnTo>
                  <a:moveTo>
                    <a:pt x="76434" y="314359"/>
                  </a:moveTo>
                  <a:lnTo>
                    <a:pt x="76434" y="2652458"/>
                  </a:lnTo>
                  <a:lnTo>
                    <a:pt x="38217" y="2652458"/>
                  </a:lnTo>
                  <a:lnTo>
                    <a:pt x="76434" y="2652458"/>
                  </a:lnTo>
                  <a:cubicBezTo>
                    <a:pt x="76434" y="2816376"/>
                    <a:pt x="654277" y="2949202"/>
                    <a:pt x="1367026" y="2949202"/>
                  </a:cubicBezTo>
                  <a:lnTo>
                    <a:pt x="19809836" y="2949202"/>
                  </a:lnTo>
                  <a:cubicBezTo>
                    <a:pt x="20522586" y="2949202"/>
                    <a:pt x="21100428" y="2816288"/>
                    <a:pt x="21100428" y="2652458"/>
                  </a:cubicBezTo>
                  <a:lnTo>
                    <a:pt x="21100428" y="314359"/>
                  </a:lnTo>
                  <a:cubicBezTo>
                    <a:pt x="21100810" y="150530"/>
                    <a:pt x="20522967" y="17616"/>
                    <a:pt x="19809836" y="17616"/>
                  </a:cubicBezTo>
                  <a:lnTo>
                    <a:pt x="1367026" y="17616"/>
                  </a:lnTo>
                  <a:lnTo>
                    <a:pt x="1367026" y="8808"/>
                  </a:lnTo>
                  <a:lnTo>
                    <a:pt x="1367026" y="17616"/>
                  </a:lnTo>
                  <a:cubicBezTo>
                    <a:pt x="654277" y="17616"/>
                    <a:pt x="76434" y="150530"/>
                    <a:pt x="76434" y="314359"/>
                  </a:cubicBezTo>
                  <a:close/>
                </a:path>
              </a:pathLst>
            </a:custGeom>
            <a:solidFill>
              <a:srgbClr val="16FFBB"/>
            </a:solidFill>
          </p:spPr>
        </p:sp>
      </p:grpSp>
      <p:sp>
        <p:nvSpPr>
          <p:cNvPr name="TextBox 13" id="13"/>
          <p:cNvSpPr txBox="true"/>
          <p:nvPr/>
        </p:nvSpPr>
        <p:spPr>
          <a:xfrm rot="0">
            <a:off x="11048041" y="4806622"/>
            <a:ext cx="5291949" cy="630326"/>
          </a:xfrm>
          <a:prstGeom prst="rect">
            <a:avLst/>
          </a:prstGeom>
        </p:spPr>
        <p:txBody>
          <a:bodyPr anchor="t" rtlCol="false" tIns="0" lIns="0" bIns="0" rIns="0">
            <a:spAutoFit/>
          </a:bodyPr>
          <a:lstStyle/>
          <a:p>
            <a:pPr algn="ctr">
              <a:lnSpc>
                <a:spcPts val="5118"/>
              </a:lnSpc>
              <a:spcBef>
                <a:spcPct val="0"/>
              </a:spcBef>
            </a:pPr>
            <a:r>
              <a:rPr lang="en-US" b="true" sz="3838">
                <a:solidFill>
                  <a:srgbClr val="FFFFFF"/>
                </a:solidFill>
                <a:latin typeface="Cinzel Bold"/>
                <a:ea typeface="Cinzel Bold"/>
                <a:cs typeface="Cinzel Bold"/>
                <a:sym typeface="Cinzel Bold"/>
              </a:rPr>
              <a:t>Species vs Fatality</a:t>
            </a:r>
          </a:p>
        </p:txBody>
      </p:sp>
      <p:grpSp>
        <p:nvGrpSpPr>
          <p:cNvPr name="Group 14" id="14"/>
          <p:cNvGrpSpPr/>
          <p:nvPr/>
        </p:nvGrpSpPr>
        <p:grpSpPr>
          <a:xfrm rot="0">
            <a:off x="1028700" y="1935213"/>
            <a:ext cx="15882790" cy="2377500"/>
            <a:chOff x="0" y="0"/>
            <a:chExt cx="21177053" cy="3170000"/>
          </a:xfrm>
        </p:grpSpPr>
        <p:sp>
          <p:nvSpPr>
            <p:cNvPr name="Freeform 15" id="15"/>
            <p:cNvSpPr/>
            <p:nvPr/>
          </p:nvSpPr>
          <p:spPr>
            <a:xfrm flipH="false" flipV="false" rot="0">
              <a:off x="38217" y="9411"/>
              <a:ext cx="21100427" cy="3151196"/>
            </a:xfrm>
            <a:custGeom>
              <a:avLst/>
              <a:gdLst/>
              <a:ahLst/>
              <a:cxnLst/>
              <a:rect r="r" b="b" t="t" l="l"/>
              <a:pathLst>
                <a:path h="3151196" w="21100427">
                  <a:moveTo>
                    <a:pt x="0" y="326479"/>
                  </a:moveTo>
                  <a:cubicBezTo>
                    <a:pt x="0" y="146158"/>
                    <a:pt x="595040" y="0"/>
                    <a:pt x="1328809" y="0"/>
                  </a:cubicBezTo>
                  <a:lnTo>
                    <a:pt x="19771619" y="0"/>
                  </a:lnTo>
                  <a:cubicBezTo>
                    <a:pt x="20505388" y="0"/>
                    <a:pt x="21100428" y="146158"/>
                    <a:pt x="21100428" y="326479"/>
                  </a:cubicBezTo>
                  <a:lnTo>
                    <a:pt x="21100428" y="2824717"/>
                  </a:lnTo>
                  <a:cubicBezTo>
                    <a:pt x="21100428" y="3005039"/>
                    <a:pt x="20505388" y="3151196"/>
                    <a:pt x="19771619" y="3151196"/>
                  </a:cubicBezTo>
                  <a:lnTo>
                    <a:pt x="1328809" y="3151196"/>
                  </a:lnTo>
                  <a:cubicBezTo>
                    <a:pt x="595040" y="3151196"/>
                    <a:pt x="0" y="3005038"/>
                    <a:pt x="0" y="2824717"/>
                  </a:cubicBezTo>
                  <a:close/>
                </a:path>
              </a:pathLst>
            </a:custGeom>
            <a:solidFill>
              <a:srgbClr val="0A081B"/>
            </a:solidFill>
          </p:spPr>
        </p:sp>
        <p:sp>
          <p:nvSpPr>
            <p:cNvPr name="Freeform 16" id="16"/>
            <p:cNvSpPr/>
            <p:nvPr/>
          </p:nvSpPr>
          <p:spPr>
            <a:xfrm flipH="false" flipV="false" rot="0">
              <a:off x="0" y="0"/>
              <a:ext cx="21176862" cy="3170025"/>
            </a:xfrm>
            <a:custGeom>
              <a:avLst/>
              <a:gdLst/>
              <a:ahLst/>
              <a:cxnLst/>
              <a:rect r="r" b="b" t="t" l="l"/>
              <a:pathLst>
                <a:path h="3170025" w="21176862">
                  <a:moveTo>
                    <a:pt x="0" y="335890"/>
                  </a:moveTo>
                  <a:cubicBezTo>
                    <a:pt x="0" y="150393"/>
                    <a:pt x="612238" y="0"/>
                    <a:pt x="1367026" y="0"/>
                  </a:cubicBezTo>
                  <a:lnTo>
                    <a:pt x="19809836" y="0"/>
                  </a:lnTo>
                  <a:lnTo>
                    <a:pt x="19809836" y="9411"/>
                  </a:lnTo>
                  <a:lnTo>
                    <a:pt x="19809836" y="0"/>
                  </a:lnTo>
                  <a:cubicBezTo>
                    <a:pt x="20564624" y="0"/>
                    <a:pt x="21176862" y="150393"/>
                    <a:pt x="21176862" y="335890"/>
                  </a:cubicBezTo>
                  <a:lnTo>
                    <a:pt x="21138645" y="335890"/>
                  </a:lnTo>
                  <a:lnTo>
                    <a:pt x="21176862" y="335890"/>
                  </a:lnTo>
                  <a:lnTo>
                    <a:pt x="21176862" y="2834128"/>
                  </a:lnTo>
                  <a:lnTo>
                    <a:pt x="21138645" y="2834128"/>
                  </a:lnTo>
                  <a:lnTo>
                    <a:pt x="21176862" y="2834128"/>
                  </a:lnTo>
                  <a:cubicBezTo>
                    <a:pt x="21176862" y="3019626"/>
                    <a:pt x="20564624" y="3170025"/>
                    <a:pt x="19809836" y="3170025"/>
                  </a:cubicBezTo>
                  <a:lnTo>
                    <a:pt x="19809836" y="3160607"/>
                  </a:lnTo>
                  <a:lnTo>
                    <a:pt x="19809836" y="3170025"/>
                  </a:lnTo>
                  <a:lnTo>
                    <a:pt x="1367026" y="3170025"/>
                  </a:lnTo>
                  <a:lnTo>
                    <a:pt x="1367026" y="3160607"/>
                  </a:lnTo>
                  <a:lnTo>
                    <a:pt x="1367026" y="3170025"/>
                  </a:lnTo>
                  <a:cubicBezTo>
                    <a:pt x="612238" y="3170025"/>
                    <a:pt x="0" y="3019626"/>
                    <a:pt x="0" y="2834128"/>
                  </a:cubicBezTo>
                  <a:lnTo>
                    <a:pt x="0" y="335890"/>
                  </a:lnTo>
                  <a:lnTo>
                    <a:pt x="38217" y="335890"/>
                  </a:lnTo>
                  <a:lnTo>
                    <a:pt x="0" y="335890"/>
                  </a:lnTo>
                  <a:moveTo>
                    <a:pt x="76434" y="335890"/>
                  </a:moveTo>
                  <a:lnTo>
                    <a:pt x="76434" y="2834128"/>
                  </a:lnTo>
                  <a:lnTo>
                    <a:pt x="38217" y="2834128"/>
                  </a:lnTo>
                  <a:lnTo>
                    <a:pt x="76434" y="2834128"/>
                  </a:lnTo>
                  <a:cubicBezTo>
                    <a:pt x="76434" y="3009273"/>
                    <a:pt x="654277" y="3151196"/>
                    <a:pt x="1367026" y="3151196"/>
                  </a:cubicBezTo>
                  <a:lnTo>
                    <a:pt x="19809836" y="3151196"/>
                  </a:lnTo>
                  <a:cubicBezTo>
                    <a:pt x="20522586" y="3151196"/>
                    <a:pt x="21100428" y="3009179"/>
                    <a:pt x="21100428" y="2834128"/>
                  </a:cubicBezTo>
                  <a:lnTo>
                    <a:pt x="21100428" y="335890"/>
                  </a:lnTo>
                  <a:cubicBezTo>
                    <a:pt x="21100810" y="160840"/>
                    <a:pt x="20522967" y="18823"/>
                    <a:pt x="19809836" y="18823"/>
                  </a:cubicBezTo>
                  <a:lnTo>
                    <a:pt x="1367026" y="18823"/>
                  </a:lnTo>
                  <a:lnTo>
                    <a:pt x="1367026" y="9411"/>
                  </a:lnTo>
                  <a:lnTo>
                    <a:pt x="1367026" y="18823"/>
                  </a:lnTo>
                  <a:cubicBezTo>
                    <a:pt x="654277" y="18823"/>
                    <a:pt x="76434" y="160840"/>
                    <a:pt x="76434" y="335890"/>
                  </a:cubicBezTo>
                  <a:close/>
                </a:path>
              </a:pathLst>
            </a:custGeom>
            <a:solidFill>
              <a:srgbClr val="16FFBB"/>
            </a:solidFill>
          </p:spPr>
        </p:sp>
      </p:grpSp>
      <p:grpSp>
        <p:nvGrpSpPr>
          <p:cNvPr name="Group 17" id="17"/>
          <p:cNvGrpSpPr/>
          <p:nvPr/>
        </p:nvGrpSpPr>
        <p:grpSpPr>
          <a:xfrm rot="0">
            <a:off x="1319414" y="2224293"/>
            <a:ext cx="660797" cy="660797"/>
            <a:chOff x="0" y="0"/>
            <a:chExt cx="881062" cy="881062"/>
          </a:xfrm>
        </p:grpSpPr>
        <p:sp>
          <p:nvSpPr>
            <p:cNvPr name="Freeform 18" id="18"/>
            <p:cNvSpPr/>
            <p:nvPr/>
          </p:nvSpPr>
          <p:spPr>
            <a:xfrm flipH="false" flipV="false" rot="0">
              <a:off x="0" y="0"/>
              <a:ext cx="881126" cy="881126"/>
            </a:xfrm>
            <a:custGeom>
              <a:avLst/>
              <a:gdLst/>
              <a:ahLst/>
              <a:cxnLst/>
              <a:rect r="r" b="b" t="t" l="l"/>
              <a:pathLst>
                <a:path h="881126" w="881126">
                  <a:moveTo>
                    <a:pt x="0" y="440563"/>
                  </a:moveTo>
                  <a:cubicBezTo>
                    <a:pt x="0" y="197231"/>
                    <a:pt x="197231" y="0"/>
                    <a:pt x="440563" y="0"/>
                  </a:cubicBezTo>
                  <a:cubicBezTo>
                    <a:pt x="683895" y="0"/>
                    <a:pt x="881126" y="197231"/>
                    <a:pt x="881126" y="440563"/>
                  </a:cubicBezTo>
                  <a:cubicBezTo>
                    <a:pt x="881126" y="683895"/>
                    <a:pt x="683768" y="881126"/>
                    <a:pt x="440563" y="881126"/>
                  </a:cubicBezTo>
                  <a:cubicBezTo>
                    <a:pt x="197358" y="881126"/>
                    <a:pt x="0" y="683768"/>
                    <a:pt x="0" y="440563"/>
                  </a:cubicBezTo>
                  <a:close/>
                </a:path>
              </a:pathLst>
            </a:custGeom>
            <a:solidFill>
              <a:srgbClr val="16FFBB"/>
            </a:solidFill>
          </p:spPr>
        </p:sp>
      </p:grpSp>
      <p:grpSp>
        <p:nvGrpSpPr>
          <p:cNvPr name="Group 19" id="19"/>
          <p:cNvGrpSpPr/>
          <p:nvPr/>
        </p:nvGrpSpPr>
        <p:grpSpPr>
          <a:xfrm rot="0">
            <a:off x="16181041" y="4854247"/>
            <a:ext cx="496262" cy="496262"/>
            <a:chOff x="0" y="0"/>
            <a:chExt cx="881062" cy="881062"/>
          </a:xfrm>
        </p:grpSpPr>
        <p:sp>
          <p:nvSpPr>
            <p:cNvPr name="Freeform 20" id="20"/>
            <p:cNvSpPr/>
            <p:nvPr/>
          </p:nvSpPr>
          <p:spPr>
            <a:xfrm flipH="false" flipV="false" rot="0">
              <a:off x="0" y="0"/>
              <a:ext cx="881126" cy="881126"/>
            </a:xfrm>
            <a:custGeom>
              <a:avLst/>
              <a:gdLst/>
              <a:ahLst/>
              <a:cxnLst/>
              <a:rect r="r" b="b" t="t" l="l"/>
              <a:pathLst>
                <a:path h="881126" w="881126">
                  <a:moveTo>
                    <a:pt x="0" y="440563"/>
                  </a:moveTo>
                  <a:cubicBezTo>
                    <a:pt x="0" y="197231"/>
                    <a:pt x="197231" y="0"/>
                    <a:pt x="440563" y="0"/>
                  </a:cubicBezTo>
                  <a:cubicBezTo>
                    <a:pt x="683895" y="0"/>
                    <a:pt x="881126" y="197231"/>
                    <a:pt x="881126" y="440563"/>
                  </a:cubicBezTo>
                  <a:cubicBezTo>
                    <a:pt x="881126" y="683895"/>
                    <a:pt x="683768" y="881126"/>
                    <a:pt x="440563" y="881126"/>
                  </a:cubicBezTo>
                  <a:cubicBezTo>
                    <a:pt x="197358" y="881126"/>
                    <a:pt x="0" y="683768"/>
                    <a:pt x="0" y="440563"/>
                  </a:cubicBezTo>
                  <a:close/>
                </a:path>
              </a:pathLst>
            </a:custGeom>
            <a:solidFill>
              <a:srgbClr val="16FFBB"/>
            </a:solidFill>
          </p:spPr>
        </p:sp>
      </p:grpSp>
      <p:sp>
        <p:nvSpPr>
          <p:cNvPr name="TextBox 21" id="21"/>
          <p:cNvSpPr txBox="true"/>
          <p:nvPr/>
        </p:nvSpPr>
        <p:spPr>
          <a:xfrm rot="0">
            <a:off x="1780902" y="7498630"/>
            <a:ext cx="5084697" cy="630326"/>
          </a:xfrm>
          <a:prstGeom prst="rect">
            <a:avLst/>
          </a:prstGeom>
        </p:spPr>
        <p:txBody>
          <a:bodyPr anchor="t" rtlCol="false" tIns="0" lIns="0" bIns="0" rIns="0">
            <a:spAutoFit/>
          </a:bodyPr>
          <a:lstStyle/>
          <a:p>
            <a:pPr algn="ctr">
              <a:lnSpc>
                <a:spcPts val="5118"/>
              </a:lnSpc>
              <a:spcBef>
                <a:spcPct val="0"/>
              </a:spcBef>
            </a:pPr>
            <a:r>
              <a:rPr lang="en-US" b="true" sz="3838">
                <a:solidFill>
                  <a:srgbClr val="FFFFFF"/>
                </a:solidFill>
                <a:latin typeface="Cinzel Bold"/>
                <a:ea typeface="Cinzel Bold"/>
                <a:cs typeface="Cinzel Bold"/>
                <a:sym typeface="Cinzel Bold"/>
              </a:rPr>
              <a:t>Region vs Fatality</a:t>
            </a:r>
          </a:p>
        </p:txBody>
      </p:sp>
      <p:sp>
        <p:nvSpPr>
          <p:cNvPr name="TextBox 22" id="22"/>
          <p:cNvSpPr txBox="true"/>
          <p:nvPr/>
        </p:nvSpPr>
        <p:spPr>
          <a:xfrm rot="0">
            <a:off x="2145667" y="2350466"/>
            <a:ext cx="4719932" cy="534624"/>
          </a:xfrm>
          <a:prstGeom prst="rect">
            <a:avLst/>
          </a:prstGeom>
        </p:spPr>
        <p:txBody>
          <a:bodyPr anchor="t" rtlCol="false" tIns="0" lIns="0" bIns="0" rIns="0">
            <a:spAutoFit/>
          </a:bodyPr>
          <a:lstStyle/>
          <a:p>
            <a:pPr algn="ctr">
              <a:lnSpc>
                <a:spcPts val="4403"/>
              </a:lnSpc>
              <a:spcBef>
                <a:spcPct val="0"/>
              </a:spcBef>
            </a:pPr>
            <a:r>
              <a:rPr lang="en-US" b="true" sz="3302">
                <a:solidFill>
                  <a:srgbClr val="FFFFFF"/>
                </a:solidFill>
                <a:latin typeface="Cinzel Bold"/>
                <a:ea typeface="Cinzel Bold"/>
                <a:cs typeface="Cinzel Bold"/>
                <a:sym typeface="Cinzel Bold"/>
              </a:rPr>
              <a:t>Activity vs Fatality:</a:t>
            </a:r>
          </a:p>
        </p:txBody>
      </p:sp>
      <p:sp>
        <p:nvSpPr>
          <p:cNvPr name="TextBox 23" id="23"/>
          <p:cNvSpPr txBox="true"/>
          <p:nvPr/>
        </p:nvSpPr>
        <p:spPr>
          <a:xfrm rot="0">
            <a:off x="3718380" y="3198946"/>
            <a:ext cx="12012443" cy="569289"/>
          </a:xfrm>
          <a:prstGeom prst="rect">
            <a:avLst/>
          </a:prstGeom>
        </p:spPr>
        <p:txBody>
          <a:bodyPr anchor="t" rtlCol="false" tIns="0" lIns="0" bIns="0" rIns="0">
            <a:spAutoFit/>
          </a:bodyPr>
          <a:lstStyle/>
          <a:p>
            <a:pPr algn="ctr">
              <a:lnSpc>
                <a:spcPts val="4674"/>
              </a:lnSpc>
              <a:spcBef>
                <a:spcPct val="0"/>
              </a:spcBef>
            </a:pPr>
            <a:r>
              <a:rPr lang="en-US" sz="3505">
                <a:solidFill>
                  <a:srgbClr val="FFFFFF"/>
                </a:solidFill>
                <a:latin typeface="Fira Code"/>
                <a:ea typeface="Fira Code"/>
                <a:cs typeface="Fira Code"/>
                <a:sym typeface="Fira Code"/>
              </a:rPr>
              <a:t>chi_activity &lt;- chisq.test(table_activity)</a:t>
            </a:r>
          </a:p>
        </p:txBody>
      </p:sp>
      <p:sp>
        <p:nvSpPr>
          <p:cNvPr name="TextBox 24" id="24"/>
          <p:cNvSpPr txBox="true"/>
          <p:nvPr/>
        </p:nvSpPr>
        <p:spPr>
          <a:xfrm rot="0">
            <a:off x="2145667" y="5722698"/>
            <a:ext cx="12700118" cy="649376"/>
          </a:xfrm>
          <a:prstGeom prst="rect">
            <a:avLst/>
          </a:prstGeom>
        </p:spPr>
        <p:txBody>
          <a:bodyPr anchor="t" rtlCol="false" tIns="0" lIns="0" bIns="0" rIns="0">
            <a:spAutoFit/>
          </a:bodyPr>
          <a:lstStyle/>
          <a:p>
            <a:pPr algn="ctr">
              <a:lnSpc>
                <a:spcPts val="5118"/>
              </a:lnSpc>
              <a:spcBef>
                <a:spcPct val="0"/>
              </a:spcBef>
            </a:pPr>
            <a:r>
              <a:rPr lang="en-US" sz="3838">
                <a:solidFill>
                  <a:srgbClr val="FFFFFF"/>
                </a:solidFill>
                <a:latin typeface="Anca Coder"/>
                <a:ea typeface="Anca Coder"/>
                <a:cs typeface="Anca Coder"/>
                <a:sym typeface="Anca Coder"/>
              </a:rPr>
              <a:t>chi_species &lt;- chisq.test(table_species)</a:t>
            </a:r>
          </a:p>
        </p:txBody>
      </p:sp>
      <p:sp>
        <p:nvSpPr>
          <p:cNvPr name="TextBox 25" id="25"/>
          <p:cNvSpPr txBox="true"/>
          <p:nvPr/>
        </p:nvSpPr>
        <p:spPr>
          <a:xfrm rot="0">
            <a:off x="1559324" y="2372923"/>
            <a:ext cx="144066" cy="345358"/>
          </a:xfrm>
          <a:prstGeom prst="rect">
            <a:avLst/>
          </a:prstGeom>
        </p:spPr>
        <p:txBody>
          <a:bodyPr anchor="t" rtlCol="false" tIns="0" lIns="0" bIns="0" rIns="0">
            <a:spAutoFit/>
          </a:bodyPr>
          <a:lstStyle/>
          <a:p>
            <a:pPr algn="ctr">
              <a:lnSpc>
                <a:spcPts val="2860"/>
              </a:lnSpc>
              <a:spcBef>
                <a:spcPct val="0"/>
              </a:spcBef>
            </a:pPr>
            <a:r>
              <a:rPr lang="en-US" sz="2087">
                <a:solidFill>
                  <a:srgbClr val="0B0B0B"/>
                </a:solidFill>
                <a:latin typeface="Spiro"/>
                <a:ea typeface="Spiro"/>
                <a:cs typeface="Spiro"/>
                <a:sym typeface="Spiro"/>
              </a:rPr>
              <a:t>1</a:t>
            </a:r>
          </a:p>
        </p:txBody>
      </p:sp>
      <p:sp>
        <p:nvSpPr>
          <p:cNvPr name="TextBox 26" id="26"/>
          <p:cNvSpPr txBox="true"/>
          <p:nvPr/>
        </p:nvSpPr>
        <p:spPr>
          <a:xfrm rot="0">
            <a:off x="3006183" y="8605206"/>
            <a:ext cx="12275635" cy="649376"/>
          </a:xfrm>
          <a:prstGeom prst="rect">
            <a:avLst/>
          </a:prstGeom>
        </p:spPr>
        <p:txBody>
          <a:bodyPr anchor="t" rtlCol="false" tIns="0" lIns="0" bIns="0" rIns="0">
            <a:spAutoFit/>
          </a:bodyPr>
          <a:lstStyle/>
          <a:p>
            <a:pPr algn="ctr">
              <a:lnSpc>
                <a:spcPts val="5118"/>
              </a:lnSpc>
              <a:spcBef>
                <a:spcPct val="0"/>
              </a:spcBef>
            </a:pPr>
            <a:r>
              <a:rPr lang="en-US" sz="3838">
                <a:solidFill>
                  <a:srgbClr val="FFFFFF"/>
                </a:solidFill>
                <a:latin typeface="Anca Coder"/>
                <a:ea typeface="Anca Coder"/>
                <a:cs typeface="Anca Coder"/>
                <a:sym typeface="Anca Coder"/>
              </a:rPr>
              <a:t>chi_region &lt;- chisq.test(table_region)</a:t>
            </a:r>
          </a:p>
        </p:txBody>
      </p:sp>
      <p:sp>
        <p:nvSpPr>
          <p:cNvPr name="TextBox 27" id="27"/>
          <p:cNvSpPr txBox="true"/>
          <p:nvPr/>
        </p:nvSpPr>
        <p:spPr>
          <a:xfrm rot="0">
            <a:off x="16181041" y="4949184"/>
            <a:ext cx="496262" cy="311585"/>
          </a:xfrm>
          <a:prstGeom prst="rect">
            <a:avLst/>
          </a:prstGeom>
        </p:spPr>
        <p:txBody>
          <a:bodyPr anchor="t" rtlCol="false" tIns="0" lIns="0" bIns="0" rIns="0">
            <a:spAutoFit/>
          </a:bodyPr>
          <a:lstStyle/>
          <a:p>
            <a:pPr algn="ctr">
              <a:lnSpc>
                <a:spcPts val="2586"/>
              </a:lnSpc>
              <a:spcBef>
                <a:spcPct val="0"/>
              </a:spcBef>
            </a:pPr>
            <a:r>
              <a:rPr lang="en-US" sz="1887">
                <a:solidFill>
                  <a:srgbClr val="0B0B0B"/>
                </a:solidFill>
                <a:latin typeface="Spiro"/>
                <a:ea typeface="Spiro"/>
                <a:cs typeface="Spiro"/>
                <a:sym typeface="Spiro"/>
              </a:rPr>
              <a:t>2</a:t>
            </a:r>
          </a:p>
        </p:txBody>
      </p:sp>
      <p:grpSp>
        <p:nvGrpSpPr>
          <p:cNvPr name="Group 28" id="28"/>
          <p:cNvGrpSpPr/>
          <p:nvPr/>
        </p:nvGrpSpPr>
        <p:grpSpPr>
          <a:xfrm rot="0">
            <a:off x="1228926" y="7468159"/>
            <a:ext cx="551976" cy="551976"/>
            <a:chOff x="0" y="0"/>
            <a:chExt cx="881062" cy="881062"/>
          </a:xfrm>
        </p:grpSpPr>
        <p:sp>
          <p:nvSpPr>
            <p:cNvPr name="Freeform 29" id="29"/>
            <p:cNvSpPr/>
            <p:nvPr/>
          </p:nvSpPr>
          <p:spPr>
            <a:xfrm flipH="false" flipV="false" rot="0">
              <a:off x="0" y="0"/>
              <a:ext cx="881126" cy="881126"/>
            </a:xfrm>
            <a:custGeom>
              <a:avLst/>
              <a:gdLst/>
              <a:ahLst/>
              <a:cxnLst/>
              <a:rect r="r" b="b" t="t" l="l"/>
              <a:pathLst>
                <a:path h="881126" w="881126">
                  <a:moveTo>
                    <a:pt x="0" y="440563"/>
                  </a:moveTo>
                  <a:cubicBezTo>
                    <a:pt x="0" y="197231"/>
                    <a:pt x="197231" y="0"/>
                    <a:pt x="440563" y="0"/>
                  </a:cubicBezTo>
                  <a:cubicBezTo>
                    <a:pt x="683895" y="0"/>
                    <a:pt x="881126" y="197231"/>
                    <a:pt x="881126" y="440563"/>
                  </a:cubicBezTo>
                  <a:cubicBezTo>
                    <a:pt x="881126" y="683895"/>
                    <a:pt x="683768" y="881126"/>
                    <a:pt x="440563" y="881126"/>
                  </a:cubicBezTo>
                  <a:cubicBezTo>
                    <a:pt x="197358" y="881126"/>
                    <a:pt x="0" y="683768"/>
                    <a:pt x="0" y="440563"/>
                  </a:cubicBezTo>
                  <a:close/>
                </a:path>
              </a:pathLst>
            </a:custGeom>
            <a:solidFill>
              <a:srgbClr val="16FFBB"/>
            </a:solidFill>
          </p:spPr>
        </p:sp>
      </p:grpSp>
      <p:sp>
        <p:nvSpPr>
          <p:cNvPr name="TextBox 30" id="30"/>
          <p:cNvSpPr txBox="true"/>
          <p:nvPr/>
        </p:nvSpPr>
        <p:spPr>
          <a:xfrm rot="0">
            <a:off x="1433834" y="7581429"/>
            <a:ext cx="142161" cy="337997"/>
          </a:xfrm>
          <a:prstGeom prst="rect">
            <a:avLst/>
          </a:prstGeom>
        </p:spPr>
        <p:txBody>
          <a:bodyPr anchor="t" rtlCol="false" tIns="0" lIns="0" bIns="0" rIns="0">
            <a:spAutoFit/>
          </a:bodyPr>
          <a:lstStyle/>
          <a:p>
            <a:pPr algn="ctr">
              <a:lnSpc>
                <a:spcPts val="2723"/>
              </a:lnSpc>
              <a:spcBef>
                <a:spcPct val="0"/>
              </a:spcBef>
            </a:pPr>
            <a:r>
              <a:rPr lang="en-US" sz="1987">
                <a:solidFill>
                  <a:srgbClr val="0A081B"/>
                </a:solidFill>
                <a:latin typeface="Spiro"/>
                <a:ea typeface="Spiro"/>
                <a:cs typeface="Spiro"/>
                <a:sym typeface="Spiro"/>
              </a:rPr>
              <a:t>3</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Freeform 6" id="6"/>
          <p:cNvSpPr/>
          <p:nvPr/>
        </p:nvSpPr>
        <p:spPr>
          <a:xfrm flipH="false" flipV="false" rot="0">
            <a:off x="9144000" y="578339"/>
            <a:ext cx="8780850" cy="9130322"/>
          </a:xfrm>
          <a:custGeom>
            <a:avLst/>
            <a:gdLst/>
            <a:ahLst/>
            <a:cxnLst/>
            <a:rect r="r" b="b" t="t" l="l"/>
            <a:pathLst>
              <a:path h="9130322" w="8780850">
                <a:moveTo>
                  <a:pt x="0" y="0"/>
                </a:moveTo>
                <a:lnTo>
                  <a:pt x="8780850" y="0"/>
                </a:lnTo>
                <a:lnTo>
                  <a:pt x="8780850" y="9130322"/>
                </a:lnTo>
                <a:lnTo>
                  <a:pt x="0" y="9130322"/>
                </a:lnTo>
                <a:lnTo>
                  <a:pt x="0" y="0"/>
                </a:lnTo>
                <a:close/>
              </a:path>
            </a:pathLst>
          </a:custGeom>
          <a:blipFill>
            <a:blip r:embed="rId4"/>
            <a:stretch>
              <a:fillRect l="-5429" t="0" r="0" b="0"/>
            </a:stretch>
          </a:blipFill>
        </p:spPr>
      </p:sp>
      <p:sp>
        <p:nvSpPr>
          <p:cNvPr name="TextBox 7" id="7"/>
          <p:cNvSpPr txBox="true"/>
          <p:nvPr/>
        </p:nvSpPr>
        <p:spPr>
          <a:xfrm rot="0">
            <a:off x="530860" y="990600"/>
            <a:ext cx="8396178" cy="6492696"/>
          </a:xfrm>
          <a:prstGeom prst="rect">
            <a:avLst/>
          </a:prstGeom>
        </p:spPr>
        <p:txBody>
          <a:bodyPr anchor="t" rtlCol="false" tIns="0" lIns="0" bIns="0" rIns="0">
            <a:spAutoFit/>
          </a:bodyPr>
          <a:lstStyle/>
          <a:p>
            <a:pPr algn="l">
              <a:lnSpc>
                <a:spcPts val="3801"/>
              </a:lnSpc>
              <a:spcBef>
                <a:spcPct val="0"/>
              </a:spcBef>
            </a:pPr>
            <a:r>
              <a:rPr lang="en-US" b="true" sz="2851">
                <a:solidFill>
                  <a:srgbClr val="FFFFFF"/>
                </a:solidFill>
                <a:latin typeface="Open Sans Bold"/>
                <a:ea typeface="Open Sans Bold"/>
                <a:cs typeface="Open Sans Bold"/>
                <a:sym typeface="Open Sans Bold"/>
              </a:rPr>
              <a:t>SPECIES ANALYSIS: POINT-INFERENCE</a:t>
            </a:r>
          </a:p>
          <a:p>
            <a:pPr algn="l">
              <a:lnSpc>
                <a:spcPts val="2880"/>
              </a:lnSpc>
              <a:spcBef>
                <a:spcPct val="0"/>
              </a:spcBef>
            </a:pPr>
          </a:p>
          <a:p>
            <a:pPr algn="l">
              <a:lnSpc>
                <a:spcPts val="2880"/>
              </a:lnSpc>
              <a:spcBef>
                <a:spcPct val="0"/>
              </a:spcBef>
            </a:pPr>
            <a:r>
              <a:rPr lang="en-US" sz="2160" i="true">
                <a:solidFill>
                  <a:srgbClr val="FFFFFF"/>
                </a:solidFill>
                <a:latin typeface="Open Sans Italics"/>
                <a:ea typeface="Open Sans Italics"/>
                <a:cs typeface="Open Sans Italics"/>
                <a:sym typeface="Open Sans Italics"/>
              </a:rPr>
              <a:t>1. UNKNOWN DOMINANCE</a:t>
            </a:r>
          </a:p>
          <a:p>
            <a:pPr algn="l">
              <a:lnSpc>
                <a:spcPts val="2746"/>
              </a:lnSpc>
              <a:spcBef>
                <a:spcPct val="0"/>
              </a:spcBef>
            </a:pPr>
            <a:r>
              <a:rPr lang="en-US" sz="2060">
                <a:solidFill>
                  <a:srgbClr val="FFFFFF"/>
                </a:solidFill>
                <a:latin typeface="Open Sans"/>
                <a:ea typeface="Open Sans"/>
                <a:cs typeface="Open Sans"/>
                <a:sym typeface="Open Sans"/>
              </a:rPr>
              <a:t>   Over 3,500 records are unidentified; conclusions rely on a minority sample.</a:t>
            </a:r>
          </a:p>
          <a:p>
            <a:pPr algn="l">
              <a:lnSpc>
                <a:spcPts val="2880"/>
              </a:lnSpc>
              <a:spcBef>
                <a:spcPct val="0"/>
              </a:spcBef>
            </a:pPr>
          </a:p>
          <a:p>
            <a:pPr algn="l">
              <a:lnSpc>
                <a:spcPts val="2880"/>
              </a:lnSpc>
              <a:spcBef>
                <a:spcPct val="0"/>
              </a:spcBef>
            </a:pPr>
            <a:r>
              <a:rPr lang="en-US" sz="2160" i="true">
                <a:solidFill>
                  <a:srgbClr val="FFFFFF"/>
                </a:solidFill>
                <a:latin typeface="Open Sans Italics"/>
                <a:ea typeface="Open Sans Italics"/>
                <a:cs typeface="Open Sans Italics"/>
                <a:sym typeface="Open Sans Italics"/>
              </a:rPr>
              <a:t>2. VOLUME LEADER</a:t>
            </a:r>
          </a:p>
          <a:p>
            <a:pPr algn="l">
              <a:lnSpc>
                <a:spcPts val="2746"/>
              </a:lnSpc>
              <a:spcBef>
                <a:spcPct val="0"/>
              </a:spcBef>
            </a:pPr>
            <a:r>
              <a:rPr lang="en-US" sz="2060">
                <a:solidFill>
                  <a:srgbClr val="FFFFFF"/>
                </a:solidFill>
                <a:latin typeface="Open Sans"/>
                <a:ea typeface="Open Sans"/>
                <a:cs typeface="Open Sans"/>
                <a:sym typeface="Open Sans"/>
              </a:rPr>
              <a:t>   White Shark is the most documented and identified species.</a:t>
            </a:r>
          </a:p>
          <a:p>
            <a:pPr algn="l">
              <a:lnSpc>
                <a:spcPts val="2880"/>
              </a:lnSpc>
              <a:spcBef>
                <a:spcPct val="0"/>
              </a:spcBef>
            </a:pPr>
          </a:p>
          <a:p>
            <a:pPr algn="l">
              <a:lnSpc>
                <a:spcPts val="2880"/>
              </a:lnSpc>
              <a:spcBef>
                <a:spcPct val="0"/>
              </a:spcBef>
            </a:pPr>
            <a:r>
              <a:rPr lang="en-US" sz="2160" i="true">
                <a:solidFill>
                  <a:srgbClr val="FFFFFF"/>
                </a:solidFill>
                <a:latin typeface="Open Sans Italics"/>
                <a:ea typeface="Open Sans Italics"/>
                <a:cs typeface="Open Sans Italics"/>
                <a:sym typeface="Open Sans Italics"/>
              </a:rPr>
              <a:t>3. LETHALITY GAP</a:t>
            </a:r>
          </a:p>
          <a:p>
            <a:pPr algn="l">
              <a:lnSpc>
                <a:spcPts val="2746"/>
              </a:lnSpc>
              <a:spcBef>
                <a:spcPct val="0"/>
              </a:spcBef>
            </a:pPr>
            <a:r>
              <a:rPr lang="en-US" sz="2060">
                <a:solidFill>
                  <a:srgbClr val="FFFFFF"/>
                </a:solidFill>
                <a:latin typeface="Open Sans"/>
                <a:ea typeface="Open Sans"/>
                <a:cs typeface="Open Sans"/>
                <a:sym typeface="Open Sans"/>
              </a:rPr>
              <a:t>   Tiger and Bull sharks show higher fatal proportions relative to their total volume.</a:t>
            </a:r>
          </a:p>
          <a:p>
            <a:pPr algn="l">
              <a:lnSpc>
                <a:spcPts val="2880"/>
              </a:lnSpc>
              <a:spcBef>
                <a:spcPct val="0"/>
              </a:spcBef>
            </a:pPr>
          </a:p>
          <a:p>
            <a:pPr algn="l">
              <a:lnSpc>
                <a:spcPts val="2880"/>
              </a:lnSpc>
              <a:spcBef>
                <a:spcPct val="0"/>
              </a:spcBef>
            </a:pPr>
            <a:r>
              <a:rPr lang="en-US" sz="2160" i="true">
                <a:solidFill>
                  <a:srgbClr val="FFFFFF"/>
                </a:solidFill>
                <a:latin typeface="Open Sans Italics"/>
                <a:ea typeface="Open Sans Italics"/>
                <a:cs typeface="Open Sans Italics"/>
                <a:sym typeface="Open Sans Italics"/>
              </a:rPr>
              <a:t>4. LOW-THREAT SPECIES</a:t>
            </a:r>
          </a:p>
          <a:p>
            <a:pPr algn="l">
              <a:lnSpc>
                <a:spcPts val="2746"/>
              </a:lnSpc>
              <a:spcBef>
                <a:spcPct val="0"/>
              </a:spcBef>
            </a:pPr>
            <a:r>
              <a:rPr lang="en-US" sz="2060">
                <a:solidFill>
                  <a:srgbClr val="FFFFFF"/>
                </a:solidFill>
                <a:latin typeface="Open Sans"/>
                <a:ea typeface="Open Sans"/>
                <a:cs typeface="Open Sans"/>
                <a:sym typeface="Open Sans"/>
              </a:rPr>
              <a:t>   Blacktip, Nurse, and Reef sharks show near-zero fatalities.</a:t>
            </a:r>
          </a:p>
          <a:p>
            <a:pPr algn="l">
              <a:lnSpc>
                <a:spcPts val="2880"/>
              </a:lnSpc>
              <a:spcBef>
                <a:spcPct val="0"/>
              </a:spcBef>
            </a:pPr>
          </a:p>
          <a:p>
            <a:pPr algn="l">
              <a:lnSpc>
                <a:spcPts val="2880"/>
              </a:lnSpc>
              <a:spcBef>
                <a:spcPct val="0"/>
              </a:spcBef>
            </a:pPr>
            <a:r>
              <a:rPr lang="en-US" sz="2160" i="true">
                <a:solidFill>
                  <a:srgbClr val="FFFFFF"/>
                </a:solidFill>
                <a:latin typeface="Open Sans Italics"/>
                <a:ea typeface="Open Sans Italics"/>
                <a:cs typeface="Open Sans Italics"/>
                <a:sym typeface="Open Sans Italics"/>
              </a:rPr>
              <a:t>5. OUTCOME GAPS</a:t>
            </a:r>
          </a:p>
          <a:p>
            <a:pPr algn="l">
              <a:lnSpc>
                <a:spcPts val="2726"/>
              </a:lnSpc>
              <a:spcBef>
                <a:spcPct val="0"/>
              </a:spcBef>
            </a:pPr>
            <a:r>
              <a:rPr lang="en-US" sz="2044">
                <a:solidFill>
                  <a:srgbClr val="FFFFFF"/>
                </a:solidFill>
                <a:latin typeface="Open Sans"/>
                <a:ea typeface="Open Sans"/>
                <a:cs typeface="Open Sans"/>
                <a:sym typeface="Open Sans"/>
              </a:rPr>
              <a:t>   "NA" segments exist where even survival status is unrecorded.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1084212" y="830161"/>
            <a:ext cx="17007592" cy="614363"/>
          </a:xfrm>
          <a:prstGeom prst="rect">
            <a:avLst/>
          </a:prstGeom>
        </p:spPr>
        <p:txBody>
          <a:bodyPr anchor="t" rtlCol="false" tIns="0" lIns="0" bIns="0" rIns="0">
            <a:spAutoFit/>
          </a:bodyPr>
          <a:lstStyle/>
          <a:p>
            <a:pPr algn="l">
              <a:lnSpc>
                <a:spcPts val="4687"/>
              </a:lnSpc>
            </a:pPr>
            <a:r>
              <a:rPr lang="en-US" sz="3749" b="true">
                <a:solidFill>
                  <a:srgbClr val="F0FCFF"/>
                </a:solidFill>
                <a:latin typeface="Arimo Bold"/>
                <a:ea typeface="Arimo Bold"/>
                <a:cs typeface="Arimo Bold"/>
                <a:sym typeface="Arimo Bold"/>
              </a:rPr>
              <a:t>The Deeper Story: Surprising Findings &amp; Critical Realities</a:t>
            </a:r>
          </a:p>
        </p:txBody>
      </p:sp>
      <p:sp>
        <p:nvSpPr>
          <p:cNvPr name="TextBox 7" id="7"/>
          <p:cNvSpPr txBox="true"/>
          <p:nvPr/>
        </p:nvSpPr>
        <p:spPr>
          <a:xfrm rot="0">
            <a:off x="1084212" y="1511198"/>
            <a:ext cx="17007592" cy="476250"/>
          </a:xfrm>
          <a:prstGeom prst="rect">
            <a:avLst/>
          </a:prstGeom>
        </p:spPr>
        <p:txBody>
          <a:bodyPr anchor="t" rtlCol="false" tIns="0" lIns="0" bIns="0" rIns="0">
            <a:spAutoFit/>
          </a:bodyPr>
          <a:lstStyle/>
          <a:p>
            <a:pPr algn="l">
              <a:lnSpc>
                <a:spcPts val="3749"/>
              </a:lnSpc>
            </a:pPr>
            <a:r>
              <a:rPr lang="en-US" sz="3000" b="true">
                <a:solidFill>
                  <a:srgbClr val="F0FCFF"/>
                </a:solidFill>
                <a:latin typeface="Arimo Bold"/>
                <a:ea typeface="Arimo Bold"/>
                <a:cs typeface="Arimo Bold"/>
                <a:sym typeface="Arimo Bold"/>
              </a:rPr>
              <a:t>Deconstructing the Paradoxes and Limitations of Shark Data</a:t>
            </a:r>
          </a:p>
        </p:txBody>
      </p:sp>
      <p:sp>
        <p:nvSpPr>
          <p:cNvPr name="TextBox 8" id="8"/>
          <p:cNvSpPr txBox="true"/>
          <p:nvPr/>
        </p:nvSpPr>
        <p:spPr>
          <a:xfrm rot="0">
            <a:off x="1084212" y="2052637"/>
            <a:ext cx="17007592" cy="366713"/>
          </a:xfrm>
          <a:prstGeom prst="rect">
            <a:avLst/>
          </a:prstGeom>
        </p:spPr>
        <p:txBody>
          <a:bodyPr anchor="t" rtlCol="false" tIns="0" lIns="0" bIns="0" rIns="0">
            <a:spAutoFit/>
          </a:bodyPr>
          <a:lstStyle/>
          <a:p>
            <a:pPr algn="l">
              <a:lnSpc>
                <a:spcPts val="2812"/>
              </a:lnSpc>
            </a:pPr>
            <a:r>
              <a:rPr lang="en-US" sz="2249" b="true">
                <a:solidFill>
                  <a:srgbClr val="F0FCFF"/>
                </a:solidFill>
                <a:latin typeface="Arimo Bold"/>
                <a:ea typeface="Arimo Bold"/>
                <a:cs typeface="Arimo Bold"/>
                <a:sym typeface="Arimo Bold"/>
              </a:rPr>
              <a:t>The Five Most Surprising Findings</a:t>
            </a:r>
          </a:p>
        </p:txBody>
      </p:sp>
      <p:grpSp>
        <p:nvGrpSpPr>
          <p:cNvPr name="Group 9" id="9"/>
          <p:cNvGrpSpPr/>
          <p:nvPr/>
        </p:nvGrpSpPr>
        <p:grpSpPr>
          <a:xfrm rot="0">
            <a:off x="1074687" y="2606373"/>
            <a:ext cx="506911" cy="506911"/>
            <a:chOff x="0" y="0"/>
            <a:chExt cx="675881" cy="675881"/>
          </a:xfrm>
        </p:grpSpPr>
        <p:sp>
          <p:nvSpPr>
            <p:cNvPr name="Freeform 10" id="10"/>
            <p:cNvSpPr/>
            <p:nvPr/>
          </p:nvSpPr>
          <p:spPr>
            <a:xfrm flipH="false" flipV="false" rot="0">
              <a:off x="12700" y="12700"/>
              <a:ext cx="650494" cy="650494"/>
            </a:xfrm>
            <a:custGeom>
              <a:avLst/>
              <a:gdLst/>
              <a:ahLst/>
              <a:cxnLst/>
              <a:rect r="r" b="b" t="t" l="l"/>
              <a:pathLst>
                <a:path h="650494" w="650494">
                  <a:moveTo>
                    <a:pt x="0" y="325247"/>
                  </a:moveTo>
                  <a:cubicBezTo>
                    <a:pt x="0" y="145669"/>
                    <a:pt x="145669" y="0"/>
                    <a:pt x="325247" y="0"/>
                  </a:cubicBezTo>
                  <a:cubicBezTo>
                    <a:pt x="504825" y="0"/>
                    <a:pt x="650494" y="145669"/>
                    <a:pt x="650494" y="325247"/>
                  </a:cubicBezTo>
                  <a:cubicBezTo>
                    <a:pt x="650494" y="504825"/>
                    <a:pt x="504825" y="650494"/>
                    <a:pt x="325247" y="650494"/>
                  </a:cubicBezTo>
                  <a:cubicBezTo>
                    <a:pt x="145669" y="650494"/>
                    <a:pt x="0" y="504825"/>
                    <a:pt x="0" y="325247"/>
                  </a:cubicBezTo>
                  <a:close/>
                </a:path>
              </a:pathLst>
            </a:custGeom>
            <a:solidFill>
              <a:srgbClr val="0A081B"/>
            </a:solidFill>
          </p:spPr>
        </p:sp>
        <p:sp>
          <p:nvSpPr>
            <p:cNvPr name="Freeform 11" id="11"/>
            <p:cNvSpPr/>
            <p:nvPr/>
          </p:nvSpPr>
          <p:spPr>
            <a:xfrm flipH="false" flipV="false" rot="0">
              <a:off x="0" y="0"/>
              <a:ext cx="675894" cy="675894"/>
            </a:xfrm>
            <a:custGeom>
              <a:avLst/>
              <a:gdLst/>
              <a:ahLst/>
              <a:cxnLst/>
              <a:rect r="r" b="b" t="t" l="l"/>
              <a:pathLst>
                <a:path h="675894" w="675894">
                  <a:moveTo>
                    <a:pt x="0" y="337947"/>
                  </a:moveTo>
                  <a:cubicBezTo>
                    <a:pt x="0" y="151257"/>
                    <a:pt x="151257" y="0"/>
                    <a:pt x="337947" y="0"/>
                  </a:cubicBezTo>
                  <a:cubicBezTo>
                    <a:pt x="341757" y="0"/>
                    <a:pt x="345440" y="1778"/>
                    <a:pt x="347853" y="4826"/>
                  </a:cubicBezTo>
                  <a:lnTo>
                    <a:pt x="337947" y="12700"/>
                  </a:lnTo>
                  <a:lnTo>
                    <a:pt x="337947" y="0"/>
                  </a:lnTo>
                  <a:lnTo>
                    <a:pt x="337947" y="12700"/>
                  </a:lnTo>
                  <a:lnTo>
                    <a:pt x="337947" y="0"/>
                  </a:lnTo>
                  <a:cubicBezTo>
                    <a:pt x="524637" y="0"/>
                    <a:pt x="675894" y="151257"/>
                    <a:pt x="675894" y="337947"/>
                  </a:cubicBezTo>
                  <a:cubicBezTo>
                    <a:pt x="675894" y="342773"/>
                    <a:pt x="673227" y="347218"/>
                    <a:pt x="668909" y="349250"/>
                  </a:cubicBezTo>
                  <a:lnTo>
                    <a:pt x="663194" y="337947"/>
                  </a:lnTo>
                  <a:lnTo>
                    <a:pt x="675894" y="337947"/>
                  </a:lnTo>
                  <a:cubicBezTo>
                    <a:pt x="675894" y="524637"/>
                    <a:pt x="524637" y="675894"/>
                    <a:pt x="337947" y="675894"/>
                  </a:cubicBezTo>
                  <a:lnTo>
                    <a:pt x="337947" y="663194"/>
                  </a:lnTo>
                  <a:lnTo>
                    <a:pt x="337947" y="675894"/>
                  </a:lnTo>
                  <a:cubicBezTo>
                    <a:pt x="151257" y="675894"/>
                    <a:pt x="0" y="524637"/>
                    <a:pt x="0" y="337947"/>
                  </a:cubicBezTo>
                  <a:lnTo>
                    <a:pt x="12700" y="337947"/>
                  </a:lnTo>
                  <a:lnTo>
                    <a:pt x="0" y="337947"/>
                  </a:lnTo>
                  <a:moveTo>
                    <a:pt x="25400" y="337947"/>
                  </a:moveTo>
                  <a:lnTo>
                    <a:pt x="12700" y="337947"/>
                  </a:lnTo>
                  <a:lnTo>
                    <a:pt x="25400" y="337947"/>
                  </a:lnTo>
                  <a:cubicBezTo>
                    <a:pt x="25400" y="510540"/>
                    <a:pt x="165354" y="650494"/>
                    <a:pt x="337947" y="650494"/>
                  </a:cubicBezTo>
                  <a:cubicBezTo>
                    <a:pt x="510540" y="650494"/>
                    <a:pt x="650494" y="510540"/>
                    <a:pt x="650494" y="337947"/>
                  </a:cubicBezTo>
                  <a:cubicBezTo>
                    <a:pt x="650494" y="333121"/>
                    <a:pt x="653161" y="328676"/>
                    <a:pt x="657479" y="326644"/>
                  </a:cubicBezTo>
                  <a:lnTo>
                    <a:pt x="663194" y="337947"/>
                  </a:lnTo>
                  <a:lnTo>
                    <a:pt x="650494" y="337947"/>
                  </a:lnTo>
                  <a:cubicBezTo>
                    <a:pt x="650494" y="165354"/>
                    <a:pt x="510540" y="25400"/>
                    <a:pt x="337947" y="25400"/>
                  </a:cubicBezTo>
                  <a:cubicBezTo>
                    <a:pt x="334137" y="25400"/>
                    <a:pt x="330454" y="23622"/>
                    <a:pt x="328041" y="20574"/>
                  </a:cubicBezTo>
                  <a:lnTo>
                    <a:pt x="337947" y="12700"/>
                  </a:lnTo>
                  <a:lnTo>
                    <a:pt x="337947" y="25400"/>
                  </a:lnTo>
                  <a:cubicBezTo>
                    <a:pt x="165354" y="25400"/>
                    <a:pt x="25400" y="165354"/>
                    <a:pt x="25400" y="337947"/>
                  </a:cubicBezTo>
                  <a:close/>
                </a:path>
              </a:pathLst>
            </a:custGeom>
            <a:solidFill>
              <a:srgbClr val="16FFBB"/>
            </a:solidFill>
          </p:spPr>
        </p:sp>
      </p:grpSp>
      <p:sp>
        <p:nvSpPr>
          <p:cNvPr name="TextBox 12" id="12"/>
          <p:cNvSpPr txBox="true"/>
          <p:nvPr/>
        </p:nvSpPr>
        <p:spPr>
          <a:xfrm rot="0">
            <a:off x="1183634" y="2758526"/>
            <a:ext cx="289027" cy="332784"/>
          </a:xfrm>
          <a:prstGeom prst="rect">
            <a:avLst/>
          </a:prstGeom>
        </p:spPr>
        <p:txBody>
          <a:bodyPr anchor="t" rtlCol="false" tIns="0" lIns="0" bIns="0" rIns="0">
            <a:spAutoFit/>
          </a:bodyPr>
          <a:lstStyle/>
          <a:p>
            <a:pPr algn="ctr">
              <a:lnSpc>
                <a:spcPts val="2249"/>
              </a:lnSpc>
            </a:pPr>
            <a:r>
              <a:rPr lang="en-US" sz="2249" b="true">
                <a:solidFill>
                  <a:srgbClr val="E0E4E6"/>
                </a:solidFill>
                <a:latin typeface="Arimo Bold"/>
                <a:ea typeface="Arimo Bold"/>
                <a:cs typeface="Arimo Bold"/>
                <a:sym typeface="Arimo Bold"/>
              </a:rPr>
              <a:t>1</a:t>
            </a:r>
          </a:p>
        </p:txBody>
      </p:sp>
      <p:sp>
        <p:nvSpPr>
          <p:cNvPr name="TextBox 13" id="13"/>
          <p:cNvSpPr txBox="true"/>
          <p:nvPr/>
        </p:nvSpPr>
        <p:spPr>
          <a:xfrm rot="0">
            <a:off x="1721491" y="2703014"/>
            <a:ext cx="2409377" cy="339176"/>
          </a:xfrm>
          <a:prstGeom prst="rect">
            <a:avLst/>
          </a:prstGeom>
        </p:spPr>
        <p:txBody>
          <a:bodyPr anchor="t" rtlCol="false" tIns="0" lIns="0" bIns="0" rIns="0">
            <a:spAutoFit/>
          </a:bodyPr>
          <a:lstStyle/>
          <a:p>
            <a:pPr algn="l">
              <a:lnSpc>
                <a:spcPts val="2312"/>
              </a:lnSpc>
            </a:pPr>
            <a:r>
              <a:rPr lang="en-US" sz="1874" b="true">
                <a:solidFill>
                  <a:srgbClr val="E0E4E6"/>
                </a:solidFill>
                <a:latin typeface="Arimo Bold"/>
                <a:ea typeface="Arimo Bold"/>
                <a:cs typeface="Arimo Bold"/>
                <a:sym typeface="Arimo Bold"/>
              </a:rPr>
              <a:t>The Fatality Paradox</a:t>
            </a:r>
          </a:p>
        </p:txBody>
      </p:sp>
      <p:sp>
        <p:nvSpPr>
          <p:cNvPr name="TextBox 14" id="14"/>
          <p:cNvSpPr txBox="true"/>
          <p:nvPr/>
        </p:nvSpPr>
        <p:spPr>
          <a:xfrm rot="0">
            <a:off x="1721491" y="3103216"/>
            <a:ext cx="15482297" cy="614363"/>
          </a:xfrm>
          <a:prstGeom prst="rect">
            <a:avLst/>
          </a:prstGeom>
        </p:spPr>
        <p:txBody>
          <a:bodyPr anchor="t" rtlCol="false" tIns="0" lIns="0" bIns="0" rIns="0">
            <a:spAutoFit/>
          </a:bodyPr>
          <a:lstStyle/>
          <a:p>
            <a:pPr algn="l">
              <a:lnSpc>
                <a:spcPts val="2249"/>
              </a:lnSpc>
            </a:pPr>
            <a:r>
              <a:rPr lang="en-US" sz="1687">
                <a:solidFill>
                  <a:srgbClr val="E0E4E6"/>
                </a:solidFill>
                <a:latin typeface="Barlow"/>
                <a:ea typeface="Barlow"/>
                <a:cs typeface="Barlow"/>
                <a:sym typeface="Barlow"/>
              </a:rPr>
              <a:t>Attacks are rising exponentially (1900: 5/yr vs 2017: 100+/yr), but fatality rates have collapsed (60% down to 20%). This is due to modern trauma medicine and helicopter rescue, not sharks becoming "nicer."</a:t>
            </a:r>
          </a:p>
        </p:txBody>
      </p:sp>
      <p:grpSp>
        <p:nvGrpSpPr>
          <p:cNvPr name="Group 15" id="15"/>
          <p:cNvGrpSpPr/>
          <p:nvPr/>
        </p:nvGrpSpPr>
        <p:grpSpPr>
          <a:xfrm rot="0">
            <a:off x="1074687" y="3930701"/>
            <a:ext cx="506911" cy="506911"/>
            <a:chOff x="0" y="0"/>
            <a:chExt cx="675881" cy="675881"/>
          </a:xfrm>
        </p:grpSpPr>
        <p:sp>
          <p:nvSpPr>
            <p:cNvPr name="Freeform 16" id="16"/>
            <p:cNvSpPr/>
            <p:nvPr/>
          </p:nvSpPr>
          <p:spPr>
            <a:xfrm flipH="false" flipV="false" rot="0">
              <a:off x="12700" y="12700"/>
              <a:ext cx="650494" cy="650494"/>
            </a:xfrm>
            <a:custGeom>
              <a:avLst/>
              <a:gdLst/>
              <a:ahLst/>
              <a:cxnLst/>
              <a:rect r="r" b="b" t="t" l="l"/>
              <a:pathLst>
                <a:path h="650494" w="650494">
                  <a:moveTo>
                    <a:pt x="0" y="325247"/>
                  </a:moveTo>
                  <a:cubicBezTo>
                    <a:pt x="0" y="145669"/>
                    <a:pt x="145669" y="0"/>
                    <a:pt x="325247" y="0"/>
                  </a:cubicBezTo>
                  <a:cubicBezTo>
                    <a:pt x="504825" y="0"/>
                    <a:pt x="650494" y="145669"/>
                    <a:pt x="650494" y="325247"/>
                  </a:cubicBezTo>
                  <a:cubicBezTo>
                    <a:pt x="650494" y="504825"/>
                    <a:pt x="504825" y="650494"/>
                    <a:pt x="325247" y="650494"/>
                  </a:cubicBezTo>
                  <a:cubicBezTo>
                    <a:pt x="145669" y="650494"/>
                    <a:pt x="0" y="504825"/>
                    <a:pt x="0" y="325247"/>
                  </a:cubicBezTo>
                  <a:close/>
                </a:path>
              </a:pathLst>
            </a:custGeom>
            <a:solidFill>
              <a:srgbClr val="0A081B"/>
            </a:solidFill>
          </p:spPr>
        </p:sp>
        <p:sp>
          <p:nvSpPr>
            <p:cNvPr name="Freeform 17" id="17"/>
            <p:cNvSpPr/>
            <p:nvPr/>
          </p:nvSpPr>
          <p:spPr>
            <a:xfrm flipH="false" flipV="false" rot="0">
              <a:off x="0" y="0"/>
              <a:ext cx="675894" cy="675894"/>
            </a:xfrm>
            <a:custGeom>
              <a:avLst/>
              <a:gdLst/>
              <a:ahLst/>
              <a:cxnLst/>
              <a:rect r="r" b="b" t="t" l="l"/>
              <a:pathLst>
                <a:path h="675894" w="675894">
                  <a:moveTo>
                    <a:pt x="0" y="337947"/>
                  </a:moveTo>
                  <a:cubicBezTo>
                    <a:pt x="0" y="151257"/>
                    <a:pt x="151257" y="0"/>
                    <a:pt x="337947" y="0"/>
                  </a:cubicBezTo>
                  <a:cubicBezTo>
                    <a:pt x="341757" y="0"/>
                    <a:pt x="345440" y="1778"/>
                    <a:pt x="347853" y="4826"/>
                  </a:cubicBezTo>
                  <a:lnTo>
                    <a:pt x="337947" y="12700"/>
                  </a:lnTo>
                  <a:lnTo>
                    <a:pt x="337947" y="0"/>
                  </a:lnTo>
                  <a:lnTo>
                    <a:pt x="337947" y="12700"/>
                  </a:lnTo>
                  <a:lnTo>
                    <a:pt x="337947" y="0"/>
                  </a:lnTo>
                  <a:cubicBezTo>
                    <a:pt x="524637" y="0"/>
                    <a:pt x="675894" y="151257"/>
                    <a:pt x="675894" y="337947"/>
                  </a:cubicBezTo>
                  <a:cubicBezTo>
                    <a:pt x="675894" y="342773"/>
                    <a:pt x="673227" y="347218"/>
                    <a:pt x="668909" y="349250"/>
                  </a:cubicBezTo>
                  <a:lnTo>
                    <a:pt x="663194" y="337947"/>
                  </a:lnTo>
                  <a:lnTo>
                    <a:pt x="675894" y="337947"/>
                  </a:lnTo>
                  <a:cubicBezTo>
                    <a:pt x="675894" y="524637"/>
                    <a:pt x="524637" y="675894"/>
                    <a:pt x="337947" y="675894"/>
                  </a:cubicBezTo>
                  <a:lnTo>
                    <a:pt x="337947" y="663194"/>
                  </a:lnTo>
                  <a:lnTo>
                    <a:pt x="337947" y="675894"/>
                  </a:lnTo>
                  <a:cubicBezTo>
                    <a:pt x="151257" y="675894"/>
                    <a:pt x="0" y="524637"/>
                    <a:pt x="0" y="337947"/>
                  </a:cubicBezTo>
                  <a:lnTo>
                    <a:pt x="12700" y="337947"/>
                  </a:lnTo>
                  <a:lnTo>
                    <a:pt x="0" y="337947"/>
                  </a:lnTo>
                  <a:moveTo>
                    <a:pt x="25400" y="337947"/>
                  </a:moveTo>
                  <a:lnTo>
                    <a:pt x="12700" y="337947"/>
                  </a:lnTo>
                  <a:lnTo>
                    <a:pt x="25400" y="337947"/>
                  </a:lnTo>
                  <a:cubicBezTo>
                    <a:pt x="25400" y="510540"/>
                    <a:pt x="165354" y="650494"/>
                    <a:pt x="337947" y="650494"/>
                  </a:cubicBezTo>
                  <a:cubicBezTo>
                    <a:pt x="510540" y="650494"/>
                    <a:pt x="650494" y="510540"/>
                    <a:pt x="650494" y="337947"/>
                  </a:cubicBezTo>
                  <a:cubicBezTo>
                    <a:pt x="650494" y="333121"/>
                    <a:pt x="653161" y="328676"/>
                    <a:pt x="657479" y="326644"/>
                  </a:cubicBezTo>
                  <a:lnTo>
                    <a:pt x="663194" y="337947"/>
                  </a:lnTo>
                  <a:lnTo>
                    <a:pt x="650494" y="337947"/>
                  </a:lnTo>
                  <a:cubicBezTo>
                    <a:pt x="650494" y="165354"/>
                    <a:pt x="510540" y="25400"/>
                    <a:pt x="337947" y="25400"/>
                  </a:cubicBezTo>
                  <a:cubicBezTo>
                    <a:pt x="334137" y="25400"/>
                    <a:pt x="330454" y="23622"/>
                    <a:pt x="328041" y="20574"/>
                  </a:cubicBezTo>
                  <a:lnTo>
                    <a:pt x="337947" y="12700"/>
                  </a:lnTo>
                  <a:lnTo>
                    <a:pt x="337947" y="25400"/>
                  </a:lnTo>
                  <a:cubicBezTo>
                    <a:pt x="165354" y="25400"/>
                    <a:pt x="25400" y="165354"/>
                    <a:pt x="25400" y="337947"/>
                  </a:cubicBezTo>
                  <a:close/>
                </a:path>
              </a:pathLst>
            </a:custGeom>
            <a:solidFill>
              <a:srgbClr val="29DDDA"/>
            </a:solidFill>
          </p:spPr>
        </p:sp>
      </p:grpSp>
      <p:sp>
        <p:nvSpPr>
          <p:cNvPr name="TextBox 18" id="18"/>
          <p:cNvSpPr txBox="true"/>
          <p:nvPr/>
        </p:nvSpPr>
        <p:spPr>
          <a:xfrm rot="0">
            <a:off x="1183634" y="4108247"/>
            <a:ext cx="289027" cy="332784"/>
          </a:xfrm>
          <a:prstGeom prst="rect">
            <a:avLst/>
          </a:prstGeom>
        </p:spPr>
        <p:txBody>
          <a:bodyPr anchor="t" rtlCol="false" tIns="0" lIns="0" bIns="0" rIns="0">
            <a:spAutoFit/>
          </a:bodyPr>
          <a:lstStyle/>
          <a:p>
            <a:pPr algn="ctr">
              <a:lnSpc>
                <a:spcPts val="2249"/>
              </a:lnSpc>
            </a:pPr>
            <a:r>
              <a:rPr lang="en-US" sz="2249" b="true">
                <a:solidFill>
                  <a:srgbClr val="E0E4E6"/>
                </a:solidFill>
                <a:latin typeface="Arimo Bold"/>
                <a:ea typeface="Arimo Bold"/>
                <a:cs typeface="Arimo Bold"/>
                <a:sym typeface="Arimo Bold"/>
              </a:rPr>
              <a:t>2</a:t>
            </a:r>
          </a:p>
        </p:txBody>
      </p:sp>
      <p:sp>
        <p:nvSpPr>
          <p:cNvPr name="TextBox 19" id="19"/>
          <p:cNvSpPr txBox="true"/>
          <p:nvPr/>
        </p:nvSpPr>
        <p:spPr>
          <a:xfrm rot="0">
            <a:off x="1721491" y="4052735"/>
            <a:ext cx="2409377" cy="339176"/>
          </a:xfrm>
          <a:prstGeom prst="rect">
            <a:avLst/>
          </a:prstGeom>
        </p:spPr>
        <p:txBody>
          <a:bodyPr anchor="t" rtlCol="false" tIns="0" lIns="0" bIns="0" rIns="0">
            <a:spAutoFit/>
          </a:bodyPr>
          <a:lstStyle/>
          <a:p>
            <a:pPr algn="l">
              <a:lnSpc>
                <a:spcPts val="2312"/>
              </a:lnSpc>
            </a:pPr>
            <a:r>
              <a:rPr lang="en-US" sz="1874" b="true">
                <a:solidFill>
                  <a:srgbClr val="E0E4E6"/>
                </a:solidFill>
                <a:latin typeface="Arimo Bold"/>
                <a:ea typeface="Arimo Bold"/>
                <a:cs typeface="Arimo Bold"/>
                <a:sym typeface="Arimo Bold"/>
              </a:rPr>
              <a:t>The 88% Male Ratio</a:t>
            </a:r>
          </a:p>
        </p:txBody>
      </p:sp>
      <p:sp>
        <p:nvSpPr>
          <p:cNvPr name="TextBox 20" id="20"/>
          <p:cNvSpPr txBox="true"/>
          <p:nvPr/>
        </p:nvSpPr>
        <p:spPr>
          <a:xfrm rot="0">
            <a:off x="1721491" y="4452937"/>
            <a:ext cx="15482297" cy="614363"/>
          </a:xfrm>
          <a:prstGeom prst="rect">
            <a:avLst/>
          </a:prstGeom>
        </p:spPr>
        <p:txBody>
          <a:bodyPr anchor="t" rtlCol="false" tIns="0" lIns="0" bIns="0" rIns="0">
            <a:spAutoFit/>
          </a:bodyPr>
          <a:lstStyle/>
          <a:p>
            <a:pPr algn="l">
              <a:lnSpc>
                <a:spcPts val="2249"/>
              </a:lnSpc>
            </a:pPr>
            <a:r>
              <a:rPr lang="en-US" sz="1687">
                <a:solidFill>
                  <a:srgbClr val="E0E4E6"/>
                </a:solidFill>
                <a:latin typeface="Barlow"/>
                <a:ea typeface="Barlow"/>
                <a:cs typeface="Barlow"/>
                <a:sym typeface="Barlow"/>
              </a:rPr>
              <a:t>Often cited as a biological preference, the data suggests it is "participation bias." As female ocean sports participation has increased, the attack gap has narrowed accordingly.</a:t>
            </a:r>
          </a:p>
        </p:txBody>
      </p:sp>
      <p:grpSp>
        <p:nvGrpSpPr>
          <p:cNvPr name="Group 21" id="21"/>
          <p:cNvGrpSpPr/>
          <p:nvPr/>
        </p:nvGrpSpPr>
        <p:grpSpPr>
          <a:xfrm rot="0">
            <a:off x="1074687" y="5293119"/>
            <a:ext cx="506911" cy="506911"/>
            <a:chOff x="0" y="0"/>
            <a:chExt cx="675881" cy="675881"/>
          </a:xfrm>
        </p:grpSpPr>
        <p:sp>
          <p:nvSpPr>
            <p:cNvPr name="Freeform 22" id="22"/>
            <p:cNvSpPr/>
            <p:nvPr/>
          </p:nvSpPr>
          <p:spPr>
            <a:xfrm flipH="false" flipV="false" rot="0">
              <a:off x="12700" y="12700"/>
              <a:ext cx="650494" cy="650494"/>
            </a:xfrm>
            <a:custGeom>
              <a:avLst/>
              <a:gdLst/>
              <a:ahLst/>
              <a:cxnLst/>
              <a:rect r="r" b="b" t="t" l="l"/>
              <a:pathLst>
                <a:path h="650494" w="650494">
                  <a:moveTo>
                    <a:pt x="0" y="325247"/>
                  </a:moveTo>
                  <a:cubicBezTo>
                    <a:pt x="0" y="145669"/>
                    <a:pt x="145669" y="0"/>
                    <a:pt x="325247" y="0"/>
                  </a:cubicBezTo>
                  <a:cubicBezTo>
                    <a:pt x="504825" y="0"/>
                    <a:pt x="650494" y="145669"/>
                    <a:pt x="650494" y="325247"/>
                  </a:cubicBezTo>
                  <a:cubicBezTo>
                    <a:pt x="650494" y="504825"/>
                    <a:pt x="504825" y="650494"/>
                    <a:pt x="325247" y="650494"/>
                  </a:cubicBezTo>
                  <a:cubicBezTo>
                    <a:pt x="145669" y="650494"/>
                    <a:pt x="0" y="504825"/>
                    <a:pt x="0" y="325247"/>
                  </a:cubicBezTo>
                  <a:close/>
                </a:path>
              </a:pathLst>
            </a:custGeom>
            <a:solidFill>
              <a:srgbClr val="0A081B"/>
            </a:solidFill>
          </p:spPr>
        </p:sp>
        <p:sp>
          <p:nvSpPr>
            <p:cNvPr name="Freeform 23" id="23"/>
            <p:cNvSpPr/>
            <p:nvPr/>
          </p:nvSpPr>
          <p:spPr>
            <a:xfrm flipH="false" flipV="false" rot="0">
              <a:off x="0" y="0"/>
              <a:ext cx="675894" cy="675894"/>
            </a:xfrm>
            <a:custGeom>
              <a:avLst/>
              <a:gdLst/>
              <a:ahLst/>
              <a:cxnLst/>
              <a:rect r="r" b="b" t="t" l="l"/>
              <a:pathLst>
                <a:path h="675894" w="675894">
                  <a:moveTo>
                    <a:pt x="0" y="337947"/>
                  </a:moveTo>
                  <a:cubicBezTo>
                    <a:pt x="0" y="151257"/>
                    <a:pt x="151257" y="0"/>
                    <a:pt x="337947" y="0"/>
                  </a:cubicBezTo>
                  <a:cubicBezTo>
                    <a:pt x="341757" y="0"/>
                    <a:pt x="345440" y="1778"/>
                    <a:pt x="347853" y="4826"/>
                  </a:cubicBezTo>
                  <a:lnTo>
                    <a:pt x="337947" y="12700"/>
                  </a:lnTo>
                  <a:lnTo>
                    <a:pt x="337947" y="0"/>
                  </a:lnTo>
                  <a:lnTo>
                    <a:pt x="337947" y="12700"/>
                  </a:lnTo>
                  <a:lnTo>
                    <a:pt x="337947" y="0"/>
                  </a:lnTo>
                  <a:cubicBezTo>
                    <a:pt x="524637" y="0"/>
                    <a:pt x="675894" y="151257"/>
                    <a:pt x="675894" y="337947"/>
                  </a:cubicBezTo>
                  <a:cubicBezTo>
                    <a:pt x="675894" y="342773"/>
                    <a:pt x="673227" y="347218"/>
                    <a:pt x="668909" y="349250"/>
                  </a:cubicBezTo>
                  <a:lnTo>
                    <a:pt x="663194" y="337947"/>
                  </a:lnTo>
                  <a:lnTo>
                    <a:pt x="675894" y="337947"/>
                  </a:lnTo>
                  <a:cubicBezTo>
                    <a:pt x="675894" y="524637"/>
                    <a:pt x="524637" y="675894"/>
                    <a:pt x="337947" y="675894"/>
                  </a:cubicBezTo>
                  <a:lnTo>
                    <a:pt x="337947" y="663194"/>
                  </a:lnTo>
                  <a:lnTo>
                    <a:pt x="337947" y="675894"/>
                  </a:lnTo>
                  <a:cubicBezTo>
                    <a:pt x="151257" y="675894"/>
                    <a:pt x="0" y="524637"/>
                    <a:pt x="0" y="337947"/>
                  </a:cubicBezTo>
                  <a:lnTo>
                    <a:pt x="12700" y="337947"/>
                  </a:lnTo>
                  <a:lnTo>
                    <a:pt x="0" y="337947"/>
                  </a:lnTo>
                  <a:moveTo>
                    <a:pt x="25400" y="337947"/>
                  </a:moveTo>
                  <a:lnTo>
                    <a:pt x="12700" y="337947"/>
                  </a:lnTo>
                  <a:lnTo>
                    <a:pt x="25400" y="337947"/>
                  </a:lnTo>
                  <a:cubicBezTo>
                    <a:pt x="25400" y="510540"/>
                    <a:pt x="165354" y="650494"/>
                    <a:pt x="337947" y="650494"/>
                  </a:cubicBezTo>
                  <a:cubicBezTo>
                    <a:pt x="510540" y="650494"/>
                    <a:pt x="650494" y="510540"/>
                    <a:pt x="650494" y="337947"/>
                  </a:cubicBezTo>
                  <a:cubicBezTo>
                    <a:pt x="650494" y="333121"/>
                    <a:pt x="653161" y="328676"/>
                    <a:pt x="657479" y="326644"/>
                  </a:cubicBezTo>
                  <a:lnTo>
                    <a:pt x="663194" y="337947"/>
                  </a:lnTo>
                  <a:lnTo>
                    <a:pt x="650494" y="337947"/>
                  </a:lnTo>
                  <a:cubicBezTo>
                    <a:pt x="650494" y="165354"/>
                    <a:pt x="510540" y="25400"/>
                    <a:pt x="337947" y="25400"/>
                  </a:cubicBezTo>
                  <a:cubicBezTo>
                    <a:pt x="334137" y="25400"/>
                    <a:pt x="330454" y="23622"/>
                    <a:pt x="328041" y="20574"/>
                  </a:cubicBezTo>
                  <a:lnTo>
                    <a:pt x="337947" y="12700"/>
                  </a:lnTo>
                  <a:lnTo>
                    <a:pt x="337947" y="25400"/>
                  </a:lnTo>
                  <a:cubicBezTo>
                    <a:pt x="165354" y="25400"/>
                    <a:pt x="25400" y="165354"/>
                    <a:pt x="25400" y="337947"/>
                  </a:cubicBezTo>
                  <a:close/>
                </a:path>
              </a:pathLst>
            </a:custGeom>
            <a:solidFill>
              <a:srgbClr val="37A7E7"/>
            </a:solidFill>
          </p:spPr>
        </p:sp>
      </p:grpSp>
      <p:sp>
        <p:nvSpPr>
          <p:cNvPr name="TextBox 24" id="24"/>
          <p:cNvSpPr txBox="true"/>
          <p:nvPr/>
        </p:nvSpPr>
        <p:spPr>
          <a:xfrm rot="0">
            <a:off x="1183634" y="5457977"/>
            <a:ext cx="289027" cy="332784"/>
          </a:xfrm>
          <a:prstGeom prst="rect">
            <a:avLst/>
          </a:prstGeom>
        </p:spPr>
        <p:txBody>
          <a:bodyPr anchor="t" rtlCol="false" tIns="0" lIns="0" bIns="0" rIns="0">
            <a:spAutoFit/>
          </a:bodyPr>
          <a:lstStyle/>
          <a:p>
            <a:pPr algn="ctr">
              <a:lnSpc>
                <a:spcPts val="2249"/>
              </a:lnSpc>
            </a:pPr>
            <a:r>
              <a:rPr lang="en-US" sz="2249" b="true">
                <a:solidFill>
                  <a:srgbClr val="E0E4E6"/>
                </a:solidFill>
                <a:latin typeface="Arimo Bold"/>
                <a:ea typeface="Arimo Bold"/>
                <a:cs typeface="Arimo Bold"/>
                <a:sym typeface="Arimo Bold"/>
              </a:rPr>
              <a:t>3</a:t>
            </a:r>
          </a:p>
        </p:txBody>
      </p:sp>
      <p:sp>
        <p:nvSpPr>
          <p:cNvPr name="TextBox 25" id="25"/>
          <p:cNvSpPr txBox="true"/>
          <p:nvPr/>
        </p:nvSpPr>
        <p:spPr>
          <a:xfrm rot="0">
            <a:off x="1721491" y="5402466"/>
            <a:ext cx="2542137" cy="339176"/>
          </a:xfrm>
          <a:prstGeom prst="rect">
            <a:avLst/>
          </a:prstGeom>
        </p:spPr>
        <p:txBody>
          <a:bodyPr anchor="t" rtlCol="false" tIns="0" lIns="0" bIns="0" rIns="0">
            <a:spAutoFit/>
          </a:bodyPr>
          <a:lstStyle/>
          <a:p>
            <a:pPr algn="l">
              <a:lnSpc>
                <a:spcPts val="2312"/>
              </a:lnSpc>
            </a:pPr>
            <a:r>
              <a:rPr lang="en-US" sz="1874" b="true">
                <a:solidFill>
                  <a:srgbClr val="E0E4E6"/>
                </a:solidFill>
                <a:latin typeface="Arimo Bold"/>
                <a:ea typeface="Arimo Bold"/>
                <a:cs typeface="Arimo Bold"/>
                <a:sym typeface="Arimo Bold"/>
              </a:rPr>
              <a:t>Frequency vs. Severity</a:t>
            </a:r>
          </a:p>
        </p:txBody>
      </p:sp>
      <p:sp>
        <p:nvSpPr>
          <p:cNvPr name="TextBox 26" id="26"/>
          <p:cNvSpPr txBox="true"/>
          <p:nvPr/>
        </p:nvSpPr>
        <p:spPr>
          <a:xfrm rot="0">
            <a:off x="1721491" y="5802659"/>
            <a:ext cx="15482297" cy="614363"/>
          </a:xfrm>
          <a:prstGeom prst="rect">
            <a:avLst/>
          </a:prstGeom>
        </p:spPr>
        <p:txBody>
          <a:bodyPr anchor="t" rtlCol="false" tIns="0" lIns="0" bIns="0" rIns="0">
            <a:spAutoFit/>
          </a:bodyPr>
          <a:lstStyle/>
          <a:p>
            <a:pPr algn="l">
              <a:lnSpc>
                <a:spcPts val="2249"/>
              </a:lnSpc>
            </a:pPr>
            <a:r>
              <a:rPr lang="en-US" sz="1687">
                <a:solidFill>
                  <a:srgbClr val="E0E4E6"/>
                </a:solidFill>
                <a:latin typeface="Barlow"/>
                <a:ea typeface="Barlow"/>
                <a:cs typeface="Barlow"/>
                <a:sym typeface="Barlow"/>
              </a:rPr>
              <a:t>Surfers face the highest absolute number of attacks but have the best survival rates. Conversely, shipwrecks and boating accidents are rare but carry catastrophic (80-90%) lethality.</a:t>
            </a:r>
          </a:p>
        </p:txBody>
      </p:sp>
      <p:grpSp>
        <p:nvGrpSpPr>
          <p:cNvPr name="Group 27" id="27"/>
          <p:cNvGrpSpPr/>
          <p:nvPr/>
        </p:nvGrpSpPr>
        <p:grpSpPr>
          <a:xfrm rot="0">
            <a:off x="1074687" y="6630143"/>
            <a:ext cx="506911" cy="506911"/>
            <a:chOff x="0" y="0"/>
            <a:chExt cx="675881" cy="675881"/>
          </a:xfrm>
        </p:grpSpPr>
        <p:sp>
          <p:nvSpPr>
            <p:cNvPr name="Freeform 28" id="28"/>
            <p:cNvSpPr/>
            <p:nvPr/>
          </p:nvSpPr>
          <p:spPr>
            <a:xfrm flipH="false" flipV="false" rot="0">
              <a:off x="12700" y="12700"/>
              <a:ext cx="650494" cy="650494"/>
            </a:xfrm>
            <a:custGeom>
              <a:avLst/>
              <a:gdLst/>
              <a:ahLst/>
              <a:cxnLst/>
              <a:rect r="r" b="b" t="t" l="l"/>
              <a:pathLst>
                <a:path h="650494" w="650494">
                  <a:moveTo>
                    <a:pt x="0" y="325247"/>
                  </a:moveTo>
                  <a:cubicBezTo>
                    <a:pt x="0" y="145669"/>
                    <a:pt x="145669" y="0"/>
                    <a:pt x="325247" y="0"/>
                  </a:cubicBezTo>
                  <a:cubicBezTo>
                    <a:pt x="504825" y="0"/>
                    <a:pt x="650494" y="145669"/>
                    <a:pt x="650494" y="325247"/>
                  </a:cubicBezTo>
                  <a:cubicBezTo>
                    <a:pt x="650494" y="504825"/>
                    <a:pt x="504825" y="650494"/>
                    <a:pt x="325247" y="650494"/>
                  </a:cubicBezTo>
                  <a:cubicBezTo>
                    <a:pt x="145669" y="650494"/>
                    <a:pt x="0" y="504825"/>
                    <a:pt x="0" y="325247"/>
                  </a:cubicBezTo>
                  <a:close/>
                </a:path>
              </a:pathLst>
            </a:custGeom>
            <a:solidFill>
              <a:srgbClr val="0A081B"/>
            </a:solidFill>
          </p:spPr>
        </p:sp>
        <p:sp>
          <p:nvSpPr>
            <p:cNvPr name="Freeform 29" id="29"/>
            <p:cNvSpPr/>
            <p:nvPr/>
          </p:nvSpPr>
          <p:spPr>
            <a:xfrm flipH="false" flipV="false" rot="0">
              <a:off x="0" y="0"/>
              <a:ext cx="675894" cy="675894"/>
            </a:xfrm>
            <a:custGeom>
              <a:avLst/>
              <a:gdLst/>
              <a:ahLst/>
              <a:cxnLst/>
              <a:rect r="r" b="b" t="t" l="l"/>
              <a:pathLst>
                <a:path h="675894" w="675894">
                  <a:moveTo>
                    <a:pt x="0" y="337947"/>
                  </a:moveTo>
                  <a:cubicBezTo>
                    <a:pt x="0" y="151257"/>
                    <a:pt x="151257" y="0"/>
                    <a:pt x="337947" y="0"/>
                  </a:cubicBezTo>
                  <a:cubicBezTo>
                    <a:pt x="341757" y="0"/>
                    <a:pt x="345440" y="1778"/>
                    <a:pt x="347853" y="4826"/>
                  </a:cubicBezTo>
                  <a:lnTo>
                    <a:pt x="337947" y="12700"/>
                  </a:lnTo>
                  <a:lnTo>
                    <a:pt x="337947" y="0"/>
                  </a:lnTo>
                  <a:lnTo>
                    <a:pt x="337947" y="12700"/>
                  </a:lnTo>
                  <a:lnTo>
                    <a:pt x="337947" y="0"/>
                  </a:lnTo>
                  <a:cubicBezTo>
                    <a:pt x="524637" y="0"/>
                    <a:pt x="675894" y="151257"/>
                    <a:pt x="675894" y="337947"/>
                  </a:cubicBezTo>
                  <a:cubicBezTo>
                    <a:pt x="675894" y="342773"/>
                    <a:pt x="673227" y="347218"/>
                    <a:pt x="668909" y="349250"/>
                  </a:cubicBezTo>
                  <a:lnTo>
                    <a:pt x="663194" y="337947"/>
                  </a:lnTo>
                  <a:lnTo>
                    <a:pt x="675894" y="337947"/>
                  </a:lnTo>
                  <a:cubicBezTo>
                    <a:pt x="675894" y="524637"/>
                    <a:pt x="524637" y="675894"/>
                    <a:pt x="337947" y="675894"/>
                  </a:cubicBezTo>
                  <a:lnTo>
                    <a:pt x="337947" y="663194"/>
                  </a:lnTo>
                  <a:lnTo>
                    <a:pt x="337947" y="675894"/>
                  </a:lnTo>
                  <a:cubicBezTo>
                    <a:pt x="151257" y="675894"/>
                    <a:pt x="0" y="524637"/>
                    <a:pt x="0" y="337947"/>
                  </a:cubicBezTo>
                  <a:lnTo>
                    <a:pt x="12700" y="337947"/>
                  </a:lnTo>
                  <a:lnTo>
                    <a:pt x="0" y="337947"/>
                  </a:lnTo>
                  <a:moveTo>
                    <a:pt x="25400" y="337947"/>
                  </a:moveTo>
                  <a:lnTo>
                    <a:pt x="12700" y="337947"/>
                  </a:lnTo>
                  <a:lnTo>
                    <a:pt x="25400" y="337947"/>
                  </a:lnTo>
                  <a:cubicBezTo>
                    <a:pt x="25400" y="510540"/>
                    <a:pt x="165354" y="650494"/>
                    <a:pt x="337947" y="650494"/>
                  </a:cubicBezTo>
                  <a:cubicBezTo>
                    <a:pt x="510540" y="650494"/>
                    <a:pt x="650494" y="510540"/>
                    <a:pt x="650494" y="337947"/>
                  </a:cubicBezTo>
                  <a:cubicBezTo>
                    <a:pt x="650494" y="333121"/>
                    <a:pt x="653161" y="328676"/>
                    <a:pt x="657479" y="326644"/>
                  </a:cubicBezTo>
                  <a:lnTo>
                    <a:pt x="663194" y="337947"/>
                  </a:lnTo>
                  <a:lnTo>
                    <a:pt x="650494" y="337947"/>
                  </a:lnTo>
                  <a:cubicBezTo>
                    <a:pt x="650494" y="165354"/>
                    <a:pt x="510540" y="25400"/>
                    <a:pt x="337947" y="25400"/>
                  </a:cubicBezTo>
                  <a:cubicBezTo>
                    <a:pt x="334137" y="25400"/>
                    <a:pt x="330454" y="23622"/>
                    <a:pt x="328041" y="20574"/>
                  </a:cubicBezTo>
                  <a:lnTo>
                    <a:pt x="337947" y="12700"/>
                  </a:lnTo>
                  <a:lnTo>
                    <a:pt x="337947" y="25400"/>
                  </a:lnTo>
                  <a:cubicBezTo>
                    <a:pt x="165354" y="25400"/>
                    <a:pt x="25400" y="165354"/>
                    <a:pt x="25400" y="337947"/>
                  </a:cubicBezTo>
                  <a:close/>
                </a:path>
              </a:pathLst>
            </a:custGeom>
            <a:solidFill>
              <a:srgbClr val="548235"/>
            </a:solidFill>
          </p:spPr>
        </p:sp>
      </p:grpSp>
      <p:sp>
        <p:nvSpPr>
          <p:cNvPr name="TextBox 30" id="30"/>
          <p:cNvSpPr txBox="true"/>
          <p:nvPr/>
        </p:nvSpPr>
        <p:spPr>
          <a:xfrm rot="0">
            <a:off x="1183634" y="6807698"/>
            <a:ext cx="289027" cy="332784"/>
          </a:xfrm>
          <a:prstGeom prst="rect">
            <a:avLst/>
          </a:prstGeom>
        </p:spPr>
        <p:txBody>
          <a:bodyPr anchor="t" rtlCol="false" tIns="0" lIns="0" bIns="0" rIns="0">
            <a:spAutoFit/>
          </a:bodyPr>
          <a:lstStyle/>
          <a:p>
            <a:pPr algn="ctr">
              <a:lnSpc>
                <a:spcPts val="2249"/>
              </a:lnSpc>
            </a:pPr>
            <a:r>
              <a:rPr lang="en-US" sz="2249" b="true">
                <a:solidFill>
                  <a:srgbClr val="E0E4E6"/>
                </a:solidFill>
                <a:latin typeface="Arimo Bold"/>
                <a:ea typeface="Arimo Bold"/>
                <a:cs typeface="Arimo Bold"/>
                <a:sym typeface="Arimo Bold"/>
              </a:rPr>
              <a:t>4</a:t>
            </a:r>
          </a:p>
        </p:txBody>
      </p:sp>
      <p:sp>
        <p:nvSpPr>
          <p:cNvPr name="TextBox 31" id="31"/>
          <p:cNvSpPr txBox="true"/>
          <p:nvPr/>
        </p:nvSpPr>
        <p:spPr>
          <a:xfrm rot="0">
            <a:off x="1721491" y="6752187"/>
            <a:ext cx="2451202" cy="339176"/>
          </a:xfrm>
          <a:prstGeom prst="rect">
            <a:avLst/>
          </a:prstGeom>
        </p:spPr>
        <p:txBody>
          <a:bodyPr anchor="t" rtlCol="false" tIns="0" lIns="0" bIns="0" rIns="0">
            <a:spAutoFit/>
          </a:bodyPr>
          <a:lstStyle/>
          <a:p>
            <a:pPr algn="l">
              <a:lnSpc>
                <a:spcPts val="2312"/>
              </a:lnSpc>
            </a:pPr>
            <a:r>
              <a:rPr lang="en-US" sz="1874" b="true">
                <a:solidFill>
                  <a:srgbClr val="E0E4E6"/>
                </a:solidFill>
                <a:latin typeface="Arimo Bold"/>
                <a:ea typeface="Arimo Bold"/>
                <a:cs typeface="Arimo Bold"/>
                <a:sym typeface="Arimo Bold"/>
              </a:rPr>
              <a:t>The Great White Myth</a:t>
            </a:r>
          </a:p>
        </p:txBody>
      </p:sp>
      <p:sp>
        <p:nvSpPr>
          <p:cNvPr name="TextBox 32" id="32"/>
          <p:cNvSpPr txBox="true"/>
          <p:nvPr/>
        </p:nvSpPr>
        <p:spPr>
          <a:xfrm rot="0">
            <a:off x="1721491" y="7152380"/>
            <a:ext cx="15482297" cy="614363"/>
          </a:xfrm>
          <a:prstGeom prst="rect">
            <a:avLst/>
          </a:prstGeom>
        </p:spPr>
        <p:txBody>
          <a:bodyPr anchor="t" rtlCol="false" tIns="0" lIns="0" bIns="0" rIns="0">
            <a:spAutoFit/>
          </a:bodyPr>
          <a:lstStyle/>
          <a:p>
            <a:pPr algn="l">
              <a:lnSpc>
                <a:spcPts val="2249"/>
              </a:lnSpc>
            </a:pPr>
            <a:r>
              <a:rPr lang="en-US" sz="1687">
                <a:solidFill>
                  <a:srgbClr val="E0E4E6"/>
                </a:solidFill>
                <a:latin typeface="Barlow"/>
                <a:ea typeface="Barlow"/>
                <a:cs typeface="Barlow"/>
                <a:sym typeface="Barlow"/>
              </a:rPr>
              <a:t>While the White Shark leads in total counts, Bull and Tiger sharks often record higher fatality rates per encounter due to murky water habitats and more persistent predatory behavior.</a:t>
            </a:r>
          </a:p>
        </p:txBody>
      </p:sp>
      <p:grpSp>
        <p:nvGrpSpPr>
          <p:cNvPr name="Group 33" id="33"/>
          <p:cNvGrpSpPr/>
          <p:nvPr/>
        </p:nvGrpSpPr>
        <p:grpSpPr>
          <a:xfrm rot="0">
            <a:off x="1074687" y="8056064"/>
            <a:ext cx="506911" cy="506911"/>
            <a:chOff x="0" y="0"/>
            <a:chExt cx="675881" cy="675881"/>
          </a:xfrm>
        </p:grpSpPr>
        <p:sp>
          <p:nvSpPr>
            <p:cNvPr name="Freeform 34" id="34"/>
            <p:cNvSpPr/>
            <p:nvPr/>
          </p:nvSpPr>
          <p:spPr>
            <a:xfrm flipH="false" flipV="false" rot="0">
              <a:off x="12700" y="12700"/>
              <a:ext cx="650494" cy="650494"/>
            </a:xfrm>
            <a:custGeom>
              <a:avLst/>
              <a:gdLst/>
              <a:ahLst/>
              <a:cxnLst/>
              <a:rect r="r" b="b" t="t" l="l"/>
              <a:pathLst>
                <a:path h="650494" w="650494">
                  <a:moveTo>
                    <a:pt x="0" y="325247"/>
                  </a:moveTo>
                  <a:cubicBezTo>
                    <a:pt x="0" y="145669"/>
                    <a:pt x="145669" y="0"/>
                    <a:pt x="325247" y="0"/>
                  </a:cubicBezTo>
                  <a:cubicBezTo>
                    <a:pt x="504825" y="0"/>
                    <a:pt x="650494" y="145669"/>
                    <a:pt x="650494" y="325247"/>
                  </a:cubicBezTo>
                  <a:cubicBezTo>
                    <a:pt x="650494" y="504825"/>
                    <a:pt x="504825" y="650494"/>
                    <a:pt x="325247" y="650494"/>
                  </a:cubicBezTo>
                  <a:cubicBezTo>
                    <a:pt x="145669" y="650494"/>
                    <a:pt x="0" y="504825"/>
                    <a:pt x="0" y="325247"/>
                  </a:cubicBezTo>
                  <a:close/>
                </a:path>
              </a:pathLst>
            </a:custGeom>
            <a:solidFill>
              <a:srgbClr val="0A081B"/>
            </a:solidFill>
          </p:spPr>
        </p:sp>
        <p:sp>
          <p:nvSpPr>
            <p:cNvPr name="Freeform 35" id="35"/>
            <p:cNvSpPr/>
            <p:nvPr/>
          </p:nvSpPr>
          <p:spPr>
            <a:xfrm flipH="false" flipV="false" rot="0">
              <a:off x="0" y="0"/>
              <a:ext cx="675894" cy="675894"/>
            </a:xfrm>
            <a:custGeom>
              <a:avLst/>
              <a:gdLst/>
              <a:ahLst/>
              <a:cxnLst/>
              <a:rect r="r" b="b" t="t" l="l"/>
              <a:pathLst>
                <a:path h="675894" w="675894">
                  <a:moveTo>
                    <a:pt x="0" y="337947"/>
                  </a:moveTo>
                  <a:cubicBezTo>
                    <a:pt x="0" y="151257"/>
                    <a:pt x="151257" y="0"/>
                    <a:pt x="337947" y="0"/>
                  </a:cubicBezTo>
                  <a:cubicBezTo>
                    <a:pt x="341757" y="0"/>
                    <a:pt x="345440" y="1778"/>
                    <a:pt x="347853" y="4826"/>
                  </a:cubicBezTo>
                  <a:lnTo>
                    <a:pt x="337947" y="12700"/>
                  </a:lnTo>
                  <a:lnTo>
                    <a:pt x="337947" y="0"/>
                  </a:lnTo>
                  <a:lnTo>
                    <a:pt x="337947" y="12700"/>
                  </a:lnTo>
                  <a:lnTo>
                    <a:pt x="337947" y="0"/>
                  </a:lnTo>
                  <a:cubicBezTo>
                    <a:pt x="524637" y="0"/>
                    <a:pt x="675894" y="151257"/>
                    <a:pt x="675894" y="337947"/>
                  </a:cubicBezTo>
                  <a:cubicBezTo>
                    <a:pt x="675894" y="342773"/>
                    <a:pt x="673227" y="347218"/>
                    <a:pt x="668909" y="349250"/>
                  </a:cubicBezTo>
                  <a:lnTo>
                    <a:pt x="663194" y="337947"/>
                  </a:lnTo>
                  <a:lnTo>
                    <a:pt x="675894" y="337947"/>
                  </a:lnTo>
                  <a:cubicBezTo>
                    <a:pt x="675894" y="524637"/>
                    <a:pt x="524637" y="675894"/>
                    <a:pt x="337947" y="675894"/>
                  </a:cubicBezTo>
                  <a:lnTo>
                    <a:pt x="337947" y="663194"/>
                  </a:lnTo>
                  <a:lnTo>
                    <a:pt x="337947" y="675894"/>
                  </a:lnTo>
                  <a:cubicBezTo>
                    <a:pt x="151257" y="675894"/>
                    <a:pt x="0" y="524637"/>
                    <a:pt x="0" y="337947"/>
                  </a:cubicBezTo>
                  <a:lnTo>
                    <a:pt x="12700" y="337947"/>
                  </a:lnTo>
                  <a:lnTo>
                    <a:pt x="0" y="337947"/>
                  </a:lnTo>
                  <a:moveTo>
                    <a:pt x="25400" y="337947"/>
                  </a:moveTo>
                  <a:lnTo>
                    <a:pt x="12700" y="337947"/>
                  </a:lnTo>
                  <a:lnTo>
                    <a:pt x="25400" y="337947"/>
                  </a:lnTo>
                  <a:cubicBezTo>
                    <a:pt x="25400" y="510540"/>
                    <a:pt x="165354" y="650494"/>
                    <a:pt x="337947" y="650494"/>
                  </a:cubicBezTo>
                  <a:cubicBezTo>
                    <a:pt x="510540" y="650494"/>
                    <a:pt x="650494" y="510540"/>
                    <a:pt x="650494" y="337947"/>
                  </a:cubicBezTo>
                  <a:cubicBezTo>
                    <a:pt x="650494" y="333121"/>
                    <a:pt x="653161" y="328676"/>
                    <a:pt x="657479" y="326644"/>
                  </a:cubicBezTo>
                  <a:lnTo>
                    <a:pt x="663194" y="337947"/>
                  </a:lnTo>
                  <a:lnTo>
                    <a:pt x="650494" y="337947"/>
                  </a:lnTo>
                  <a:cubicBezTo>
                    <a:pt x="650494" y="165354"/>
                    <a:pt x="510540" y="25400"/>
                    <a:pt x="337947" y="25400"/>
                  </a:cubicBezTo>
                  <a:cubicBezTo>
                    <a:pt x="334137" y="25400"/>
                    <a:pt x="330454" y="23622"/>
                    <a:pt x="328041" y="20574"/>
                  </a:cubicBezTo>
                  <a:lnTo>
                    <a:pt x="337947" y="12700"/>
                  </a:lnTo>
                  <a:lnTo>
                    <a:pt x="337947" y="25400"/>
                  </a:lnTo>
                  <a:cubicBezTo>
                    <a:pt x="165354" y="25400"/>
                    <a:pt x="25400" y="165354"/>
                    <a:pt x="25400" y="337947"/>
                  </a:cubicBezTo>
                  <a:close/>
                </a:path>
              </a:pathLst>
            </a:custGeom>
            <a:solidFill>
              <a:srgbClr val="16FFBB"/>
            </a:solidFill>
          </p:spPr>
        </p:sp>
      </p:grpSp>
      <p:sp>
        <p:nvSpPr>
          <p:cNvPr name="TextBox 36" id="36"/>
          <p:cNvSpPr txBox="true"/>
          <p:nvPr/>
        </p:nvSpPr>
        <p:spPr>
          <a:xfrm rot="0">
            <a:off x="1183634" y="8246316"/>
            <a:ext cx="289027" cy="332784"/>
          </a:xfrm>
          <a:prstGeom prst="rect">
            <a:avLst/>
          </a:prstGeom>
        </p:spPr>
        <p:txBody>
          <a:bodyPr anchor="t" rtlCol="false" tIns="0" lIns="0" bIns="0" rIns="0">
            <a:spAutoFit/>
          </a:bodyPr>
          <a:lstStyle/>
          <a:p>
            <a:pPr algn="ctr">
              <a:lnSpc>
                <a:spcPts val="2249"/>
              </a:lnSpc>
            </a:pPr>
            <a:r>
              <a:rPr lang="en-US" sz="2249" b="true">
                <a:solidFill>
                  <a:srgbClr val="E0E4E6"/>
                </a:solidFill>
                <a:latin typeface="Arimo Bold"/>
                <a:ea typeface="Arimo Bold"/>
                <a:cs typeface="Arimo Bold"/>
                <a:sym typeface="Arimo Bold"/>
              </a:rPr>
              <a:t>5</a:t>
            </a:r>
          </a:p>
        </p:txBody>
      </p:sp>
      <p:sp>
        <p:nvSpPr>
          <p:cNvPr name="TextBox 37" id="37"/>
          <p:cNvSpPr txBox="true"/>
          <p:nvPr/>
        </p:nvSpPr>
        <p:spPr>
          <a:xfrm rot="0">
            <a:off x="1721491" y="8101908"/>
            <a:ext cx="2783977" cy="339176"/>
          </a:xfrm>
          <a:prstGeom prst="rect">
            <a:avLst/>
          </a:prstGeom>
        </p:spPr>
        <p:txBody>
          <a:bodyPr anchor="t" rtlCol="false" tIns="0" lIns="0" bIns="0" rIns="0">
            <a:spAutoFit/>
          </a:bodyPr>
          <a:lstStyle/>
          <a:p>
            <a:pPr algn="l">
              <a:lnSpc>
                <a:spcPts val="2312"/>
              </a:lnSpc>
            </a:pPr>
            <a:r>
              <a:rPr lang="en-US" sz="1874" b="true">
                <a:solidFill>
                  <a:srgbClr val="E0E4E6"/>
                </a:solidFill>
                <a:latin typeface="Arimo Bold"/>
                <a:ea typeface="Arimo Bold"/>
                <a:cs typeface="Arimo Bold"/>
                <a:sym typeface="Arimo Bold"/>
              </a:rPr>
              <a:t>The "Unknown" Majority</a:t>
            </a:r>
          </a:p>
        </p:txBody>
      </p:sp>
      <p:sp>
        <p:nvSpPr>
          <p:cNvPr name="TextBox 38" id="38"/>
          <p:cNvSpPr txBox="true"/>
          <p:nvPr/>
        </p:nvSpPr>
        <p:spPr>
          <a:xfrm rot="0">
            <a:off x="1721491" y="8502101"/>
            <a:ext cx="15482297" cy="321469"/>
          </a:xfrm>
          <a:prstGeom prst="rect">
            <a:avLst/>
          </a:prstGeom>
        </p:spPr>
        <p:txBody>
          <a:bodyPr anchor="t" rtlCol="false" tIns="0" lIns="0" bIns="0" rIns="0">
            <a:spAutoFit/>
          </a:bodyPr>
          <a:lstStyle/>
          <a:p>
            <a:pPr algn="l">
              <a:lnSpc>
                <a:spcPts val="2249"/>
              </a:lnSpc>
            </a:pPr>
            <a:r>
              <a:rPr lang="en-US" sz="1687">
                <a:solidFill>
                  <a:srgbClr val="E0E4E6"/>
                </a:solidFill>
                <a:latin typeface="Barlow"/>
                <a:ea typeface="Barlow"/>
                <a:cs typeface="Barlow"/>
                <a:sym typeface="Barlow"/>
              </a:rPr>
              <a:t>60% of all attack records do not identify the shark species. This means all "top species" rankings are based on a minority of the data and carry high uncertainty.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A081B">
                <a:alpha val="56078"/>
              </a:srgbClr>
            </a:solidFill>
          </p:spPr>
        </p:sp>
      </p:grpSp>
      <p:sp>
        <p:nvSpPr>
          <p:cNvPr name="TextBox 6" id="6"/>
          <p:cNvSpPr txBox="true"/>
          <p:nvPr/>
        </p:nvSpPr>
        <p:spPr>
          <a:xfrm rot="0">
            <a:off x="1101328" y="2397623"/>
            <a:ext cx="4545654" cy="606181"/>
          </a:xfrm>
          <a:prstGeom prst="rect">
            <a:avLst/>
          </a:prstGeom>
        </p:spPr>
        <p:txBody>
          <a:bodyPr anchor="t" rtlCol="false" tIns="0" lIns="0" bIns="0" rIns="0">
            <a:spAutoFit/>
          </a:bodyPr>
          <a:lstStyle/>
          <a:p>
            <a:pPr algn="l">
              <a:lnSpc>
                <a:spcPts val="4437"/>
              </a:lnSpc>
            </a:pPr>
            <a:r>
              <a:rPr lang="en-US" sz="3562" b="true">
                <a:solidFill>
                  <a:srgbClr val="F0FCFF"/>
                </a:solidFill>
                <a:latin typeface="Arimo Bold"/>
                <a:ea typeface="Arimo Bold"/>
                <a:cs typeface="Arimo Bold"/>
                <a:sym typeface="Arimo Bold"/>
              </a:rPr>
              <a:t>Key Data Limitations</a:t>
            </a:r>
          </a:p>
        </p:txBody>
      </p:sp>
      <p:grpSp>
        <p:nvGrpSpPr>
          <p:cNvPr name="Group 7" id="7"/>
          <p:cNvGrpSpPr/>
          <p:nvPr/>
        </p:nvGrpSpPr>
        <p:grpSpPr>
          <a:xfrm rot="0">
            <a:off x="1101328" y="3576342"/>
            <a:ext cx="5273126" cy="2187473"/>
            <a:chOff x="0" y="0"/>
            <a:chExt cx="7030834" cy="2916631"/>
          </a:xfrm>
        </p:grpSpPr>
        <p:sp>
          <p:nvSpPr>
            <p:cNvPr name="Freeform 8" id="8"/>
            <p:cNvSpPr/>
            <p:nvPr/>
          </p:nvSpPr>
          <p:spPr>
            <a:xfrm flipH="false" flipV="false" rot="0">
              <a:off x="0" y="0"/>
              <a:ext cx="7030848" cy="2916682"/>
            </a:xfrm>
            <a:custGeom>
              <a:avLst/>
              <a:gdLst/>
              <a:ahLst/>
              <a:cxnLst/>
              <a:rect r="r" b="b" t="t" l="l"/>
              <a:pathLst>
                <a:path h="2916682" w="7030848">
                  <a:moveTo>
                    <a:pt x="0" y="182880"/>
                  </a:moveTo>
                  <a:cubicBezTo>
                    <a:pt x="0" y="81915"/>
                    <a:pt x="81915" y="0"/>
                    <a:pt x="182880" y="0"/>
                  </a:cubicBezTo>
                  <a:lnTo>
                    <a:pt x="6847967" y="0"/>
                  </a:lnTo>
                  <a:cubicBezTo>
                    <a:pt x="6948932" y="0"/>
                    <a:pt x="7030848" y="81915"/>
                    <a:pt x="7030848" y="182880"/>
                  </a:cubicBezTo>
                  <a:lnTo>
                    <a:pt x="7030848" y="2733802"/>
                  </a:lnTo>
                  <a:cubicBezTo>
                    <a:pt x="7030848" y="2834767"/>
                    <a:pt x="6948932" y="2916682"/>
                    <a:pt x="6847967" y="2916682"/>
                  </a:cubicBezTo>
                  <a:lnTo>
                    <a:pt x="182880" y="2916682"/>
                  </a:lnTo>
                  <a:cubicBezTo>
                    <a:pt x="81915" y="2916682"/>
                    <a:pt x="0" y="2834767"/>
                    <a:pt x="0" y="2733802"/>
                  </a:cubicBezTo>
                  <a:close/>
                </a:path>
              </a:pathLst>
            </a:custGeom>
            <a:solidFill>
              <a:srgbClr val="0A081B">
                <a:alpha val="56078"/>
              </a:srgbClr>
            </a:solidFill>
          </p:spPr>
        </p:sp>
      </p:grpSp>
      <p:grpSp>
        <p:nvGrpSpPr>
          <p:cNvPr name="Group 9" id="9"/>
          <p:cNvGrpSpPr/>
          <p:nvPr/>
        </p:nvGrpSpPr>
        <p:grpSpPr>
          <a:xfrm rot="0">
            <a:off x="1101328" y="3547767"/>
            <a:ext cx="5273126" cy="114300"/>
            <a:chOff x="0" y="0"/>
            <a:chExt cx="7030834" cy="152400"/>
          </a:xfrm>
        </p:grpSpPr>
        <p:sp>
          <p:nvSpPr>
            <p:cNvPr name="Freeform 10" id="10"/>
            <p:cNvSpPr/>
            <p:nvPr/>
          </p:nvSpPr>
          <p:spPr>
            <a:xfrm flipH="false" flipV="false" rot="0">
              <a:off x="0" y="0"/>
              <a:ext cx="7030847" cy="152400"/>
            </a:xfrm>
            <a:custGeom>
              <a:avLst/>
              <a:gdLst/>
              <a:ahLst/>
              <a:cxnLst/>
              <a:rect r="r" b="b" t="t" l="l"/>
              <a:pathLst>
                <a:path h="152400" w="7030847">
                  <a:moveTo>
                    <a:pt x="0" y="76200"/>
                  </a:moveTo>
                  <a:cubicBezTo>
                    <a:pt x="0" y="34163"/>
                    <a:pt x="34163" y="0"/>
                    <a:pt x="76200" y="0"/>
                  </a:cubicBezTo>
                  <a:lnTo>
                    <a:pt x="6954647" y="0"/>
                  </a:lnTo>
                  <a:cubicBezTo>
                    <a:pt x="6996684" y="0"/>
                    <a:pt x="7030847" y="34163"/>
                    <a:pt x="7030847" y="76200"/>
                  </a:cubicBezTo>
                  <a:cubicBezTo>
                    <a:pt x="7030847" y="118237"/>
                    <a:pt x="6996684" y="152400"/>
                    <a:pt x="6954647" y="152400"/>
                  </a:cubicBezTo>
                  <a:lnTo>
                    <a:pt x="76200" y="152400"/>
                  </a:lnTo>
                  <a:cubicBezTo>
                    <a:pt x="34163" y="152400"/>
                    <a:pt x="0" y="118237"/>
                    <a:pt x="0" y="76200"/>
                  </a:cubicBezTo>
                  <a:close/>
                </a:path>
              </a:pathLst>
            </a:custGeom>
            <a:solidFill>
              <a:srgbClr val="16FFBB"/>
            </a:solidFill>
          </p:spPr>
        </p:sp>
      </p:grpSp>
      <p:grpSp>
        <p:nvGrpSpPr>
          <p:cNvPr name="Group 11" id="11"/>
          <p:cNvGrpSpPr/>
          <p:nvPr/>
        </p:nvGrpSpPr>
        <p:grpSpPr>
          <a:xfrm rot="0">
            <a:off x="3431010" y="3269609"/>
            <a:ext cx="613620" cy="613620"/>
            <a:chOff x="0" y="0"/>
            <a:chExt cx="818159" cy="818159"/>
          </a:xfrm>
        </p:grpSpPr>
        <p:sp>
          <p:nvSpPr>
            <p:cNvPr name="Freeform 12" id="12"/>
            <p:cNvSpPr/>
            <p:nvPr/>
          </p:nvSpPr>
          <p:spPr>
            <a:xfrm flipH="false" flipV="false" rot="0">
              <a:off x="0" y="0"/>
              <a:ext cx="818134" cy="818134"/>
            </a:xfrm>
            <a:custGeom>
              <a:avLst/>
              <a:gdLst/>
              <a:ahLst/>
              <a:cxnLst/>
              <a:rect r="r" b="b" t="t" l="l"/>
              <a:pathLst>
                <a:path h="818134" w="818134">
                  <a:moveTo>
                    <a:pt x="0" y="409067"/>
                  </a:moveTo>
                  <a:cubicBezTo>
                    <a:pt x="0" y="183134"/>
                    <a:pt x="183134" y="0"/>
                    <a:pt x="409067" y="0"/>
                  </a:cubicBezTo>
                  <a:cubicBezTo>
                    <a:pt x="635000" y="0"/>
                    <a:pt x="818134" y="183134"/>
                    <a:pt x="818134" y="409067"/>
                  </a:cubicBezTo>
                  <a:cubicBezTo>
                    <a:pt x="818134" y="635000"/>
                    <a:pt x="635000" y="818134"/>
                    <a:pt x="409067" y="818134"/>
                  </a:cubicBezTo>
                  <a:cubicBezTo>
                    <a:pt x="183134" y="818134"/>
                    <a:pt x="0" y="635000"/>
                    <a:pt x="0" y="409067"/>
                  </a:cubicBezTo>
                  <a:close/>
                </a:path>
              </a:pathLst>
            </a:custGeom>
            <a:solidFill>
              <a:srgbClr val="16FFBB"/>
            </a:solidFill>
          </p:spPr>
        </p:sp>
      </p:grpSp>
      <p:sp>
        <p:nvSpPr>
          <p:cNvPr name="TextBox 13" id="13"/>
          <p:cNvSpPr txBox="true"/>
          <p:nvPr/>
        </p:nvSpPr>
        <p:spPr>
          <a:xfrm rot="0">
            <a:off x="3615109" y="3375422"/>
            <a:ext cx="245421" cy="354359"/>
          </a:xfrm>
          <a:prstGeom prst="rect">
            <a:avLst/>
          </a:prstGeom>
        </p:spPr>
        <p:txBody>
          <a:bodyPr anchor="t" rtlCol="false" tIns="0" lIns="0" bIns="0" rIns="0">
            <a:spAutoFit/>
          </a:bodyPr>
          <a:lstStyle/>
          <a:p>
            <a:pPr algn="l">
              <a:lnSpc>
                <a:spcPts val="2499"/>
              </a:lnSpc>
            </a:pPr>
            <a:r>
              <a:rPr lang="en-US" sz="1874" b="true">
                <a:solidFill>
                  <a:srgbClr val="000000"/>
                </a:solidFill>
                <a:latin typeface="Arimo Bold"/>
                <a:ea typeface="Arimo Bold"/>
                <a:cs typeface="Arimo Bold"/>
                <a:sym typeface="Arimo Bold"/>
              </a:rPr>
              <a:t>1</a:t>
            </a:r>
          </a:p>
        </p:txBody>
      </p:sp>
      <p:sp>
        <p:nvSpPr>
          <p:cNvPr name="TextBox 14" id="14"/>
          <p:cNvSpPr txBox="true"/>
          <p:nvPr/>
        </p:nvSpPr>
        <p:spPr>
          <a:xfrm rot="0">
            <a:off x="1334395" y="4059136"/>
            <a:ext cx="4675628" cy="293687"/>
          </a:xfrm>
          <a:prstGeom prst="rect">
            <a:avLst/>
          </a:prstGeom>
        </p:spPr>
        <p:txBody>
          <a:bodyPr anchor="t" rtlCol="false" tIns="0" lIns="0" bIns="0" rIns="0">
            <a:spAutoFit/>
          </a:bodyPr>
          <a:lstStyle/>
          <a:p>
            <a:pPr algn="l">
              <a:lnSpc>
                <a:spcPts val="2187"/>
              </a:lnSpc>
            </a:pPr>
            <a:r>
              <a:rPr lang="en-US" sz="1750" b="true">
                <a:solidFill>
                  <a:srgbClr val="E0E4E6"/>
                </a:solidFill>
                <a:latin typeface="Arimo Bold"/>
                <a:ea typeface="Arimo Bold"/>
                <a:cs typeface="Arimo Bold"/>
                <a:sym typeface="Arimo Bold"/>
              </a:rPr>
              <a:t>Geographic Reporting Bias</a:t>
            </a:r>
          </a:p>
        </p:txBody>
      </p:sp>
      <p:sp>
        <p:nvSpPr>
          <p:cNvPr name="TextBox 15" id="15"/>
          <p:cNvSpPr txBox="true"/>
          <p:nvPr/>
        </p:nvSpPr>
        <p:spPr>
          <a:xfrm rot="0">
            <a:off x="1334395" y="4422877"/>
            <a:ext cx="4807001" cy="1107872"/>
          </a:xfrm>
          <a:prstGeom prst="rect">
            <a:avLst/>
          </a:prstGeom>
        </p:spPr>
        <p:txBody>
          <a:bodyPr anchor="t" rtlCol="false" tIns="0" lIns="0" bIns="0" rIns="0">
            <a:spAutoFit/>
          </a:bodyPr>
          <a:lstStyle/>
          <a:p>
            <a:pPr algn="l">
              <a:lnSpc>
                <a:spcPts val="2125"/>
              </a:lnSpc>
            </a:pPr>
            <a:r>
              <a:rPr lang="en-US" sz="1562">
                <a:solidFill>
                  <a:srgbClr val="E0E4E6"/>
                </a:solidFill>
                <a:latin typeface="Barlow"/>
                <a:ea typeface="Barlow"/>
                <a:cs typeface="Barlow"/>
                <a:sym typeface="Barlow"/>
              </a:rPr>
              <a:t>68% of data comes from USA, Australia, and South Africa. Developing nations are severely under-represented despite having massive coastal populations.</a:t>
            </a:r>
          </a:p>
        </p:txBody>
      </p:sp>
      <p:grpSp>
        <p:nvGrpSpPr>
          <p:cNvPr name="Group 16" id="16"/>
          <p:cNvGrpSpPr/>
          <p:nvPr/>
        </p:nvGrpSpPr>
        <p:grpSpPr>
          <a:xfrm rot="0">
            <a:off x="6507366" y="3576342"/>
            <a:ext cx="5273126" cy="2187473"/>
            <a:chOff x="0" y="0"/>
            <a:chExt cx="7030834" cy="2916631"/>
          </a:xfrm>
        </p:grpSpPr>
        <p:sp>
          <p:nvSpPr>
            <p:cNvPr name="Freeform 17" id="17"/>
            <p:cNvSpPr/>
            <p:nvPr/>
          </p:nvSpPr>
          <p:spPr>
            <a:xfrm flipH="false" flipV="false" rot="0">
              <a:off x="0" y="0"/>
              <a:ext cx="7030848" cy="2916682"/>
            </a:xfrm>
            <a:custGeom>
              <a:avLst/>
              <a:gdLst/>
              <a:ahLst/>
              <a:cxnLst/>
              <a:rect r="r" b="b" t="t" l="l"/>
              <a:pathLst>
                <a:path h="2916682" w="7030848">
                  <a:moveTo>
                    <a:pt x="0" y="182880"/>
                  </a:moveTo>
                  <a:cubicBezTo>
                    <a:pt x="0" y="81915"/>
                    <a:pt x="81915" y="0"/>
                    <a:pt x="182880" y="0"/>
                  </a:cubicBezTo>
                  <a:lnTo>
                    <a:pt x="6847967" y="0"/>
                  </a:lnTo>
                  <a:cubicBezTo>
                    <a:pt x="6948932" y="0"/>
                    <a:pt x="7030848" y="81915"/>
                    <a:pt x="7030848" y="182880"/>
                  </a:cubicBezTo>
                  <a:lnTo>
                    <a:pt x="7030848" y="2733802"/>
                  </a:lnTo>
                  <a:cubicBezTo>
                    <a:pt x="7030848" y="2834767"/>
                    <a:pt x="6948932" y="2916682"/>
                    <a:pt x="6847967" y="2916682"/>
                  </a:cubicBezTo>
                  <a:lnTo>
                    <a:pt x="182880" y="2916682"/>
                  </a:lnTo>
                  <a:cubicBezTo>
                    <a:pt x="81915" y="2916682"/>
                    <a:pt x="0" y="2834767"/>
                    <a:pt x="0" y="2733802"/>
                  </a:cubicBezTo>
                  <a:close/>
                </a:path>
              </a:pathLst>
            </a:custGeom>
            <a:solidFill>
              <a:srgbClr val="0A081B">
                <a:alpha val="56078"/>
              </a:srgbClr>
            </a:solidFill>
          </p:spPr>
        </p:sp>
      </p:grpSp>
      <p:grpSp>
        <p:nvGrpSpPr>
          <p:cNvPr name="Group 18" id="18"/>
          <p:cNvGrpSpPr/>
          <p:nvPr/>
        </p:nvGrpSpPr>
        <p:grpSpPr>
          <a:xfrm rot="0">
            <a:off x="6507366" y="3547767"/>
            <a:ext cx="5273126" cy="114300"/>
            <a:chOff x="0" y="0"/>
            <a:chExt cx="7030834" cy="152400"/>
          </a:xfrm>
        </p:grpSpPr>
        <p:sp>
          <p:nvSpPr>
            <p:cNvPr name="Freeform 19" id="19"/>
            <p:cNvSpPr/>
            <p:nvPr/>
          </p:nvSpPr>
          <p:spPr>
            <a:xfrm flipH="false" flipV="false" rot="0">
              <a:off x="0" y="0"/>
              <a:ext cx="7030847" cy="152400"/>
            </a:xfrm>
            <a:custGeom>
              <a:avLst/>
              <a:gdLst/>
              <a:ahLst/>
              <a:cxnLst/>
              <a:rect r="r" b="b" t="t" l="l"/>
              <a:pathLst>
                <a:path h="152400" w="7030847">
                  <a:moveTo>
                    <a:pt x="0" y="76200"/>
                  </a:moveTo>
                  <a:cubicBezTo>
                    <a:pt x="0" y="34163"/>
                    <a:pt x="34163" y="0"/>
                    <a:pt x="76200" y="0"/>
                  </a:cubicBezTo>
                  <a:lnTo>
                    <a:pt x="6954647" y="0"/>
                  </a:lnTo>
                  <a:cubicBezTo>
                    <a:pt x="6996684" y="0"/>
                    <a:pt x="7030847" y="34163"/>
                    <a:pt x="7030847" y="76200"/>
                  </a:cubicBezTo>
                  <a:cubicBezTo>
                    <a:pt x="7030847" y="118237"/>
                    <a:pt x="6996684" y="152400"/>
                    <a:pt x="6954647" y="152400"/>
                  </a:cubicBezTo>
                  <a:lnTo>
                    <a:pt x="76200" y="152400"/>
                  </a:lnTo>
                  <a:cubicBezTo>
                    <a:pt x="34163" y="152400"/>
                    <a:pt x="0" y="118237"/>
                    <a:pt x="0" y="76200"/>
                  </a:cubicBezTo>
                  <a:close/>
                </a:path>
              </a:pathLst>
            </a:custGeom>
            <a:solidFill>
              <a:srgbClr val="29DDDA"/>
            </a:solidFill>
          </p:spPr>
        </p:sp>
      </p:grpSp>
      <p:grpSp>
        <p:nvGrpSpPr>
          <p:cNvPr name="Group 20" id="20"/>
          <p:cNvGrpSpPr/>
          <p:nvPr/>
        </p:nvGrpSpPr>
        <p:grpSpPr>
          <a:xfrm rot="0">
            <a:off x="8837038" y="3269609"/>
            <a:ext cx="613620" cy="613620"/>
            <a:chOff x="0" y="0"/>
            <a:chExt cx="818159" cy="818159"/>
          </a:xfrm>
        </p:grpSpPr>
        <p:sp>
          <p:nvSpPr>
            <p:cNvPr name="Freeform 21" id="21"/>
            <p:cNvSpPr/>
            <p:nvPr/>
          </p:nvSpPr>
          <p:spPr>
            <a:xfrm flipH="false" flipV="false" rot="0">
              <a:off x="0" y="0"/>
              <a:ext cx="818134" cy="818134"/>
            </a:xfrm>
            <a:custGeom>
              <a:avLst/>
              <a:gdLst/>
              <a:ahLst/>
              <a:cxnLst/>
              <a:rect r="r" b="b" t="t" l="l"/>
              <a:pathLst>
                <a:path h="818134" w="818134">
                  <a:moveTo>
                    <a:pt x="0" y="409067"/>
                  </a:moveTo>
                  <a:cubicBezTo>
                    <a:pt x="0" y="183134"/>
                    <a:pt x="183134" y="0"/>
                    <a:pt x="409067" y="0"/>
                  </a:cubicBezTo>
                  <a:cubicBezTo>
                    <a:pt x="635000" y="0"/>
                    <a:pt x="818134" y="183134"/>
                    <a:pt x="818134" y="409067"/>
                  </a:cubicBezTo>
                  <a:cubicBezTo>
                    <a:pt x="818134" y="635000"/>
                    <a:pt x="635000" y="818134"/>
                    <a:pt x="409067" y="818134"/>
                  </a:cubicBezTo>
                  <a:cubicBezTo>
                    <a:pt x="183134" y="818134"/>
                    <a:pt x="0" y="635000"/>
                    <a:pt x="0" y="409067"/>
                  </a:cubicBezTo>
                  <a:close/>
                </a:path>
              </a:pathLst>
            </a:custGeom>
            <a:solidFill>
              <a:srgbClr val="16FFBB"/>
            </a:solidFill>
          </p:spPr>
        </p:sp>
      </p:grpSp>
      <p:sp>
        <p:nvSpPr>
          <p:cNvPr name="TextBox 22" id="22"/>
          <p:cNvSpPr txBox="true"/>
          <p:nvPr/>
        </p:nvSpPr>
        <p:spPr>
          <a:xfrm rot="0">
            <a:off x="9021147" y="3375422"/>
            <a:ext cx="245421" cy="354359"/>
          </a:xfrm>
          <a:prstGeom prst="rect">
            <a:avLst/>
          </a:prstGeom>
        </p:spPr>
        <p:txBody>
          <a:bodyPr anchor="t" rtlCol="false" tIns="0" lIns="0" bIns="0" rIns="0">
            <a:spAutoFit/>
          </a:bodyPr>
          <a:lstStyle/>
          <a:p>
            <a:pPr algn="l">
              <a:lnSpc>
                <a:spcPts val="2499"/>
              </a:lnSpc>
            </a:pPr>
            <a:r>
              <a:rPr lang="en-US" sz="1874" b="true">
                <a:solidFill>
                  <a:srgbClr val="000000"/>
                </a:solidFill>
                <a:latin typeface="Arimo Bold"/>
                <a:ea typeface="Arimo Bold"/>
                <a:cs typeface="Arimo Bold"/>
                <a:sym typeface="Arimo Bold"/>
              </a:rPr>
              <a:t>2</a:t>
            </a:r>
          </a:p>
        </p:txBody>
      </p:sp>
      <p:sp>
        <p:nvSpPr>
          <p:cNvPr name="TextBox 23" id="23"/>
          <p:cNvSpPr txBox="true"/>
          <p:nvPr/>
        </p:nvSpPr>
        <p:spPr>
          <a:xfrm rot="0">
            <a:off x="6740423" y="4059136"/>
            <a:ext cx="4641509" cy="293687"/>
          </a:xfrm>
          <a:prstGeom prst="rect">
            <a:avLst/>
          </a:prstGeom>
        </p:spPr>
        <p:txBody>
          <a:bodyPr anchor="t" rtlCol="false" tIns="0" lIns="0" bIns="0" rIns="0">
            <a:spAutoFit/>
          </a:bodyPr>
          <a:lstStyle/>
          <a:p>
            <a:pPr algn="l">
              <a:lnSpc>
                <a:spcPts val="2187"/>
              </a:lnSpc>
            </a:pPr>
            <a:r>
              <a:rPr lang="en-US" sz="1750" b="true">
                <a:solidFill>
                  <a:srgbClr val="E0E4E6"/>
                </a:solidFill>
                <a:latin typeface="Arimo Bold"/>
                <a:ea typeface="Arimo Bold"/>
                <a:cs typeface="Arimo Bold"/>
                <a:sym typeface="Arimo Bold"/>
              </a:rPr>
              <a:t>The 75% Empty Row Problem</a:t>
            </a:r>
          </a:p>
        </p:txBody>
      </p:sp>
      <p:sp>
        <p:nvSpPr>
          <p:cNvPr name="TextBox 24" id="24"/>
          <p:cNvSpPr txBox="true"/>
          <p:nvPr/>
        </p:nvSpPr>
        <p:spPr>
          <a:xfrm rot="0">
            <a:off x="6740423" y="4422877"/>
            <a:ext cx="4807001" cy="838048"/>
          </a:xfrm>
          <a:prstGeom prst="rect">
            <a:avLst/>
          </a:prstGeom>
        </p:spPr>
        <p:txBody>
          <a:bodyPr anchor="t" rtlCol="false" tIns="0" lIns="0" bIns="0" rIns="0">
            <a:spAutoFit/>
          </a:bodyPr>
          <a:lstStyle/>
          <a:p>
            <a:pPr algn="l">
              <a:lnSpc>
                <a:spcPts val="2125"/>
              </a:lnSpc>
            </a:pPr>
            <a:r>
              <a:rPr lang="en-US" sz="1562">
                <a:solidFill>
                  <a:srgbClr val="E0E4E6"/>
                </a:solidFill>
                <a:latin typeface="Barlow"/>
                <a:ea typeface="Barlow"/>
                <a:cs typeface="Barlow"/>
                <a:sym typeface="Barlow"/>
              </a:rPr>
              <a:t>Historical records (pre-1950) are extremely sparse. The "spike" in modern attacks is partly due to better digital archiving, not just shark behavior.</a:t>
            </a:r>
          </a:p>
        </p:txBody>
      </p:sp>
      <p:grpSp>
        <p:nvGrpSpPr>
          <p:cNvPr name="Group 25" id="25"/>
          <p:cNvGrpSpPr/>
          <p:nvPr/>
        </p:nvGrpSpPr>
        <p:grpSpPr>
          <a:xfrm rot="0">
            <a:off x="11913394" y="3576342"/>
            <a:ext cx="5273278" cy="2187473"/>
            <a:chOff x="0" y="0"/>
            <a:chExt cx="7031038" cy="2916631"/>
          </a:xfrm>
        </p:grpSpPr>
        <p:sp>
          <p:nvSpPr>
            <p:cNvPr name="Freeform 26" id="26"/>
            <p:cNvSpPr/>
            <p:nvPr/>
          </p:nvSpPr>
          <p:spPr>
            <a:xfrm flipH="false" flipV="false" rot="0">
              <a:off x="0" y="0"/>
              <a:ext cx="7031101" cy="2916682"/>
            </a:xfrm>
            <a:custGeom>
              <a:avLst/>
              <a:gdLst/>
              <a:ahLst/>
              <a:cxnLst/>
              <a:rect r="r" b="b" t="t" l="l"/>
              <a:pathLst>
                <a:path h="2916682" w="7031101">
                  <a:moveTo>
                    <a:pt x="0" y="182880"/>
                  </a:moveTo>
                  <a:cubicBezTo>
                    <a:pt x="0" y="81915"/>
                    <a:pt x="81915" y="0"/>
                    <a:pt x="182880" y="0"/>
                  </a:cubicBezTo>
                  <a:lnTo>
                    <a:pt x="6848221" y="0"/>
                  </a:lnTo>
                  <a:cubicBezTo>
                    <a:pt x="6949186" y="0"/>
                    <a:pt x="7031101" y="81915"/>
                    <a:pt x="7031101" y="182880"/>
                  </a:cubicBezTo>
                  <a:lnTo>
                    <a:pt x="7031101" y="2733802"/>
                  </a:lnTo>
                  <a:cubicBezTo>
                    <a:pt x="7031101" y="2834767"/>
                    <a:pt x="6949186" y="2916682"/>
                    <a:pt x="6848221" y="2916682"/>
                  </a:cubicBezTo>
                  <a:lnTo>
                    <a:pt x="182880" y="2916682"/>
                  </a:lnTo>
                  <a:cubicBezTo>
                    <a:pt x="81915" y="2916682"/>
                    <a:pt x="0" y="2834767"/>
                    <a:pt x="0" y="2733802"/>
                  </a:cubicBezTo>
                  <a:close/>
                </a:path>
              </a:pathLst>
            </a:custGeom>
            <a:solidFill>
              <a:srgbClr val="0A081B">
                <a:alpha val="56078"/>
              </a:srgbClr>
            </a:solidFill>
          </p:spPr>
        </p:sp>
      </p:grpSp>
      <p:grpSp>
        <p:nvGrpSpPr>
          <p:cNvPr name="Group 27" id="27"/>
          <p:cNvGrpSpPr/>
          <p:nvPr/>
        </p:nvGrpSpPr>
        <p:grpSpPr>
          <a:xfrm rot="0">
            <a:off x="11913394" y="3547767"/>
            <a:ext cx="5273278" cy="114300"/>
            <a:chOff x="0" y="0"/>
            <a:chExt cx="7031038" cy="152400"/>
          </a:xfrm>
        </p:grpSpPr>
        <p:sp>
          <p:nvSpPr>
            <p:cNvPr name="Freeform 28" id="28"/>
            <p:cNvSpPr/>
            <p:nvPr/>
          </p:nvSpPr>
          <p:spPr>
            <a:xfrm flipH="false" flipV="false" rot="0">
              <a:off x="0" y="0"/>
              <a:ext cx="7031101" cy="152400"/>
            </a:xfrm>
            <a:custGeom>
              <a:avLst/>
              <a:gdLst/>
              <a:ahLst/>
              <a:cxnLst/>
              <a:rect r="r" b="b" t="t" l="l"/>
              <a:pathLst>
                <a:path h="152400" w="7031101">
                  <a:moveTo>
                    <a:pt x="0" y="76200"/>
                  </a:moveTo>
                  <a:cubicBezTo>
                    <a:pt x="0" y="34163"/>
                    <a:pt x="34163" y="0"/>
                    <a:pt x="76200" y="0"/>
                  </a:cubicBezTo>
                  <a:lnTo>
                    <a:pt x="6954901" y="0"/>
                  </a:lnTo>
                  <a:cubicBezTo>
                    <a:pt x="6996938" y="0"/>
                    <a:pt x="7031101" y="34163"/>
                    <a:pt x="7031101" y="76200"/>
                  </a:cubicBezTo>
                  <a:cubicBezTo>
                    <a:pt x="7031101" y="118237"/>
                    <a:pt x="6996938" y="152400"/>
                    <a:pt x="6954901" y="152400"/>
                  </a:cubicBezTo>
                  <a:lnTo>
                    <a:pt x="76200" y="152400"/>
                  </a:lnTo>
                  <a:cubicBezTo>
                    <a:pt x="34163" y="152400"/>
                    <a:pt x="0" y="118237"/>
                    <a:pt x="0" y="76200"/>
                  </a:cubicBezTo>
                  <a:close/>
                </a:path>
              </a:pathLst>
            </a:custGeom>
            <a:solidFill>
              <a:srgbClr val="37A7E7"/>
            </a:solidFill>
          </p:spPr>
        </p:sp>
      </p:grpSp>
      <p:grpSp>
        <p:nvGrpSpPr>
          <p:cNvPr name="Group 29" id="29"/>
          <p:cNvGrpSpPr/>
          <p:nvPr/>
        </p:nvGrpSpPr>
        <p:grpSpPr>
          <a:xfrm rot="0">
            <a:off x="14243228" y="3269609"/>
            <a:ext cx="613620" cy="613620"/>
            <a:chOff x="0" y="0"/>
            <a:chExt cx="818159" cy="818159"/>
          </a:xfrm>
        </p:grpSpPr>
        <p:sp>
          <p:nvSpPr>
            <p:cNvPr name="Freeform 30" id="30"/>
            <p:cNvSpPr/>
            <p:nvPr/>
          </p:nvSpPr>
          <p:spPr>
            <a:xfrm flipH="false" flipV="false" rot="0">
              <a:off x="0" y="0"/>
              <a:ext cx="818134" cy="818134"/>
            </a:xfrm>
            <a:custGeom>
              <a:avLst/>
              <a:gdLst/>
              <a:ahLst/>
              <a:cxnLst/>
              <a:rect r="r" b="b" t="t" l="l"/>
              <a:pathLst>
                <a:path h="818134" w="818134">
                  <a:moveTo>
                    <a:pt x="0" y="409067"/>
                  </a:moveTo>
                  <a:cubicBezTo>
                    <a:pt x="0" y="183134"/>
                    <a:pt x="183134" y="0"/>
                    <a:pt x="409067" y="0"/>
                  </a:cubicBezTo>
                  <a:cubicBezTo>
                    <a:pt x="635000" y="0"/>
                    <a:pt x="818134" y="183134"/>
                    <a:pt x="818134" y="409067"/>
                  </a:cubicBezTo>
                  <a:cubicBezTo>
                    <a:pt x="818134" y="635000"/>
                    <a:pt x="635000" y="818134"/>
                    <a:pt x="409067" y="818134"/>
                  </a:cubicBezTo>
                  <a:cubicBezTo>
                    <a:pt x="183134" y="818134"/>
                    <a:pt x="0" y="635000"/>
                    <a:pt x="0" y="409067"/>
                  </a:cubicBezTo>
                  <a:close/>
                </a:path>
              </a:pathLst>
            </a:custGeom>
            <a:solidFill>
              <a:srgbClr val="16FFBB"/>
            </a:solidFill>
          </p:spPr>
        </p:sp>
      </p:grpSp>
      <p:sp>
        <p:nvSpPr>
          <p:cNvPr name="TextBox 31" id="31"/>
          <p:cNvSpPr txBox="true"/>
          <p:nvPr/>
        </p:nvSpPr>
        <p:spPr>
          <a:xfrm rot="0">
            <a:off x="14427327" y="3375422"/>
            <a:ext cx="245421" cy="354359"/>
          </a:xfrm>
          <a:prstGeom prst="rect">
            <a:avLst/>
          </a:prstGeom>
        </p:spPr>
        <p:txBody>
          <a:bodyPr anchor="t" rtlCol="false" tIns="0" lIns="0" bIns="0" rIns="0">
            <a:spAutoFit/>
          </a:bodyPr>
          <a:lstStyle/>
          <a:p>
            <a:pPr algn="l">
              <a:lnSpc>
                <a:spcPts val="2499"/>
              </a:lnSpc>
            </a:pPr>
            <a:r>
              <a:rPr lang="en-US" sz="1874" b="true">
                <a:solidFill>
                  <a:srgbClr val="000000"/>
                </a:solidFill>
                <a:latin typeface="Arimo Bold"/>
                <a:ea typeface="Arimo Bold"/>
                <a:cs typeface="Arimo Bold"/>
                <a:sym typeface="Arimo Bold"/>
              </a:rPr>
              <a:t>3</a:t>
            </a:r>
          </a:p>
        </p:txBody>
      </p:sp>
      <p:sp>
        <p:nvSpPr>
          <p:cNvPr name="TextBox 32" id="32"/>
          <p:cNvSpPr txBox="true"/>
          <p:nvPr/>
        </p:nvSpPr>
        <p:spPr>
          <a:xfrm rot="0">
            <a:off x="12146461" y="4059136"/>
            <a:ext cx="4477992" cy="293687"/>
          </a:xfrm>
          <a:prstGeom prst="rect">
            <a:avLst/>
          </a:prstGeom>
        </p:spPr>
        <p:txBody>
          <a:bodyPr anchor="t" rtlCol="false" tIns="0" lIns="0" bIns="0" rIns="0">
            <a:spAutoFit/>
          </a:bodyPr>
          <a:lstStyle/>
          <a:p>
            <a:pPr algn="l">
              <a:lnSpc>
                <a:spcPts val="2187"/>
              </a:lnSpc>
            </a:pPr>
            <a:r>
              <a:rPr lang="en-US" sz="1750" b="true">
                <a:solidFill>
                  <a:srgbClr val="E0E4E6"/>
                </a:solidFill>
                <a:latin typeface="Arimo Bold"/>
                <a:ea typeface="Arimo Bold"/>
                <a:cs typeface="Arimo Bold"/>
                <a:sym typeface="Arimo Bold"/>
              </a:rPr>
              <a:t>No Denominator (No True Rate)</a:t>
            </a:r>
          </a:p>
        </p:txBody>
      </p:sp>
      <p:sp>
        <p:nvSpPr>
          <p:cNvPr name="TextBox 33" id="33"/>
          <p:cNvSpPr txBox="true"/>
          <p:nvPr/>
        </p:nvSpPr>
        <p:spPr>
          <a:xfrm rot="0">
            <a:off x="12146461" y="4422877"/>
            <a:ext cx="4807153" cy="838048"/>
          </a:xfrm>
          <a:prstGeom prst="rect">
            <a:avLst/>
          </a:prstGeom>
        </p:spPr>
        <p:txBody>
          <a:bodyPr anchor="t" rtlCol="false" tIns="0" lIns="0" bIns="0" rIns="0">
            <a:spAutoFit/>
          </a:bodyPr>
          <a:lstStyle/>
          <a:p>
            <a:pPr algn="l">
              <a:lnSpc>
                <a:spcPts val="2125"/>
              </a:lnSpc>
            </a:pPr>
            <a:r>
              <a:rPr lang="en-US" sz="1562">
                <a:solidFill>
                  <a:srgbClr val="E0E4E6"/>
                </a:solidFill>
                <a:latin typeface="Barlow"/>
                <a:ea typeface="Barlow"/>
                <a:cs typeface="Barlow"/>
                <a:sym typeface="Barlow"/>
              </a:rPr>
              <a:t>We have incident counts, but we don't know how many millions of people were in the water. We cannot calculate "per capita" risk without this.</a:t>
            </a:r>
          </a:p>
        </p:txBody>
      </p:sp>
      <p:grpSp>
        <p:nvGrpSpPr>
          <p:cNvPr name="Group 34" id="34"/>
          <p:cNvGrpSpPr/>
          <p:nvPr/>
        </p:nvGrpSpPr>
        <p:grpSpPr>
          <a:xfrm rot="0">
            <a:off x="1101328" y="6203452"/>
            <a:ext cx="7976149" cy="1647825"/>
            <a:chOff x="0" y="0"/>
            <a:chExt cx="10634866" cy="2197100"/>
          </a:xfrm>
        </p:grpSpPr>
        <p:sp>
          <p:nvSpPr>
            <p:cNvPr name="Freeform 35" id="35"/>
            <p:cNvSpPr/>
            <p:nvPr/>
          </p:nvSpPr>
          <p:spPr>
            <a:xfrm flipH="false" flipV="false" rot="0">
              <a:off x="0" y="0"/>
              <a:ext cx="10634853" cy="2197100"/>
            </a:xfrm>
            <a:custGeom>
              <a:avLst/>
              <a:gdLst/>
              <a:ahLst/>
              <a:cxnLst/>
              <a:rect r="r" b="b" t="t" l="l"/>
              <a:pathLst>
                <a:path h="2197100" w="10634853">
                  <a:moveTo>
                    <a:pt x="0" y="182880"/>
                  </a:moveTo>
                  <a:cubicBezTo>
                    <a:pt x="0" y="81915"/>
                    <a:pt x="81915" y="0"/>
                    <a:pt x="182880" y="0"/>
                  </a:cubicBezTo>
                  <a:lnTo>
                    <a:pt x="10451973" y="0"/>
                  </a:lnTo>
                  <a:cubicBezTo>
                    <a:pt x="10552938" y="0"/>
                    <a:pt x="10634853" y="81915"/>
                    <a:pt x="10634853" y="182880"/>
                  </a:cubicBezTo>
                  <a:lnTo>
                    <a:pt x="10634853" y="2014220"/>
                  </a:lnTo>
                  <a:cubicBezTo>
                    <a:pt x="10634853" y="2115185"/>
                    <a:pt x="10552938" y="2197100"/>
                    <a:pt x="10451973" y="2197100"/>
                  </a:cubicBezTo>
                  <a:lnTo>
                    <a:pt x="182880" y="2197100"/>
                  </a:lnTo>
                  <a:cubicBezTo>
                    <a:pt x="81915" y="2197100"/>
                    <a:pt x="0" y="2115185"/>
                    <a:pt x="0" y="2014220"/>
                  </a:cubicBezTo>
                  <a:close/>
                </a:path>
              </a:pathLst>
            </a:custGeom>
            <a:solidFill>
              <a:srgbClr val="0A081B">
                <a:alpha val="56078"/>
              </a:srgbClr>
            </a:solidFill>
          </p:spPr>
        </p:sp>
      </p:grpSp>
      <p:grpSp>
        <p:nvGrpSpPr>
          <p:cNvPr name="Group 36" id="36"/>
          <p:cNvGrpSpPr/>
          <p:nvPr/>
        </p:nvGrpSpPr>
        <p:grpSpPr>
          <a:xfrm rot="0">
            <a:off x="1101328" y="6174877"/>
            <a:ext cx="7976149" cy="114300"/>
            <a:chOff x="0" y="0"/>
            <a:chExt cx="10634866" cy="152400"/>
          </a:xfrm>
        </p:grpSpPr>
        <p:sp>
          <p:nvSpPr>
            <p:cNvPr name="Freeform 37" id="37"/>
            <p:cNvSpPr/>
            <p:nvPr/>
          </p:nvSpPr>
          <p:spPr>
            <a:xfrm flipH="false" flipV="false" rot="0">
              <a:off x="0" y="0"/>
              <a:ext cx="10634853" cy="152400"/>
            </a:xfrm>
            <a:custGeom>
              <a:avLst/>
              <a:gdLst/>
              <a:ahLst/>
              <a:cxnLst/>
              <a:rect r="r" b="b" t="t" l="l"/>
              <a:pathLst>
                <a:path h="152400" w="10634853">
                  <a:moveTo>
                    <a:pt x="0" y="76200"/>
                  </a:moveTo>
                  <a:cubicBezTo>
                    <a:pt x="0" y="34163"/>
                    <a:pt x="34163" y="0"/>
                    <a:pt x="76200" y="0"/>
                  </a:cubicBezTo>
                  <a:lnTo>
                    <a:pt x="10558653" y="0"/>
                  </a:lnTo>
                  <a:cubicBezTo>
                    <a:pt x="10600690" y="0"/>
                    <a:pt x="10634853" y="34163"/>
                    <a:pt x="10634853" y="76200"/>
                  </a:cubicBezTo>
                  <a:cubicBezTo>
                    <a:pt x="10634853" y="118237"/>
                    <a:pt x="10600690" y="152400"/>
                    <a:pt x="10558653" y="152400"/>
                  </a:cubicBezTo>
                  <a:lnTo>
                    <a:pt x="76200" y="152400"/>
                  </a:lnTo>
                  <a:cubicBezTo>
                    <a:pt x="34163" y="152400"/>
                    <a:pt x="0" y="118237"/>
                    <a:pt x="0" y="76200"/>
                  </a:cubicBezTo>
                  <a:close/>
                </a:path>
              </a:pathLst>
            </a:custGeom>
            <a:solidFill>
              <a:srgbClr val="29DDDA"/>
            </a:solidFill>
          </p:spPr>
        </p:sp>
      </p:grpSp>
      <p:grpSp>
        <p:nvGrpSpPr>
          <p:cNvPr name="Group 38" id="38"/>
          <p:cNvGrpSpPr/>
          <p:nvPr/>
        </p:nvGrpSpPr>
        <p:grpSpPr>
          <a:xfrm rot="0">
            <a:off x="4782522" y="5896718"/>
            <a:ext cx="613620" cy="613620"/>
            <a:chOff x="0" y="0"/>
            <a:chExt cx="818159" cy="818159"/>
          </a:xfrm>
        </p:grpSpPr>
        <p:sp>
          <p:nvSpPr>
            <p:cNvPr name="Freeform 39" id="39"/>
            <p:cNvSpPr/>
            <p:nvPr/>
          </p:nvSpPr>
          <p:spPr>
            <a:xfrm flipH="false" flipV="false" rot="0">
              <a:off x="0" y="0"/>
              <a:ext cx="818134" cy="818134"/>
            </a:xfrm>
            <a:custGeom>
              <a:avLst/>
              <a:gdLst/>
              <a:ahLst/>
              <a:cxnLst/>
              <a:rect r="r" b="b" t="t" l="l"/>
              <a:pathLst>
                <a:path h="818134" w="818134">
                  <a:moveTo>
                    <a:pt x="0" y="409067"/>
                  </a:moveTo>
                  <a:cubicBezTo>
                    <a:pt x="0" y="183134"/>
                    <a:pt x="183134" y="0"/>
                    <a:pt x="409067" y="0"/>
                  </a:cubicBezTo>
                  <a:cubicBezTo>
                    <a:pt x="635000" y="0"/>
                    <a:pt x="818134" y="183134"/>
                    <a:pt x="818134" y="409067"/>
                  </a:cubicBezTo>
                  <a:cubicBezTo>
                    <a:pt x="818134" y="635000"/>
                    <a:pt x="635000" y="818134"/>
                    <a:pt x="409067" y="818134"/>
                  </a:cubicBezTo>
                  <a:cubicBezTo>
                    <a:pt x="183134" y="818134"/>
                    <a:pt x="0" y="635000"/>
                    <a:pt x="0" y="409067"/>
                  </a:cubicBezTo>
                  <a:close/>
                </a:path>
              </a:pathLst>
            </a:custGeom>
            <a:solidFill>
              <a:srgbClr val="16FFBB"/>
            </a:solidFill>
          </p:spPr>
        </p:sp>
      </p:grpSp>
      <p:sp>
        <p:nvSpPr>
          <p:cNvPr name="TextBox 40" id="40"/>
          <p:cNvSpPr txBox="true"/>
          <p:nvPr/>
        </p:nvSpPr>
        <p:spPr>
          <a:xfrm rot="0">
            <a:off x="4966621" y="6002541"/>
            <a:ext cx="245421" cy="354359"/>
          </a:xfrm>
          <a:prstGeom prst="rect">
            <a:avLst/>
          </a:prstGeom>
        </p:spPr>
        <p:txBody>
          <a:bodyPr anchor="t" rtlCol="false" tIns="0" lIns="0" bIns="0" rIns="0">
            <a:spAutoFit/>
          </a:bodyPr>
          <a:lstStyle/>
          <a:p>
            <a:pPr algn="l">
              <a:lnSpc>
                <a:spcPts val="2499"/>
              </a:lnSpc>
            </a:pPr>
            <a:r>
              <a:rPr lang="en-US" sz="1874" b="true">
                <a:solidFill>
                  <a:srgbClr val="000000"/>
                </a:solidFill>
                <a:latin typeface="Arimo Bold"/>
                <a:ea typeface="Arimo Bold"/>
                <a:cs typeface="Arimo Bold"/>
                <a:sym typeface="Arimo Bold"/>
              </a:rPr>
              <a:t>4</a:t>
            </a:r>
          </a:p>
        </p:txBody>
      </p:sp>
      <p:sp>
        <p:nvSpPr>
          <p:cNvPr name="TextBox 41" id="41"/>
          <p:cNvSpPr txBox="true"/>
          <p:nvPr/>
        </p:nvSpPr>
        <p:spPr>
          <a:xfrm rot="0">
            <a:off x="1334395" y="6686255"/>
            <a:ext cx="2272751" cy="312534"/>
          </a:xfrm>
          <a:prstGeom prst="rect">
            <a:avLst/>
          </a:prstGeom>
        </p:spPr>
        <p:txBody>
          <a:bodyPr anchor="t" rtlCol="false" tIns="0" lIns="0" bIns="0" rIns="0">
            <a:spAutoFit/>
          </a:bodyPr>
          <a:lstStyle/>
          <a:p>
            <a:pPr algn="l">
              <a:lnSpc>
                <a:spcPts val="2187"/>
              </a:lnSpc>
            </a:pPr>
            <a:r>
              <a:rPr lang="en-US" sz="1750" b="true">
                <a:solidFill>
                  <a:srgbClr val="E0E4E6"/>
                </a:solidFill>
                <a:latin typeface="Arimo Bold"/>
                <a:ea typeface="Arimo Bold"/>
                <a:cs typeface="Arimo Bold"/>
                <a:sym typeface="Arimo Bold"/>
              </a:rPr>
              <a:t>Survivorship Bias</a:t>
            </a:r>
          </a:p>
        </p:txBody>
      </p:sp>
      <p:sp>
        <p:nvSpPr>
          <p:cNvPr name="TextBox 42" id="42"/>
          <p:cNvSpPr txBox="true"/>
          <p:nvPr/>
        </p:nvSpPr>
        <p:spPr>
          <a:xfrm rot="0">
            <a:off x="1334395" y="7049986"/>
            <a:ext cx="7510015" cy="568223"/>
          </a:xfrm>
          <a:prstGeom prst="rect">
            <a:avLst/>
          </a:prstGeom>
        </p:spPr>
        <p:txBody>
          <a:bodyPr anchor="t" rtlCol="false" tIns="0" lIns="0" bIns="0" rIns="0">
            <a:spAutoFit/>
          </a:bodyPr>
          <a:lstStyle/>
          <a:p>
            <a:pPr algn="l">
              <a:lnSpc>
                <a:spcPts val="2125"/>
              </a:lnSpc>
            </a:pPr>
            <a:r>
              <a:rPr lang="en-US" sz="1562">
                <a:solidFill>
                  <a:srgbClr val="E0E4E6"/>
                </a:solidFill>
                <a:latin typeface="Barlow"/>
                <a:ea typeface="Barlow"/>
                <a:cs typeface="Barlow"/>
                <a:sym typeface="Barlow"/>
              </a:rPr>
              <a:t>Attacks on solo swimmers at night or in remote regions are often never witnessed or reported, meaning the data likely underestimates solitary/remote risks.</a:t>
            </a:r>
          </a:p>
        </p:txBody>
      </p:sp>
      <p:grpSp>
        <p:nvGrpSpPr>
          <p:cNvPr name="Group 43" id="43"/>
          <p:cNvGrpSpPr/>
          <p:nvPr/>
        </p:nvGrpSpPr>
        <p:grpSpPr>
          <a:xfrm rot="0">
            <a:off x="9210380" y="6203452"/>
            <a:ext cx="7976292" cy="1647825"/>
            <a:chOff x="0" y="0"/>
            <a:chExt cx="10635056" cy="2197100"/>
          </a:xfrm>
        </p:grpSpPr>
        <p:sp>
          <p:nvSpPr>
            <p:cNvPr name="Freeform 44" id="44"/>
            <p:cNvSpPr/>
            <p:nvPr/>
          </p:nvSpPr>
          <p:spPr>
            <a:xfrm flipH="false" flipV="false" rot="0">
              <a:off x="0" y="0"/>
              <a:ext cx="10635107" cy="2197100"/>
            </a:xfrm>
            <a:custGeom>
              <a:avLst/>
              <a:gdLst/>
              <a:ahLst/>
              <a:cxnLst/>
              <a:rect r="r" b="b" t="t" l="l"/>
              <a:pathLst>
                <a:path h="2197100" w="10635107">
                  <a:moveTo>
                    <a:pt x="0" y="182880"/>
                  </a:moveTo>
                  <a:cubicBezTo>
                    <a:pt x="0" y="81915"/>
                    <a:pt x="81915" y="0"/>
                    <a:pt x="182880" y="0"/>
                  </a:cubicBezTo>
                  <a:lnTo>
                    <a:pt x="10452227" y="0"/>
                  </a:lnTo>
                  <a:cubicBezTo>
                    <a:pt x="10553192" y="0"/>
                    <a:pt x="10635107" y="81915"/>
                    <a:pt x="10635107" y="182880"/>
                  </a:cubicBezTo>
                  <a:lnTo>
                    <a:pt x="10635107" y="2014220"/>
                  </a:lnTo>
                  <a:cubicBezTo>
                    <a:pt x="10635107" y="2115185"/>
                    <a:pt x="10553192" y="2197100"/>
                    <a:pt x="10452227" y="2197100"/>
                  </a:cubicBezTo>
                  <a:lnTo>
                    <a:pt x="182880" y="2197100"/>
                  </a:lnTo>
                  <a:cubicBezTo>
                    <a:pt x="81915" y="2197100"/>
                    <a:pt x="0" y="2115185"/>
                    <a:pt x="0" y="2014220"/>
                  </a:cubicBezTo>
                  <a:close/>
                </a:path>
              </a:pathLst>
            </a:custGeom>
            <a:solidFill>
              <a:srgbClr val="0A081B">
                <a:alpha val="56078"/>
              </a:srgbClr>
            </a:solidFill>
          </p:spPr>
        </p:sp>
      </p:grpSp>
      <p:grpSp>
        <p:nvGrpSpPr>
          <p:cNvPr name="Group 45" id="45"/>
          <p:cNvGrpSpPr/>
          <p:nvPr/>
        </p:nvGrpSpPr>
        <p:grpSpPr>
          <a:xfrm rot="0">
            <a:off x="9210380" y="6174877"/>
            <a:ext cx="7976292" cy="114300"/>
            <a:chOff x="0" y="0"/>
            <a:chExt cx="10635056" cy="152400"/>
          </a:xfrm>
        </p:grpSpPr>
        <p:sp>
          <p:nvSpPr>
            <p:cNvPr name="Freeform 46" id="46"/>
            <p:cNvSpPr/>
            <p:nvPr/>
          </p:nvSpPr>
          <p:spPr>
            <a:xfrm flipH="false" flipV="false" rot="0">
              <a:off x="0" y="0"/>
              <a:ext cx="10635107" cy="152400"/>
            </a:xfrm>
            <a:custGeom>
              <a:avLst/>
              <a:gdLst/>
              <a:ahLst/>
              <a:cxnLst/>
              <a:rect r="r" b="b" t="t" l="l"/>
              <a:pathLst>
                <a:path h="152400" w="10635107">
                  <a:moveTo>
                    <a:pt x="0" y="76200"/>
                  </a:moveTo>
                  <a:cubicBezTo>
                    <a:pt x="0" y="34163"/>
                    <a:pt x="34163" y="0"/>
                    <a:pt x="76200" y="0"/>
                  </a:cubicBezTo>
                  <a:lnTo>
                    <a:pt x="10558907" y="0"/>
                  </a:lnTo>
                  <a:cubicBezTo>
                    <a:pt x="10600944" y="0"/>
                    <a:pt x="10635107" y="34163"/>
                    <a:pt x="10635107" y="76200"/>
                  </a:cubicBezTo>
                  <a:cubicBezTo>
                    <a:pt x="10635107" y="118237"/>
                    <a:pt x="10600944" y="152400"/>
                    <a:pt x="10558907" y="152400"/>
                  </a:cubicBezTo>
                  <a:lnTo>
                    <a:pt x="76200" y="152400"/>
                  </a:lnTo>
                  <a:cubicBezTo>
                    <a:pt x="34163" y="152400"/>
                    <a:pt x="0" y="118237"/>
                    <a:pt x="0" y="76200"/>
                  </a:cubicBezTo>
                  <a:close/>
                </a:path>
              </a:pathLst>
            </a:custGeom>
            <a:solidFill>
              <a:srgbClr val="16FFBB"/>
            </a:solidFill>
          </p:spPr>
        </p:sp>
      </p:grpSp>
      <p:grpSp>
        <p:nvGrpSpPr>
          <p:cNvPr name="Group 47" id="47"/>
          <p:cNvGrpSpPr/>
          <p:nvPr/>
        </p:nvGrpSpPr>
        <p:grpSpPr>
          <a:xfrm rot="0">
            <a:off x="12891716" y="5896718"/>
            <a:ext cx="613620" cy="613620"/>
            <a:chOff x="0" y="0"/>
            <a:chExt cx="818159" cy="818159"/>
          </a:xfrm>
        </p:grpSpPr>
        <p:sp>
          <p:nvSpPr>
            <p:cNvPr name="Freeform 48" id="48"/>
            <p:cNvSpPr/>
            <p:nvPr/>
          </p:nvSpPr>
          <p:spPr>
            <a:xfrm flipH="false" flipV="false" rot="0">
              <a:off x="0" y="0"/>
              <a:ext cx="818134" cy="818134"/>
            </a:xfrm>
            <a:custGeom>
              <a:avLst/>
              <a:gdLst/>
              <a:ahLst/>
              <a:cxnLst/>
              <a:rect r="r" b="b" t="t" l="l"/>
              <a:pathLst>
                <a:path h="818134" w="818134">
                  <a:moveTo>
                    <a:pt x="0" y="409067"/>
                  </a:moveTo>
                  <a:cubicBezTo>
                    <a:pt x="0" y="183134"/>
                    <a:pt x="183134" y="0"/>
                    <a:pt x="409067" y="0"/>
                  </a:cubicBezTo>
                  <a:cubicBezTo>
                    <a:pt x="635000" y="0"/>
                    <a:pt x="818134" y="183134"/>
                    <a:pt x="818134" y="409067"/>
                  </a:cubicBezTo>
                  <a:cubicBezTo>
                    <a:pt x="818134" y="635000"/>
                    <a:pt x="635000" y="818134"/>
                    <a:pt x="409067" y="818134"/>
                  </a:cubicBezTo>
                  <a:cubicBezTo>
                    <a:pt x="183134" y="818134"/>
                    <a:pt x="0" y="635000"/>
                    <a:pt x="0" y="409067"/>
                  </a:cubicBezTo>
                  <a:close/>
                </a:path>
              </a:pathLst>
            </a:custGeom>
            <a:solidFill>
              <a:srgbClr val="16FFBB"/>
            </a:solidFill>
          </p:spPr>
        </p:sp>
      </p:grpSp>
      <p:sp>
        <p:nvSpPr>
          <p:cNvPr name="TextBox 49" id="49"/>
          <p:cNvSpPr txBox="true"/>
          <p:nvPr/>
        </p:nvSpPr>
        <p:spPr>
          <a:xfrm rot="0">
            <a:off x="13075815" y="6002541"/>
            <a:ext cx="245421" cy="354359"/>
          </a:xfrm>
          <a:prstGeom prst="rect">
            <a:avLst/>
          </a:prstGeom>
        </p:spPr>
        <p:txBody>
          <a:bodyPr anchor="t" rtlCol="false" tIns="0" lIns="0" bIns="0" rIns="0">
            <a:spAutoFit/>
          </a:bodyPr>
          <a:lstStyle/>
          <a:p>
            <a:pPr algn="l">
              <a:lnSpc>
                <a:spcPts val="2499"/>
              </a:lnSpc>
            </a:pPr>
            <a:r>
              <a:rPr lang="en-US" sz="1874" b="true">
                <a:solidFill>
                  <a:srgbClr val="000000"/>
                </a:solidFill>
                <a:latin typeface="Arimo Bold"/>
                <a:ea typeface="Arimo Bold"/>
                <a:cs typeface="Arimo Bold"/>
                <a:sym typeface="Arimo Bold"/>
              </a:rPr>
              <a:t>5</a:t>
            </a:r>
          </a:p>
        </p:txBody>
      </p:sp>
      <p:sp>
        <p:nvSpPr>
          <p:cNvPr name="TextBox 50" id="50"/>
          <p:cNvSpPr txBox="true"/>
          <p:nvPr/>
        </p:nvSpPr>
        <p:spPr>
          <a:xfrm rot="0">
            <a:off x="9443447" y="6686255"/>
            <a:ext cx="2719835" cy="312534"/>
          </a:xfrm>
          <a:prstGeom prst="rect">
            <a:avLst/>
          </a:prstGeom>
        </p:spPr>
        <p:txBody>
          <a:bodyPr anchor="t" rtlCol="false" tIns="0" lIns="0" bIns="0" rIns="0">
            <a:spAutoFit/>
          </a:bodyPr>
          <a:lstStyle/>
          <a:p>
            <a:pPr algn="l">
              <a:lnSpc>
                <a:spcPts val="2187"/>
              </a:lnSpc>
            </a:pPr>
            <a:r>
              <a:rPr lang="en-US" sz="1750" b="true">
                <a:solidFill>
                  <a:srgbClr val="E0E4E6"/>
                </a:solidFill>
                <a:latin typeface="Arimo Bold"/>
                <a:ea typeface="Arimo Bold"/>
                <a:cs typeface="Arimo Bold"/>
                <a:sym typeface="Arimo Bold"/>
              </a:rPr>
              <a:t>Species Misclassification</a:t>
            </a:r>
          </a:p>
        </p:txBody>
      </p:sp>
      <p:sp>
        <p:nvSpPr>
          <p:cNvPr name="TextBox 51" id="51"/>
          <p:cNvSpPr txBox="true"/>
          <p:nvPr/>
        </p:nvSpPr>
        <p:spPr>
          <a:xfrm rot="0">
            <a:off x="9443447" y="7049986"/>
            <a:ext cx="7510167" cy="568223"/>
          </a:xfrm>
          <a:prstGeom prst="rect">
            <a:avLst/>
          </a:prstGeom>
        </p:spPr>
        <p:txBody>
          <a:bodyPr anchor="t" rtlCol="false" tIns="0" lIns="0" bIns="0" rIns="0">
            <a:spAutoFit/>
          </a:bodyPr>
          <a:lstStyle/>
          <a:p>
            <a:pPr algn="l">
              <a:lnSpc>
                <a:spcPts val="2125"/>
              </a:lnSpc>
            </a:pPr>
            <a:r>
              <a:rPr lang="en-US" sz="1562">
                <a:solidFill>
                  <a:srgbClr val="E0E4E6"/>
                </a:solidFill>
                <a:latin typeface="Barlow"/>
                <a:ea typeface="Barlow"/>
                <a:cs typeface="Barlow"/>
                <a:sym typeface="Barlow"/>
              </a:rPr>
              <a:t>Identification is often extracted from vague text like "large gray shark," leading to potential errors in species-level risk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DAHIBdHDYsI</dc:identifier>
  <dcterms:modified xsi:type="dcterms:W3CDTF">2011-08-01T06:04:30Z</dcterms:modified>
  <cp:revision>1</cp:revision>
  <dc:title>Group-5_cofinal - Copy.pptx</dc:title>
</cp:coreProperties>
</file>